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0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9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84F2B8-810A-4BED-A0EC-C8051F688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D27FEF-9BBD-4122-AF32-AD3030AAC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7F301A-D43D-42C1-90B6-132FA528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B989BC-94B1-480B-B243-23901370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3691B9-1BD2-4840-AE1D-C93EA37A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717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2FCB8-7ADA-47C9-904B-F72FA4AAD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BF4B5A-B67D-4CE2-A975-05EEF3C53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F190B-4722-41E4-B69C-98E15991B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DC0BD9-0C37-4A44-A087-7D3E9BA26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CA29ED-DFE7-443D-9122-629E1A33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98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CC485-861D-41FD-9E6A-458A8FE71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D53865-8B29-48DF-96C2-6F17C2585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7C3C74-6B5A-4C43-A590-418EB2950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F5853F-44BC-47A8-92EE-E886ED022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DA47A3-728F-46E2-8924-8EAF7BF09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449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5D281-8BC8-41AA-A471-C40D327B3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450DCC-EDC1-4F22-93A6-67997FE6EA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509011-2D82-4365-B443-2A09C5EDC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AB5E14-80AF-49DB-98E5-68623579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44E8EA-9F73-4C23-889C-ADDC57482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497DBB-E753-4524-82E0-D47B9F18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97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20CEA6-1074-463E-825A-C26F4FFD3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353241-E7A4-4D9E-BD8C-FB44BF466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CEF63-ABCF-46A8-A816-28B3C9A4F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611676-6A96-408B-A1E1-2D8CC2476E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3E9670-8570-42A1-A850-609B6FB98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F5CB093-176D-4333-8577-3956AD3AD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78D680-877D-4760-A8F6-311E6C81B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7747D35-D8CC-4845-9370-864CDA782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06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201DD-A956-4486-A48E-D5F7A30A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A2490F-41F5-403B-AD12-C2CF7E3E7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945B77-4687-4404-AF08-8412D641B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049D2B-0C07-491F-AA7D-1BB06637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94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47A2FB6-98CF-4694-9CE1-7B864DC8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D36424-942E-491C-9DF0-FF944E54F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245638-DB14-4601-9E81-6479754D1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087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37FB2-3707-4602-ACC9-224E858FC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834C6D-955B-4B09-B9B6-A16132787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717CCF-095B-4680-878E-1D5D1C15E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193757-763E-41A6-A512-FD17FD4D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4BD138-FA50-4839-9D32-ECFDA30FC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9E2C09-6D90-4920-B3F8-40225FF3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42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C3D36-3475-411B-9065-656F1B69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2F10811-635C-47BF-A6A9-227C9A966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E41EF6-84C6-479B-90B1-0F9A043CD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4BF417-FC87-442A-A060-5B6870E21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F658DE-62C3-4B26-846C-4EE13C2C6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5E5A79-7F5E-4825-89F2-9B1D5D28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49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6E352-0D52-4B83-8434-BFDE1C542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BC9AD1-0D33-4426-9FA5-522FCAD5C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5AE610-D9C7-4FE0-AFC2-221A24EA7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F5E8EF-C2AD-4F7F-9C60-BC5E95DB3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38280C-2C0A-4FA0-B323-F5A02D09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73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ED74B3-36BF-409A-B26D-1574CEA99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7318F4-5051-404C-BE5E-AFBAA03BA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FA54F7-8515-4C9B-ADFA-876F9110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7EC7B-7DCD-4863-BC34-78F983D0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57569F-5697-4E10-A132-392ED994D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31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C5B07FA-76C7-4BB1-9CA8-EE2BBE573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40FF8D-CA21-46A2-9690-C6A3BAEAD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FA81-756F-4868-85B6-D7ABFA2D8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0922C-8FE8-4B02-B437-E339CB11B14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7EC8A4-7C33-41A8-BAB3-564DBB20B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10EB3-9327-40DA-8FF3-775A8EF5A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9BBE4-ECFF-4EEF-9192-BF415FF3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50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Ops0906/ai-course-references/tree/main/01-ai-work/claude-for-educators" TargetMode="External"/><Relationship Id="rId2" Type="http://schemas.openxmlformats.org/officeDocument/2006/relationships/hyperlink" Target="mailto:writer@nomadaifactory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laude.ai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Ops0906/ai-course-references/blob/main/01-ai-work/claude-for-educators/gesture.html" TargetMode="External"/><Relationship Id="rId2" Type="http://schemas.openxmlformats.org/officeDocument/2006/relationships/hyperlink" Target="https://github.com/DevOps0906/ai-course-references/tree/main/01-ai-work/claude-for-educator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285205-D762-4769-9EF1-264B5EAE8232}"/>
              </a:ext>
            </a:extLst>
          </p:cNvPr>
          <p:cNvSpPr txBox="1"/>
          <p:nvPr/>
        </p:nvSpPr>
        <p:spPr>
          <a:xfrm>
            <a:off x="355600" y="372534"/>
            <a:ext cx="10615983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err="1"/>
              <a:t>강사명 : 디지털노마드연구소</a:t>
            </a:r>
            <a:r>
              <a:rPr lang="ko-KR" altLang="en-US" sz="3200"/>
              <a:t/>
            </a:r>
            <a:r>
              <a:rPr lang="en-US" altLang="ko-KR" sz="3200"/>
              <a:t/>
            </a:r>
            <a:r>
              <a:rPr lang="ko-KR" altLang="en-US" sz="3200"/>
              <a:t/>
            </a:r>
            <a:endParaRPr lang="en-US" altLang="ko-KR" sz="3200"/>
          </a:p>
          <a:p>
            <a:r>
              <a:rPr lang="en-US" altLang="ko-KR" sz="3200"/>
              <a:t>Email : </a:t>
            </a:r>
            <a:r>
              <a:rPr lang="en-US" altLang="ko-KR" sz="3200">
                <a:hlinkClick r:id="rId2"/>
              </a:rPr>
              <a:t>writer@nomadaifactory.com</a:t>
            </a:r>
            <a:r>
              <a:rPr lang="en-US" altLang="ko-KR" sz="3200"/>
              <a:t>   </a:t>
            </a:r>
            <a:r>
              <a:rPr lang="ko-KR" altLang="en-US" sz="3200"/>
              <a:t>이름</a:t>
            </a:r>
            <a:r>
              <a:rPr lang="en-US" altLang="ko-KR" sz="3200"/>
              <a:t>.zip </a:t>
            </a:r>
            <a:r>
              <a:rPr lang="ko-KR" altLang="en-US" sz="3200"/>
              <a:t>으로 제출</a:t>
            </a:r>
            <a:endParaRPr lang="en-US" altLang="ko-KR" sz="3200"/>
          </a:p>
          <a:p>
            <a:endParaRPr lang="en-US" altLang="ko-KR" sz="3200"/>
          </a:p>
          <a:p>
            <a:r>
              <a:rPr lang="ko-KR" altLang="en-US" sz="3200"/>
              <a:t>강의자료 </a:t>
            </a:r>
            <a:r>
              <a:rPr lang="en-US" altLang="ko-KR" sz="3200"/>
              <a:t>: </a:t>
            </a:r>
            <a:r>
              <a:rPr lang="en-US" altLang="ko-KR" sz="3200">
                <a:hlinkClick r:id="rId3"/>
              </a:rPr>
              <a:t>https://github.com/DevOps0906/ai-course-references/tree/main/01-ai-work/claude-for-educators</a:t>
            </a:r>
            <a:endParaRPr lang="en-US" altLang="ko-KR" sz="3200"/>
          </a:p>
          <a:p>
            <a:endParaRPr lang="en-US" altLang="ko-KR" sz="3200"/>
          </a:p>
          <a:p>
            <a:r>
              <a:rPr lang="ko-KR" altLang="en-US" sz="3200"/>
              <a:t>클로드</a:t>
            </a:r>
            <a:r>
              <a:rPr lang="en-US" altLang="ko-KR" sz="3200"/>
              <a:t>AI : </a:t>
            </a:r>
            <a:r>
              <a:rPr lang="en-US" altLang="ko-KR" sz="3200">
                <a:hlinkClick r:id="rId4"/>
              </a:rPr>
              <a:t>https://claude.ai/</a:t>
            </a:r>
            <a:endParaRPr lang="en-US" altLang="ko-KR" sz="3200"/>
          </a:p>
          <a:p>
            <a:endParaRPr lang="en-US" altLang="ko-KR" sz="3200"/>
          </a:p>
          <a:p>
            <a:r>
              <a:rPr lang="en-US" altLang="ko-KR" sz="3200"/>
              <a:t>https://playground.tensorflow.org/</a:t>
            </a:r>
          </a:p>
          <a:p>
            <a:endParaRPr lang="en-US" altLang="ko-KR" sz="3200"/>
          </a:p>
          <a:p>
            <a:r>
              <a:rPr lang="ko-KR" altLang="en-US" sz="3200"/>
              <a:t>수업시간 </a:t>
            </a:r>
            <a:r>
              <a:rPr lang="en-US" altLang="ko-KR" sz="3200"/>
              <a:t>: 45</a:t>
            </a:r>
            <a:r>
              <a:rPr lang="ko-KR" altLang="en-US" sz="3200"/>
              <a:t>분 수업</a:t>
            </a:r>
            <a:r>
              <a:rPr lang="en-US" altLang="ko-KR" sz="3200"/>
              <a:t>, 15 </a:t>
            </a:r>
            <a:r>
              <a:rPr lang="ko-KR" altLang="en-US" sz="3200"/>
              <a:t>휴식</a:t>
            </a:r>
          </a:p>
        </p:txBody>
      </p:sp>
    </p:spTree>
    <p:extLst>
      <p:ext uri="{BB962C8B-B14F-4D97-AF65-F5344CB8AC3E}">
        <p14:creationId xmlns:p14="http://schemas.microsoft.com/office/powerpoint/2010/main" val="3973030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1D64C228-5407-4231-814D-F89A99794D89}"/>
              </a:ext>
            </a:extLst>
          </p:cNvPr>
          <p:cNvSpPr txBox="1"/>
          <p:nvPr/>
        </p:nvSpPr>
        <p:spPr>
          <a:xfrm>
            <a:off x="245533" y="169334"/>
            <a:ext cx="95189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/>
              <a:t>https://www.mycompiler.io/ko/new/c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2334898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D80BE439-9FA6-4E32-9B57-7B495FCAEB03}"/>
              </a:ext>
            </a:extLst>
          </p:cNvPr>
          <p:cNvSpPr txBox="1"/>
          <p:nvPr/>
        </p:nvSpPr>
        <p:spPr>
          <a:xfrm>
            <a:off x="0" y="228599"/>
            <a:ext cx="125733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/>
              <a:t>https://poloclub.github.io/transformer-explainer/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932585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D80BE439-9FA6-4E32-9B57-7B495FCAEB03}"/>
              </a:ext>
            </a:extLst>
          </p:cNvPr>
          <p:cNvSpPr txBox="1"/>
          <p:nvPr/>
        </p:nvSpPr>
        <p:spPr>
          <a:xfrm>
            <a:off x="0" y="228599"/>
            <a:ext cx="61127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/>
              <a:t>https://bbycroft.net/llm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352133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23911EA7-041B-4402-8F46-2CFD0D003FEC}"/>
              </a:ext>
            </a:extLst>
          </p:cNvPr>
          <p:cNvSpPr txBox="1"/>
          <p:nvPr/>
        </p:nvSpPr>
        <p:spPr>
          <a:xfrm>
            <a:off x="465667" y="389467"/>
            <a:ext cx="84559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https://github.com/DevOps0906/ai-course-references/blob/main/01-ai-work/claude-for-educators/stack_visualizer.html</a:t>
            </a:r>
            <a:r>
              <a:rPr lang="en-US" altLang="ko-KR" sz="3200">
                <a:solidFill>
                  <a:srgbClr val="FF0000"/>
                </a:solidFill>
              </a:rPr>
              <a:t/>
            </a:r>
            <a:r>
              <a:rPr lang="en-US" altLang="ko-KR" sz="3200"/>
              <a:t/>
            </a:r>
            <a:r>
              <a:rPr lang="en-US" altLang="ko-KR" sz="3200">
                <a:solidFill>
                  <a:schemeClr val="accent1"/>
                </a:solidFill>
              </a:rPr>
              <a:t/>
            </a:r>
            <a:r>
              <a:rPr lang="en-US" altLang="ko-KR" sz="3200"/>
              <a:t/>
            </a:r>
            <a:endParaRPr lang="ko-KR" altLang="en-US" sz="3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9C8AC0-3E54-4975-9DEE-48CD19026C0C}"/>
              </a:ext>
            </a:extLst>
          </p:cNvPr>
          <p:cNvSpPr txBox="1"/>
          <p:nvPr/>
        </p:nvSpPr>
        <p:spPr>
          <a:xfrm>
            <a:off x="465666" y="1769534"/>
            <a:ext cx="99565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01-ai-work/claude-for-educators/stack_visualizer.html</a:t>
            </a:r>
            <a:r>
              <a:rPr lang="en-US" altLang="ko-KR" sz="3200">
                <a:solidFill>
                  <a:srgbClr val="FF0000"/>
                </a:solidFill>
              </a:rPr>
              <a:t/>
            </a:r>
            <a:r>
              <a:rPr lang="en-US" altLang="ko-KR" sz="3200"/>
              <a:t/>
            </a:r>
            <a:r>
              <a:rPr lang="en-US" altLang="ko-KR" sz="3200">
                <a:solidFill>
                  <a:schemeClr val="accent1"/>
                </a:solidFill>
              </a:rPr>
              <a:t/>
            </a:r>
            <a:r>
              <a:rPr lang="en-US" altLang="ko-KR" sz="3200"/>
              <a:t/>
            </a:r>
            <a:endParaRPr lang="ko-KR" altLang="en-US" sz="320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74465B0-77A0-4407-BCF4-51B561A5E5F7}"/>
              </a:ext>
            </a:extLst>
          </p:cNvPr>
          <p:cNvCxnSpPr/>
          <p:nvPr/>
        </p:nvCxnSpPr>
        <p:spPr>
          <a:xfrm flipH="1">
            <a:off x="3141133" y="821267"/>
            <a:ext cx="2235200" cy="105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945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827DDD-9C0D-485D-A18D-6A73CF3281E0}"/>
              </a:ext>
            </a:extLst>
          </p:cNvPr>
          <p:cNvSpPr txBox="1"/>
          <p:nvPr/>
        </p:nvSpPr>
        <p:spPr>
          <a:xfrm>
            <a:off x="745067" y="364066"/>
            <a:ext cx="3259226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typedef struct _node</a:t>
            </a:r>
          </a:p>
          <a:p>
            <a:r>
              <a:rPr lang="en-US" altLang="ko-KR"/>
              <a:t>{</a:t>
            </a:r>
          </a:p>
          <a:p>
            <a:r>
              <a:rPr lang="en-US" altLang="ko-KR"/>
              <a:t>    int data;</a:t>
            </a:r>
          </a:p>
          <a:p>
            <a:r>
              <a:rPr lang="en-US" altLang="ko-KR"/>
              <a:t>    struct _node *next;</a:t>
            </a:r>
          </a:p>
          <a:p>
            <a:r>
              <a:rPr lang="en-US" altLang="ko-KR"/>
              <a:t>}  NODE;</a:t>
            </a:r>
          </a:p>
          <a:p>
            <a:endParaRPr lang="en-US" altLang="ko-KR"/>
          </a:p>
          <a:p>
            <a:r>
              <a:rPr lang="en-US" altLang="ko-KR"/>
              <a:t>void insert_node(int data)</a:t>
            </a:r>
          </a:p>
          <a:p>
            <a:r>
              <a:rPr lang="en-US" altLang="ko-KR"/>
              <a:t>{</a:t>
            </a:r>
          </a:p>
          <a:p>
            <a:r>
              <a:rPr lang="en-US" altLang="ko-KR"/>
              <a:t>    temp = malloc(sizeof(int));</a:t>
            </a:r>
          </a:p>
          <a:p>
            <a:r>
              <a:rPr lang="en-US" altLang="ko-KR"/>
              <a:t>    temp-&gt;data = data;</a:t>
            </a:r>
          </a:p>
          <a:p>
            <a:r>
              <a:rPr lang="en-US" altLang="ko-KR"/>
              <a:t>    temp-&gt;next = head;</a:t>
            </a:r>
          </a:p>
          <a:p>
            <a:r>
              <a:rPr lang="en-US" altLang="ko-KR"/>
              <a:t>    head = temp;</a:t>
            </a:r>
          </a:p>
          <a:p>
            <a:r>
              <a:rPr lang="en-US" altLang="ko-KR"/>
              <a:t>}</a:t>
            </a:r>
          </a:p>
          <a:p>
            <a:endParaRPr lang="en-US" altLang="ko-KR"/>
          </a:p>
          <a:p>
            <a:r>
              <a:rPr lang="en-US" altLang="ko-KR"/>
              <a:t>NODE head;</a:t>
            </a:r>
          </a:p>
          <a:p>
            <a:endParaRPr lang="en-US" altLang="ko-KR"/>
          </a:p>
          <a:p>
            <a:r>
              <a:rPr lang="en-US" altLang="ko-KR"/>
              <a:t>int main()</a:t>
            </a:r>
          </a:p>
          <a:p>
            <a:r>
              <a:rPr lang="en-US" altLang="ko-KR"/>
              <a:t>{</a:t>
            </a:r>
          </a:p>
          <a:p>
            <a:r>
              <a:rPr lang="en-US" altLang="ko-KR"/>
              <a:t>    insert_node(1);</a:t>
            </a:r>
          </a:p>
          <a:p>
            <a:r>
              <a:rPr lang="en-US" altLang="ko-KR"/>
              <a:t>    return 0;</a:t>
            </a:r>
          </a:p>
          <a:p>
            <a:r>
              <a:rPr lang="en-US" altLang="ko-KR"/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604F87-6B13-402E-93F8-7AD9F7B836A2}"/>
              </a:ext>
            </a:extLst>
          </p:cNvPr>
          <p:cNvSpPr/>
          <p:nvPr/>
        </p:nvSpPr>
        <p:spPr>
          <a:xfrm>
            <a:off x="7010400" y="2088064"/>
            <a:ext cx="508000" cy="508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1BE7706-C13E-44D1-BB42-084D57294BA5}"/>
              </a:ext>
            </a:extLst>
          </p:cNvPr>
          <p:cNvSpPr/>
          <p:nvPr/>
        </p:nvSpPr>
        <p:spPr>
          <a:xfrm>
            <a:off x="7518400" y="2088064"/>
            <a:ext cx="508000" cy="508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2565CA-2E57-4082-A50E-A8956ED57401}"/>
              </a:ext>
            </a:extLst>
          </p:cNvPr>
          <p:cNvSpPr/>
          <p:nvPr/>
        </p:nvSpPr>
        <p:spPr>
          <a:xfrm>
            <a:off x="5842000" y="2088064"/>
            <a:ext cx="508000" cy="508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D14320-CA57-4571-84DF-587C360AB56D}"/>
              </a:ext>
            </a:extLst>
          </p:cNvPr>
          <p:cNvSpPr txBox="1"/>
          <p:nvPr/>
        </p:nvSpPr>
        <p:spPr>
          <a:xfrm>
            <a:off x="5765801" y="1729831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head</a:t>
            </a:r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A1B9BF7-86AD-4B22-9F00-FDF9AE41CFD8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>
            <a:off x="6350000" y="2342064"/>
            <a:ext cx="660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130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49C8AC0-3E54-4975-9DEE-48CD19026C0C}"/>
              </a:ext>
            </a:extLst>
          </p:cNvPr>
          <p:cNvSpPr txBox="1"/>
          <p:nvPr/>
        </p:nvSpPr>
        <p:spPr>
          <a:xfrm>
            <a:off x="541866" y="304801"/>
            <a:ext cx="10188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01-ai-work/claude-for-educators/gesture.html</a:t>
            </a:r>
            <a:r>
              <a:rPr lang="en-US" altLang="ko-KR" sz="3200">
                <a:solidFill>
                  <a:srgbClr val="FF0000"/>
                </a:solidFill>
              </a:rPr>
              <a:t/>
            </a:r>
            <a:r>
              <a:rPr lang="en-US" altLang="ko-KR" sz="3200"/>
              <a:t/>
            </a:r>
            <a:r>
              <a:rPr lang="en-US" altLang="ko-KR" sz="3200" b="1" i="0" u="none" strike="noStrike">
                <a:solidFill>
                  <a:srgbClr val="0969DA"/>
                </a:solidFill>
                <a:effectLst/>
                <a:latin typeface="Mona Sans VF"/>
                <a:hlinkClick r:id="rId2"/>
              </a:rPr>
              <a:t/>
            </a:r>
            <a:r>
              <a:rPr lang="en-US" altLang="ko-KR" sz="3200"/>
              <a:t/>
            </a:r>
            <a:r>
              <a:rPr lang="en-US" altLang="ko-KR" sz="3200" b="0" i="0" u="none" strike="noStrike">
                <a:solidFill>
                  <a:srgbClr val="1F2328"/>
                </a:solidFill>
                <a:effectLst/>
                <a:latin typeface="Mona Sans VF"/>
                <a:hlinkClick r:id="rId3" tooltip="gesture.html"/>
              </a:rPr>
              <a:t/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3416794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D9013E3D-643C-4192-A741-15E289BC4B5F}"/>
              </a:ext>
            </a:extLst>
          </p:cNvPr>
          <p:cNvSpPr/>
          <p:nvPr/>
        </p:nvSpPr>
        <p:spPr>
          <a:xfrm>
            <a:off x="942959" y="3849092"/>
            <a:ext cx="508000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1</a:t>
            </a:r>
            <a:endParaRPr lang="ko-KR" altLang="en-US" sz="24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587B2E-95F9-4BD2-B7CC-7383206F0A1F}"/>
              </a:ext>
            </a:extLst>
          </p:cNvPr>
          <p:cNvSpPr txBox="1"/>
          <p:nvPr/>
        </p:nvSpPr>
        <p:spPr>
          <a:xfrm>
            <a:off x="6036733" y="533400"/>
            <a:ext cx="60572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/>
              <a:t>1. root</a:t>
            </a:r>
            <a:r>
              <a:rPr lang="ko-KR" altLang="en-US" sz="2800"/>
              <a:t>는 언제나 검정 이다</a:t>
            </a:r>
            <a:r>
              <a:rPr lang="en-US" altLang="ko-KR" sz="2800"/>
              <a:t>.</a:t>
            </a:r>
          </a:p>
          <a:p>
            <a:r>
              <a:rPr lang="en-US" altLang="ko-KR" sz="2800"/>
              <a:t>2. </a:t>
            </a:r>
            <a:r>
              <a:rPr lang="ko-KR" altLang="en-US" sz="2800"/>
              <a:t>새로운 노드는 빨강 이다</a:t>
            </a:r>
            <a:r>
              <a:rPr lang="en-US" altLang="ko-KR" sz="2800"/>
              <a:t>.</a:t>
            </a:r>
          </a:p>
          <a:p>
            <a:r>
              <a:rPr lang="en-US" altLang="ko-KR" sz="2800"/>
              <a:t>3. </a:t>
            </a:r>
            <a:r>
              <a:rPr lang="ko-KR" altLang="en-US" sz="2800"/>
              <a:t>부모도 빨강이고 삼촌도 빨강이면</a:t>
            </a:r>
            <a:endParaRPr lang="en-US" altLang="ko-KR" sz="2800"/>
          </a:p>
          <a:p>
            <a:r>
              <a:rPr lang="en-US" altLang="ko-KR" sz="2800"/>
              <a:t> color flip : gparent=&gt; RED</a:t>
            </a:r>
          </a:p>
          <a:p>
            <a:r>
              <a:rPr lang="en-US" altLang="ko-KR" sz="2800"/>
              <a:t>              parent,uncle</a:t>
            </a:r>
            <a:r>
              <a:rPr lang="ko-KR" altLang="en-US" sz="2800"/>
              <a:t> </a:t>
            </a:r>
            <a:r>
              <a:rPr lang="en-US" altLang="ko-KR" sz="2800"/>
              <a:t>=&gt;</a:t>
            </a:r>
            <a:r>
              <a:rPr lang="ko-KR" altLang="en-US" sz="2800"/>
              <a:t> </a:t>
            </a:r>
            <a:r>
              <a:rPr lang="en-US" altLang="ko-KR" sz="2800"/>
              <a:t>BLACK</a:t>
            </a:r>
          </a:p>
          <a:p>
            <a:r>
              <a:rPr lang="en-US" altLang="ko-KR" sz="2800"/>
              <a:t>4. </a:t>
            </a:r>
            <a:r>
              <a:rPr lang="ko-KR" altLang="en-US" sz="2800"/>
              <a:t>부모가 빨강이면 회전 한다</a:t>
            </a:r>
            <a:r>
              <a:rPr lang="en-US" altLang="ko-KR" sz="2800"/>
              <a:t>.</a:t>
            </a:r>
          </a:p>
          <a:p>
            <a:r>
              <a:rPr lang="en-US" altLang="ko-KR" sz="2800"/>
              <a:t>    R-R : rotate_left(gparent)</a:t>
            </a:r>
          </a:p>
          <a:p>
            <a:r>
              <a:rPr lang="en-US" altLang="ko-KR" sz="2800"/>
              <a:t>    color flip : gparent=&gt; RED</a:t>
            </a:r>
          </a:p>
          <a:p>
            <a:r>
              <a:rPr lang="en-US" altLang="ko-KR" sz="2800"/>
              <a:t>                   parent</a:t>
            </a:r>
            <a:r>
              <a:rPr lang="ko-KR" altLang="en-US" sz="2800"/>
              <a:t> </a:t>
            </a:r>
            <a:r>
              <a:rPr lang="en-US" altLang="ko-KR" sz="2800"/>
              <a:t>=&gt;</a:t>
            </a:r>
            <a:r>
              <a:rPr lang="ko-KR" altLang="en-US" sz="2800"/>
              <a:t> </a:t>
            </a:r>
            <a:r>
              <a:rPr lang="en-US" altLang="ko-KR" sz="2800"/>
              <a:t>BLACK</a:t>
            </a:r>
            <a:endParaRPr lang="ko-KR" altLang="en-US" sz="280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39E7E8B-34E6-43D4-A821-39F4F75304B1}"/>
              </a:ext>
            </a:extLst>
          </p:cNvPr>
          <p:cNvSpPr/>
          <p:nvPr/>
        </p:nvSpPr>
        <p:spPr>
          <a:xfrm>
            <a:off x="1708828" y="2877297"/>
            <a:ext cx="508000" cy="50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2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62CA82F-42DA-444A-8A40-9D691604828A}"/>
              </a:ext>
            </a:extLst>
          </p:cNvPr>
          <p:cNvCxnSpPr>
            <a:cxnSpLocks/>
            <a:stCxn id="4" idx="0"/>
            <a:endCxn id="6" idx="3"/>
          </p:cNvCxnSpPr>
          <p:nvPr/>
        </p:nvCxnSpPr>
        <p:spPr>
          <a:xfrm flipV="1">
            <a:off x="1196959" y="3310902"/>
            <a:ext cx="586264" cy="5381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C29D52B1-880B-4E01-B6FF-2C007987C899}"/>
              </a:ext>
            </a:extLst>
          </p:cNvPr>
          <p:cNvSpPr/>
          <p:nvPr/>
        </p:nvSpPr>
        <p:spPr>
          <a:xfrm>
            <a:off x="2331891" y="3798495"/>
            <a:ext cx="508000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3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A525EAC-9322-4348-B308-EB2C604C54D4}"/>
              </a:ext>
            </a:extLst>
          </p:cNvPr>
          <p:cNvCxnSpPr>
            <a:cxnSpLocks/>
            <a:stCxn id="6" idx="0"/>
            <a:endCxn id="24" idx="3"/>
          </p:cNvCxnSpPr>
          <p:nvPr/>
        </p:nvCxnSpPr>
        <p:spPr>
          <a:xfrm flipV="1">
            <a:off x="1962828" y="2453751"/>
            <a:ext cx="1045891" cy="4235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90224118-8686-4CD4-B20B-048B45557F9B}"/>
              </a:ext>
            </a:extLst>
          </p:cNvPr>
          <p:cNvSpPr/>
          <p:nvPr/>
        </p:nvSpPr>
        <p:spPr>
          <a:xfrm>
            <a:off x="2934324" y="2020146"/>
            <a:ext cx="508000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4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B22F87A-4AEA-40DE-9920-7D5EF130E45C}"/>
              </a:ext>
            </a:extLst>
          </p:cNvPr>
          <p:cNvCxnSpPr>
            <a:cxnSpLocks/>
            <a:stCxn id="11" idx="0"/>
            <a:endCxn id="6" idx="5"/>
          </p:cNvCxnSpPr>
          <p:nvPr/>
        </p:nvCxnSpPr>
        <p:spPr>
          <a:xfrm flipH="1" flipV="1">
            <a:off x="2142433" y="3310902"/>
            <a:ext cx="443458" cy="4875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타원 35">
            <a:extLst>
              <a:ext uri="{FF2B5EF4-FFF2-40B4-BE49-F238E27FC236}">
                <a16:creationId xmlns:a16="http://schemas.microsoft.com/office/drawing/2014/main" id="{CECE89A0-B40C-499C-94F3-C0D31D187443}"/>
              </a:ext>
            </a:extLst>
          </p:cNvPr>
          <p:cNvSpPr/>
          <p:nvPr/>
        </p:nvSpPr>
        <p:spPr>
          <a:xfrm>
            <a:off x="3587559" y="3777111"/>
            <a:ext cx="508000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5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193D402-7827-47BD-B1F5-14055C4F583C}"/>
              </a:ext>
            </a:extLst>
          </p:cNvPr>
          <p:cNvCxnSpPr>
            <a:cxnSpLocks/>
            <a:stCxn id="24" idx="5"/>
            <a:endCxn id="53" idx="0"/>
          </p:cNvCxnSpPr>
          <p:nvPr/>
        </p:nvCxnSpPr>
        <p:spPr>
          <a:xfrm>
            <a:off x="3367929" y="2453751"/>
            <a:ext cx="1159136" cy="444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E44E7348-C9A7-437A-96A6-981C71AEF8DE}"/>
              </a:ext>
            </a:extLst>
          </p:cNvPr>
          <p:cNvSpPr/>
          <p:nvPr/>
        </p:nvSpPr>
        <p:spPr>
          <a:xfrm>
            <a:off x="4273065" y="2898246"/>
            <a:ext cx="508000" cy="50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6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B7C9FFB-5ABA-4839-B9EF-CE8E0D70D116}"/>
              </a:ext>
            </a:extLst>
          </p:cNvPr>
          <p:cNvCxnSpPr>
            <a:cxnSpLocks/>
            <a:stCxn id="36" idx="0"/>
            <a:endCxn id="53" idx="3"/>
          </p:cNvCxnSpPr>
          <p:nvPr/>
        </p:nvCxnSpPr>
        <p:spPr>
          <a:xfrm flipV="1">
            <a:off x="3841559" y="3331851"/>
            <a:ext cx="505901" cy="4452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0A5D9C2F-4CCA-4D08-BD87-AFA706DBDA38}"/>
              </a:ext>
            </a:extLst>
          </p:cNvPr>
          <p:cNvSpPr/>
          <p:nvPr/>
        </p:nvSpPr>
        <p:spPr>
          <a:xfrm>
            <a:off x="5080000" y="3741718"/>
            <a:ext cx="508000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7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1FF0FC3C-B7D1-44B9-833D-B9335B54D4A3}"/>
              </a:ext>
            </a:extLst>
          </p:cNvPr>
          <p:cNvCxnSpPr>
            <a:cxnSpLocks/>
            <a:stCxn id="53" idx="5"/>
            <a:endCxn id="58" idx="0"/>
          </p:cNvCxnSpPr>
          <p:nvPr/>
        </p:nvCxnSpPr>
        <p:spPr>
          <a:xfrm>
            <a:off x="4706670" y="3331851"/>
            <a:ext cx="627330" cy="409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타원 68">
            <a:extLst>
              <a:ext uri="{FF2B5EF4-FFF2-40B4-BE49-F238E27FC236}">
                <a16:creationId xmlns:a16="http://schemas.microsoft.com/office/drawing/2014/main" id="{5B70A3BE-E2FE-4148-B61D-EA3EA320455D}"/>
              </a:ext>
            </a:extLst>
          </p:cNvPr>
          <p:cNvSpPr/>
          <p:nvPr/>
        </p:nvSpPr>
        <p:spPr>
          <a:xfrm>
            <a:off x="5972677" y="4366583"/>
            <a:ext cx="508000" cy="50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8</a:t>
            </a:r>
            <a:endParaRPr lang="ko-KR" altLang="en-US" sz="2400">
              <a:solidFill>
                <a:schemeClr val="bg1"/>
              </a:solidFill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1A07997C-C30D-4EB9-A9C5-E8EBB98CC48A}"/>
              </a:ext>
            </a:extLst>
          </p:cNvPr>
          <p:cNvCxnSpPr>
            <a:cxnSpLocks/>
            <a:stCxn id="58" idx="5"/>
            <a:endCxn id="69" idx="0"/>
          </p:cNvCxnSpPr>
          <p:nvPr/>
        </p:nvCxnSpPr>
        <p:spPr>
          <a:xfrm>
            <a:off x="5513605" y="4175323"/>
            <a:ext cx="713072" cy="1912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그림 87">
            <a:extLst>
              <a:ext uri="{FF2B5EF4-FFF2-40B4-BE49-F238E27FC236}">
                <a16:creationId xmlns:a16="http://schemas.microsoft.com/office/drawing/2014/main" id="{75852622-62E9-4E0F-86BB-A68A51713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51" y="4503718"/>
            <a:ext cx="4467849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14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</a:spPr>
      <a:bodyPr rtlCol="0" anchor="ctr"/>
      <a:lstStyle>
        <a:defPPr algn="ctr">
          <a:defRPr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275</Words>
  <Application>Microsoft Office PowerPoint</Application>
  <PresentationFormat>와이드스크린</PresentationFormat>
  <Paragraphs>57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Mona Sans VF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디지털노마드연구소</dc:creator>
  <cp:lastModifiedBy>디지털노마드연구소</cp:lastModifiedBy>
  <cp:revision>17</cp:revision>
  <dcterms:created xsi:type="dcterms:W3CDTF">2026-07-20T04:07:03Z</dcterms:created>
  <dcterms:modified xsi:type="dcterms:W3CDTF">2026-07-22T07:30:44Z</dcterms:modified>
</cp:coreProperties>
</file>