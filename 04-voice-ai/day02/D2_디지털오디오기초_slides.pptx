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크기 (KB)</c:v>
                </c:pt>
              </c:strCache>
            </c:strRef>
          </c:tx>
          <c:spPr>
            <a:solidFill>
              <a:srgbClr val="4FD1B5"/>
            </a:solidFill>
            <a:effectLst/>
          </c:spPr>
          <c:invertIfNegative val="0"/>
          <c:dLbls>
            <c:numFmt formatCode="0.0&quot; K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6EAF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FD1B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39DF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B3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06FA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WAV</c:v>
                  </c:pt>
                  <c:pt idx="1">
                    <c:v>FLAC</c:v>
                  </c:pt>
                  <c:pt idx="2">
                    <c:v>MP3 64k</c:v>
                  </c:pt>
                  <c:pt idx="3">
                    <c:v>Opus 24k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187.5</c:v>
                </c:pt>
                <c:pt idx="1">
                  <c:v>53.9</c:v>
                </c:pt>
                <c:pt idx="2">
                  <c:v>47.9</c:v>
                </c:pt>
                <c:pt idx="3">
                  <c:v>20.4</c:v>
                </c:pt>
              </c:numCache>
            </c:numRef>
          </c:val>
        </c:ser>
        <c:dLbls>
          <c:numFmt formatCode="0.0&quot; K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6EAF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6EAF2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51C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2입니다. 어제는 음성 AI 전체를 맛봤고, 오늘은 그 출발점인 디지털 오디오를 다룹니다. 소리가 숫자가 되는 과정, 그 숫자를 저장하는 포맷, 그리고 다루는 도구를 배우고, 마지막에 어떤 파일이든 음성 모델용 16kHz mono WAV로 바꾸는 전처리기를 만듭니다. 오른쪽은 오늘 마지막에 보게 될 출력의 예시입니다. 오늘은 소리를 듣는 실습이 많으니 이어폰을 준비시키세요.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D1에서 아무 설명 없이 16kHz mono WAV로 바꿨습니다. 오늘은 그 이유를 하나씩 답합니다. 수강생에게 지금 아는 만큼 답을 적게 하고 수업 끝에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노트북은 Part 1부터 6까지 순서대로 진행합니다. 오늘은 GPU가 필요 없고 기본 CPU 런타임으로 충분합니다. 빈칸 실습은 7개입니다.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마이크는 공기의 떨림을 전기 신호로 바꾸고, ADC가 일정한 간격으로 측정(샘플링)해서 크기를 숫자로 적습니다(양자화). 그래서 컴퓨터 안의 소리는 결국 숫자 배열입니다. 오늘 Part 2와 3이 각각 샘플링과 양자화입니다.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Part 1입니다. tone() 함수는 사인파로 순수한 소리를 만듭니다. 220, 440, 880 Hz를 차례로 들려주고, 진폭만 바꿔 크기 차이도 들려주세요. IPython Audio는 기본으로 소리 크기를 자동으로 맞추므로 크기 비교에는 normalize=False를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샘플링 레이트는 1초에 소리를 몇 번 측정하는지입니다. 많이 측정할수록 원래 모양에 가깝지만 데이터도 많아집니다. 표의 용도를 짚어 주고, 음성 AI는 16,000 Hz를 쓴다는 점을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샘플링 레이트의 절반보다 높은 소리는 담을 수 없습니다. 16,000 Hz면 8,000 Hz까지입니다. 사람 말소리의 중요한 정보는 대부분 그보다 낮아서 음성 AI는 16,000 Hz로 충분합니다. 음악은 높은 소리까지 필요해서 44,100 Hz를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Part 2-1입니다. 200 Hz에서 7,000 Hz로 올라가는 소리를 11,025 Hz로 줄입니다. 숫자를 건너뛰면 절반 높이인 약 5,500 Hz를 넘는 순간 소리가 꺾여 내려가는 가짜 소리가 생깁니다. resample은 담을 수 없는 높은 소리를 먼저 지워서 조용해질 뿐입니다. 세 소리를 꼭 들려주세요.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샘플링 레이트를 바꾸는 바른 방법은 세 가지입니다. 실무에서는 불러오면서 바꾸는 librosa.load(sr=16000)를 가장 많이 씁니다. 숫자만 바꿔 저장하면 소리가 느려지고 낮아지는 실수가 흔하니 꼭 짚어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비트 깊이는 측정한 크기를 몇 단계로 적는지입니다. 단계가 적으면 계단처럼 거칠어지고 지지직 잡음이 생깁니다. 노트북에서 16, 8, 4, 2bit 소리를 차례로 들려주세요. librosa로 불러온 배열은 32bit 소수(float32)입니다.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파일로 저장할 때 subtype으로 비트 깊이를 정합니다. 같은 소리라도 비트 깊이가 클수록 파일이 커집니다. 음성 데이터는 PCM_16이 표준입니다.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음성 모델은 mono를 씁니다. 함정은 모양입니다. librosa는 (채널, 샘플), soundfile은 (샘플, 채널) 순서라서 librosa 배열을 soundfile로 저장할 때 .T로 뒤집어야 합니다. 이어폰으로 왼쪽, 오른쪽 소리를 들려주세요.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WAV와 FLAC은 원래 숫자를 그대로 보존하는 무손실, MP3와 Opus는 사람이 잘 못 듣는 소리를 버려 크기를 줄이는 손실 포맷입니다. 모델 학습과 입력에는 WAV나 FLAC, 사람에게 들려줄 때는 MP3나 Opus를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Part 5의 비교 결과입니다. FLAC은 WAV의 약 3분의 1인데도 원래 숫자와의 차이가 0입니다. MP3와 Opus는 더 작지만 숫자가 조금씩 바뀝니다. 그런데 귀로는 차이가 거의 안 들립니다. 수치는 음성에 따라 달라집니다.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WAV는 압축이 없어서 크기를 정확히 계산할 수 있습니다. 1초당 샘플 수, 샘플 하나의 바이트 수, 채널 수, 길이를 곱하면 됩니다. 실제 파일은 44바이트 헤더가 더 붙습니다. 애니메이션의 포맷 계산기로 1시간 음성 데이터가 얼마나 큰지 보여주세요.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쓴 네 도구의 역할을 정리합니다. 파일 정보와 읽기 쓰기는 soundfile, 분석과 변환은 librosa, 편집은 pydub, 형식 변환은 ffmpeg입니다. 애니메이션의 도구 고르기 탭으로 상황 8개를 함께 풀어 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Part 6-1입니다. pydub은 리스트처럼 잘라 쓰고, 더하기로 볼륨과 이어 붙이기를 합니다. 시간 단위가 밀리초라는 점이 가장 흔한 실수 포인트입니다. Python 3.13에서는 audioop-lts를 함께 설치해야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배운 것을 모두 합친 make_model_ready() 함수입니다. 불러오면서 16kHz mono로 바꾸고, 묵음을 자르고, 볼륨을 맞춘 뒤, 16bit WAV로 저장합니다. D3부터 이 함수를 계속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전처리기의 핵심은 어떤 입력이 와도 결과가 똑같은 형식이라는 점입니다. 44.1kHz stereo도, mp3도, FLAC도 모두 16000 Hz, 1채널, PCM_16이 됩니다. 이것이 모든 음성 모델 파이프라인의 첫 단계입니다.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실습에서 흔히 만나는 문제들입니다. 특히 Colab의 Python 3.13에서는 pydub이 audioop 모듈을 찾지 못하는 문제가 있어 설치 셀에 audioop-lts를 넣어 두었습니다.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각 Part의 수식으로 보기 절을 한 장으로 모았습니다. 노트북의 수식 검증 셀에서 예측값과 측정값이 맞는 것을 함께 확인하세요. 예를 들어 7,000 Hz를 11,025 Hz로 건너뛰면 예측대로 4,025 Hz로 접히고, 16bit 양자화 SNR은 측정과 이론 모두 약 98 dB입니다.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체크리스트를 함께 확인합니다. worksheet.html은 교시마다 해당 탭을 풀고, 4교시까지 채점한 뒤 제출 버튼의 캡처 기능으로 오답 정리를 복사해 노션에 붙여 넣게 합니다. 다음 시간에는 오늘 잠깐 본 스펙트로그램을 STFT로 직접 만들어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animation.html#flow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animation.html#soun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animation.html#sampling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animation.html#quan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animation.html#channe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animation.html#forma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animation.html#lib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animation.html#editor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animation.html#pipelin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worksheet.html" TargetMode="External"/><Relationship Id="rId2" Type="http://schemas.openxmlformats.org/officeDocument/2006/relationships/hyperlink" Target="animation.html" TargetMode="External"/><Relationship Id="rId3" Type="http://schemas.openxmlformats.org/officeDocument/2006/relationships/hyperlink" Target="animation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68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 / 40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02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오디오 기초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소리는 어떻게 숫자가 될까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Sampling → Quantization → Format → Preprocess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4시간 · Colab CPU · 실습 노트북 Part 1 ~ 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29400" y="1371600"/>
            <a:ext cx="4983480" cy="3291840"/>
          </a:xfrm>
          <a:prstGeom prst="roundRect">
            <a:avLst>
              <a:gd name="adj" fmla="val 2222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0" y="1554480"/>
            <a:ext cx="4526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make_model_ready(src)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[전] speech_hq.wav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44100 Hz | 2ch | PCM_16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6.00초 | 1033.7 KB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[후] ready.wav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16000 Hz | 1ch | PCM_16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5.92초 |  185.0 KB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47091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예시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 · 오늘 답할 질문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쓴 16kHz WAV, 정확히 무엇이었을까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6916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안의 소리는 결국 무엇일까?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631375" y="16916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40487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40487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240487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AI는 왜 16,000 Hz면 충분할까?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631375" y="24048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118104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311810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311810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샘플링 레이트를 함부로 줄이면 무슨 일이 생길까?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631375" y="311810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3831336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383133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831336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16bit는 무슨 뜻이고, 왜 가장 흔할까?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9631375" y="383133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454456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454456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454456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FLAC은 작아졌는데 왜 원본과 숫자가 똑같을까?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9631375" y="45445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5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수업이 끝나면 다섯 질문 모두에 한 문장으로 답할 수 있어야 한다.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 · 오늘의 흐름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소리에서 숫자, 숫자에서 파일, 파일에서 모델 입력까지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163570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9AA4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737360"/>
            <a:ext cx="15442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소리의 정체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184349" y="17373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440381" y="1737360"/>
            <a:ext cx="163570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4FD1B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486101" y="1737360"/>
            <a:ext cx="15442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샘플링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076090" y="17373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332122" y="1737360"/>
            <a:ext cx="163570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B39D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77842" y="1737360"/>
            <a:ext cx="15442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양자화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967832" y="17373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223864" y="1737360"/>
            <a:ext cx="163570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69584" y="1737360"/>
            <a:ext cx="15442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859573" y="17373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8115605" y="1737360"/>
            <a:ext cx="163570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F06FA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61325" y="1737360"/>
            <a:ext cx="15442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포맷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9751314" y="17373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10007346" y="1737360"/>
            <a:ext cx="163570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5CC8E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053066" y="1737360"/>
            <a:ext cx="15442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6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 · 전처리기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852160"/>
                <a:gridCol w="35935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1교시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소리의 정체, 샘플링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1 ~ 2 · 빈칸 1, 2 · 워크시트 1교시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양자화, 채널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3 ~ 4 · 빈칸 3, 4 · 워크시트 2교시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포맷 비교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5 · 빈칸 5 · 워크시트 3교시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pydub 편집, 전처리기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6 ~ 7 · 빈칸 6, 7 · 워크시트 4교시 · 노션 제출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548640" y="544068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31520" y="544068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D2-1 오늘의 흐름 (Part 1 ~ 6)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 · 소리의 정체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공기의 떨림이 숫자 배열이 되기까지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984797" cy="1051560"/>
          </a:xfrm>
          <a:prstGeom prst="roundRect">
            <a:avLst>
              <a:gd name="adj" fmla="val 6957"/>
            </a:avLst>
          </a:prstGeom>
          <a:solidFill>
            <a:srgbClr val="161D29"/>
          </a:solidFill>
          <a:ln w="19050">
            <a:solidFill>
              <a:srgbClr val="E6EAF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783080"/>
            <a:ext cx="189335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공기의 떨림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533437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826045" y="1783080"/>
            <a:ext cx="1984797" cy="1051560"/>
          </a:xfrm>
          <a:prstGeom prst="roundRect">
            <a:avLst>
              <a:gd name="adj" fmla="val 6957"/>
            </a:avLst>
          </a:prstGeom>
          <a:solidFill>
            <a:srgbClr val="161D29"/>
          </a:solidFill>
          <a:ln w="19050">
            <a:solidFill>
              <a:srgbClr val="9AA4B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71765" y="1783080"/>
            <a:ext cx="189335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마이크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 신호로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810841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103449" y="1783080"/>
            <a:ext cx="1984797" cy="1051560"/>
          </a:xfrm>
          <a:prstGeom prst="roundRect">
            <a:avLst>
              <a:gd name="adj" fmla="val 6957"/>
            </a:avLst>
          </a:prstGeom>
          <a:solidFill>
            <a:srgbClr val="161D29"/>
          </a:solidFill>
          <a:ln w="19050">
            <a:solidFill>
              <a:srgbClr val="4FD1B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49169" y="1783080"/>
            <a:ext cx="189335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샘플링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시간을 쪼개기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088246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380854" y="1783080"/>
            <a:ext cx="1984797" cy="1051560"/>
          </a:xfrm>
          <a:prstGeom prst="roundRect">
            <a:avLst>
              <a:gd name="adj" fmla="val 6957"/>
            </a:avLst>
          </a:prstGeom>
          <a:solidFill>
            <a:srgbClr val="161D29"/>
          </a:solidFill>
          <a:ln w="19050">
            <a:solidFill>
              <a:srgbClr val="B39D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26574" y="1783080"/>
            <a:ext cx="189335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양자화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크기를 숫자로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365651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9658259" y="1783080"/>
            <a:ext cx="1984797" cy="1051560"/>
          </a:xfrm>
          <a:prstGeom prst="roundRect">
            <a:avLst>
              <a:gd name="adj" fmla="val 6957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703979" y="1783080"/>
            <a:ext cx="189335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배열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[0.01, 0.12, ...]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846320" y="1600200"/>
            <a:ext cx="4526280" cy="1417320"/>
          </a:xfrm>
          <a:prstGeom prst="roundRect">
            <a:avLst>
              <a:gd name="adj" fmla="val 5161"/>
            </a:avLst>
          </a:prstGeom>
          <a:ln w="12700">
            <a:solidFill>
              <a:srgbClr val="F2B33D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4846320" y="304495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ADC (Analog → Digital)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3611880"/>
            <a:ext cx="5410048" cy="1325880"/>
          </a:xfrm>
          <a:prstGeom prst="roundRect">
            <a:avLst>
              <a:gd name="adj" fmla="val 5517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3776472"/>
            <a:ext cx="500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주파수 (Hz) = 높낮이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749808" y="4242816"/>
            <a:ext cx="50077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1초에 몇 번 떨리는가. 많이 떨릴수록 높은 소리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233008" y="3611880"/>
            <a:ext cx="5410048" cy="1325880"/>
          </a:xfrm>
          <a:prstGeom prst="roundRect">
            <a:avLst>
              <a:gd name="adj" fmla="val 5517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34176" y="3776472"/>
            <a:ext cx="500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진폭 = 크기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6434176" y="4242816"/>
            <a:ext cx="50077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 크게 떨리는가. 크게 떨릴수록 큰 소리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48640" y="521208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1520" y="521208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D2-2 소리의 정체 (슬라이더로 듣기)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 · 소리 만들기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몇 줄로 "라" 소리를 만든다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pic>
        <p:nvPicPr>
          <p:cNvPr id="6" name="Image 0" descr="주파수와 진폭 비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675120" cy="183565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52360" y="1600200"/>
            <a:ext cx="4187952" cy="1828800"/>
          </a:xfrm>
          <a:prstGeom prst="roundRect">
            <a:avLst>
              <a:gd name="adj" fmla="val 4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680960" y="1783080"/>
            <a:ext cx="37307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tone(freq, sec=1.0, sr=SR, amp=0.5):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= np.arange(int(sr*sec)) / sr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amp * np.sin(2*np.pi*freq*t)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Audio(tone(440), rate=SR)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3657600"/>
            <a:ext cx="6675120" cy="1143000"/>
          </a:xfrm>
          <a:prstGeom prst="roundRect">
            <a:avLst>
              <a:gd name="adj" fmla="val 6400"/>
            </a:avLst>
          </a:prstGeom>
          <a:solidFill>
            <a:srgbClr val="161D29"/>
          </a:solidFill>
          <a:ln w="15875">
            <a:solidFill>
              <a:srgbClr val="5CC8E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9808" y="3822192"/>
            <a:ext cx="6272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배열의 정체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749808" y="4288536"/>
            <a:ext cx="627278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tone(220, sec=0.02) → 모양 (320,) float32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처음 숫자: [0.  0.043  0.086  0.128 ...]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452360" y="3657600"/>
            <a:ext cx="4187952" cy="1143000"/>
          </a:xfrm>
          <a:prstGeom prst="roundRect">
            <a:avLst>
              <a:gd name="adj" fmla="val 6400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653528" y="3822192"/>
            <a:ext cx="3785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옥타브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7653528" y="4288536"/>
            <a:ext cx="3785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440 Hz의 두 배인 880 Hz는 한 옥타브 높은 "라"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502920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49808" y="502920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1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my_tone = tone(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# 880 Hz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880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 · 샘플링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1초에 몇 번 측정할까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pic>
        <p:nvPicPr>
          <p:cNvPr id="6" name="Image 0" descr="낮은 샘플링과 높은 샘플링 비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94415" cy="3050964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0060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240280"/>
                <a:gridCol w="2240280"/>
                <a:gridCol w="2240280"/>
                <a:gridCol w="22677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샘플링 레이트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8,000 Hz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16,000 Hz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44,100 Hz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48,000 Hz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주로 쓰는 곳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옛날 전화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 인식 (Whisper)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음악 CD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영상 · 방송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 · 절반 규칙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샘플링 레이트의 절반까지만 담을 수 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7830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16,000 Hz</a:t>
            </a:r>
            <a:endParaRPr lang="en-US" sz="50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샘플링 레이트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029200" y="178308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÷ 2</a:t>
            </a:r>
            <a:endParaRPr lang="en-US" sz="50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178308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endParaRPr lang="en-US" sz="50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17830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8,000 Hz</a:t>
            </a:r>
            <a:endParaRPr lang="en-US" sz="5000" dirty="0"/>
          </a:p>
        </p:txBody>
      </p:sp>
      <p:sp>
        <p:nvSpPr>
          <p:cNvPr id="11" name="Text 8"/>
          <p:cNvSpPr txBox="1"/>
          <p:nvPr/>
        </p:nvSpPr>
        <p:spPr>
          <a:xfrm>
            <a:off x="713232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담을 수 있는 최고 높이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3515258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3639312"/>
            <a:ext cx="31129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AI · 16,000 Hz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" y="4105656"/>
            <a:ext cx="311292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8,000 Hz까지 담음. 말소리에 충분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338218" y="3474720"/>
            <a:ext cx="3515258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5875">
            <a:solidFill>
              <a:srgbClr val="9AA4B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39386" y="3639312"/>
            <a:ext cx="31129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 · 8,000 Hz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4539386" y="4105656"/>
            <a:ext cx="311292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4,000 Hz까지. 목소리가 먹먹하게 들리는 이유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8127797" y="3474720"/>
            <a:ext cx="3515258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5875">
            <a:solidFill>
              <a:srgbClr val="F06FA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28965" y="3639312"/>
            <a:ext cx="31129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음악 · 44,100 Hz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328965" y="4105656"/>
            <a:ext cx="311292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22,000 Hz까지. 사람이 듣는 거의 모든 높이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48640" y="512064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12064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D2-3 샘플링 체험 (전화 vs 음성 AI vs CD)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 · Aliasing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함부로 줄이면 가짜 소리가 생긴다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pic>
        <p:nvPicPr>
          <p:cNvPr id="6" name="Image 0" descr="원본, 건너뛰기, resample 스펙트로그램 비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94415" cy="290161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730416"/>
            <a:ext cx="5410048" cy="1097280"/>
          </a:xfrm>
          <a:prstGeom prst="roundRect">
            <a:avLst>
              <a:gd name="adj" fmla="val 6667"/>
            </a:avLst>
          </a:prstGeom>
          <a:solidFill>
            <a:srgbClr val="161D29"/>
          </a:solidFill>
          <a:ln w="15875">
            <a:solidFill>
              <a:srgbClr val="F0716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49808" y="4895008"/>
            <a:ext cx="500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07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건너뛰기  chirp[::4]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5361352"/>
            <a:ext cx="500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절반을 넘는 높은 소리가 가짜 낮은 소리로 접힌다 (Aliasing)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33008" y="4730416"/>
            <a:ext cx="5410048" cy="1097280"/>
          </a:xfrm>
          <a:prstGeom prst="roundRect">
            <a:avLst>
              <a:gd name="adj" fmla="val 6667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34176" y="4895008"/>
            <a:ext cx="500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librosa.resample()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434176" y="5361352"/>
            <a:ext cx="500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높은 소리를 먼저 걸러낸 뒤 줄인다. 가짜 소리 없음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 · 바르게 줄이기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샘플링 레이트는 이렇게 바꾼다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  <a:gridCol w="286207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불러오면서 바꾸기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librosa.load("x.wav", sr=16000)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가장 많이 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배열 바꾸기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librosa.resample(y, orig_sr=44100, target_sr=16000)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바른 방법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바꾸기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ffmpeg -i in.wav -ar 16000 out.wav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바른 방법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건너뛰기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y[::3]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 Aliasing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숫자만 바꿔 저장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sf.write("out.wav", y44, 16000)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 느리고 낮은 소리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7091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49808" y="470916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2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y16 = librosa.resample(y44, orig_sr=sr44, target_sr=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16000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2.3 · 양자화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크기를 몇 단계로 적을까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pic>
        <p:nvPicPr>
          <p:cNvPr id="6" name="Image 0" descr="3bit와 6bit 양자화 비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94415" cy="3050964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0060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240280"/>
                <a:gridCol w="2240280"/>
                <a:gridCol w="2240280"/>
                <a:gridCol w="22677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비트 깊이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8bit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16bit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24bit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32bit float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 · 쓰는 곳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256 · 옛날 게임, 전화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65,536 · CD, 음성 데이터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1,677만 · 스튜디오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소수 · librosa 배열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2.3 · 저장할 때 정하는 비트 깊이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soundfile의 subtype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6583680" cy="2011680"/>
          </a:xfrm>
          <a:prstGeom prst="roundRect">
            <a:avLst>
              <a:gd name="adj" fmla="val 3636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874520"/>
            <a:ext cx="6126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subtype in ["PCM_16", "PCM_24", "FLOAT"]: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sf.write(f"q_{subtype}.wav", y, SR, subtype=subtype)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PCM_16  → Signed 16 bit PCM     187.5 KB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PCM_24  → Signed 24 bit PCM     281.3 KB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  → 32 bit float          375.1 KB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406640" y="1691640"/>
            <a:ext cx="4233672" cy="2011680"/>
          </a:xfrm>
          <a:prstGeom prst="roundRect">
            <a:avLst>
              <a:gd name="adj" fmla="val 3636"/>
            </a:avLst>
          </a:prstGeom>
          <a:solidFill>
            <a:srgbClr val="161D29"/>
          </a:solidFill>
          <a:ln w="15875">
            <a:solidFill>
              <a:srgbClr val="B39D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07808" y="1856232"/>
            <a:ext cx="3831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 비율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322576"/>
            <a:ext cx="383133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16bit : 24bit : 32bit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2 : 3 : 4 바이트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 깊이에 정확히 비례한다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397764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B39D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397764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3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sf.write("my_16bit.wav", y, SR, subtype="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PCM_16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84632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484632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D2-4 양자화 체험 (비트 줄여 듣기)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73075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수치는 6초 예시 음성 기준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2.4 · 채널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mono와 stereo, 그리고 라이브러리마다 다른 모양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856232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mono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322576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1개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모델 입력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33756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3502152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stereo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3968496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2개 (L, R)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음악 · 영상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11880" y="1691640"/>
          <a:ext cx="802843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32735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라이브러리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모양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librosa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(채널, 샘플) = (2, N)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librosa.load(f, mono=False)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soundfile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(샘플, 채널) = (N, 2)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sf.read(f)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저장할 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librosa 배열 → .T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sf.write(f, stereo.T, sr)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mono로 합치기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채널 축 평균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stereo.mean(axis=0)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48640" y="5029200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49808" y="5029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4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 = stereo.mean(axis=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0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680960" y="5093208"/>
            <a:ext cx="3959352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863840" y="5093208"/>
            <a:ext cx="3685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D2-5 채널 체험 (좌우 이동)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2.5 · 파일 포맷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무손실은 원래 숫자 그대로, 손실은 덜 중요한 소리를 버린다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2567864" cy="2377440"/>
          </a:xfrm>
          <a:prstGeom prst="roundRect">
            <a:avLst>
              <a:gd name="adj" fmla="val 3077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874520"/>
            <a:ext cx="2165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D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468880"/>
            <a:ext cx="216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무손실 · 압축 없음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880360"/>
            <a:ext cx="2165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단순하고 큼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· 추론 입력의 표준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90824" y="1737360"/>
            <a:ext cx="2567864" cy="2377440"/>
          </a:xfrm>
          <a:prstGeom prst="roundRect">
            <a:avLst>
              <a:gd name="adj" fmla="val 3077"/>
            </a:avLst>
          </a:prstGeom>
          <a:solidFill>
            <a:srgbClr val="161D29"/>
          </a:solidFill>
          <a:ln w="15875">
            <a:solidFill>
              <a:srgbClr val="B39D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91992" y="1874520"/>
            <a:ext cx="2165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3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FLAC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3591992" y="2468880"/>
            <a:ext cx="216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무손실 · 압축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591992" y="2880360"/>
            <a:ext cx="2165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원래 숫자 그대로 작아짐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 보관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33008" y="1737360"/>
            <a:ext cx="2567864" cy="2377440"/>
          </a:xfrm>
          <a:prstGeom prst="roundRect">
            <a:avLst>
              <a:gd name="adj" fmla="val 3077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34176" y="1874520"/>
            <a:ext cx="2165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MP3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6434176" y="2468880"/>
            <a:ext cx="216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 · 압축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434176" y="2880360"/>
            <a:ext cx="2165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작고 어디서나 재생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· 다운로드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075191" y="1737360"/>
            <a:ext cx="2567864" cy="2377440"/>
          </a:xfrm>
          <a:prstGeom prst="roundRect">
            <a:avLst>
              <a:gd name="adj" fmla="val 3077"/>
            </a:avLst>
          </a:prstGeom>
          <a:solidFill>
            <a:srgbClr val="161D29"/>
          </a:solidFill>
          <a:ln w="15875">
            <a:solidFill>
              <a:srgbClr val="F06FA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276359" y="1874520"/>
            <a:ext cx="2165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6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Opus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9276359" y="2468880"/>
            <a:ext cx="216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 · 압축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9276359" y="2880360"/>
            <a:ext cx="2165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낮은 비트레이트에서도 깨끗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통화 · WebRTC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4343400"/>
            <a:ext cx="5410048" cy="411480"/>
          </a:xfrm>
          <a:prstGeom prst="roundRect">
            <a:avLst>
              <a:gd name="adj" fmla="val 17778"/>
            </a:avLst>
          </a:prstGeom>
          <a:solidFill>
            <a:srgbClr val="15302B"/>
          </a:solidFill>
          <a:ln w="12700">
            <a:solidFill>
              <a:srgbClr val="5FD38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4343400"/>
            <a:ext cx="541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무손실: 모델 학습 · 입력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233008" y="4343400"/>
            <a:ext cx="5410048" cy="411480"/>
          </a:xfrm>
          <a:prstGeom prst="roundRect">
            <a:avLst>
              <a:gd name="adj" fmla="val 17778"/>
            </a:avLst>
          </a:prstGeom>
          <a:solidFill>
            <a:srgbClr val="3A1F2C"/>
          </a:solidFill>
          <a:ln w="12700">
            <a:solidFill>
              <a:srgbClr val="F06FA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33008" y="4343400"/>
            <a:ext cx="541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손실: 사람에게 들려주기 · 전송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2.5 · 같은 소리, 네 가지 포맷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크기는 줄이고, 숫자는 지킬까 버릴까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45920"/>
          <a:ext cx="6400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691640"/>
          <a:ext cx="441655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371600"/>
                <a:gridCol w="18105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포맷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WAV 대비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원래 숫자와 차이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WAV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(같음)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FLAC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(같음)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MP3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0.0257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Opus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0.1682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7223760" y="4114800"/>
            <a:ext cx="4416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6초 예시 음성 · 16kHz · 16bit 기준 실행 결과. 음성에 따라 달라진다.</a:t>
            </a:r>
            <a:endParaRPr lang="en-US" sz="11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51663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무손실 FLAC: 작아져도 숫자는 그대로.  손실 MP3 · Opus: 훨씬 작지만 숫자가 바뀐다.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2.5 · WAV 크기 예측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WAV 크기는 계산으로 알 수 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1783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16,000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1초당 샘플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2971800" y="178308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17830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320040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바이트 (16bit)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178308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4983480" y="17830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470916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989320" y="178308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17830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7498080" y="178308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8001000" y="1783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320,000</a:t>
            </a:r>
            <a:endParaRPr 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772668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바이트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338328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35661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예측 192,000 바이트 | 실제 192,044 바이트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(차이 44: 파일 머리말)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537960" y="3383280"/>
            <a:ext cx="5102352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F06FA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39128" y="3383280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5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bytes_per_sample = 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2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48640" y="4572000"/>
            <a:ext cx="493776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1520" y="457200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D2-6 포맷 계산기 (1시간 데이터 크기)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2.6 · 오디오 도구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도구, 각자 잘하는 일이 다르다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2567864" cy="2834640"/>
          </a:xfrm>
          <a:prstGeom prst="roundRect">
            <a:avLst>
              <a:gd name="adj" fmla="val 2849"/>
            </a:avLst>
          </a:prstGeom>
          <a:solidFill>
            <a:srgbClr val="161D29"/>
          </a:solidFill>
          <a:ln w="15875">
            <a:solidFill>
              <a:srgbClr val="B39D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7452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soundfile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3172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· 쓰기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2834640"/>
            <a:ext cx="2293544" cy="1554480"/>
          </a:xfrm>
          <a:prstGeom prst="roundRect">
            <a:avLst>
              <a:gd name="adj" fmla="val 3529"/>
            </a:avLst>
          </a:prstGeom>
          <a:solidFill>
            <a:srgbClr val="0B0F15"/>
          </a:solidFill>
          <a:ln w="9525">
            <a:solidFill>
              <a:srgbClr val="2A33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4672" y="2926080"/>
            <a:ext cx="205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sf.info(f)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sf.read(f)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sf.write(f, y, sr)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90824" y="1737360"/>
            <a:ext cx="2567864" cy="2834640"/>
          </a:xfrm>
          <a:prstGeom prst="roundRect">
            <a:avLst>
              <a:gd name="adj" fmla="val 2849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73704" y="187452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librosa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573704" y="233172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· 변환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527984" y="2834640"/>
            <a:ext cx="2293544" cy="1554480"/>
          </a:xfrm>
          <a:prstGeom prst="roundRect">
            <a:avLst>
              <a:gd name="adj" fmla="val 3529"/>
            </a:avLst>
          </a:prstGeom>
          <a:solidFill>
            <a:srgbClr val="0B0F15"/>
          </a:solidFill>
          <a:ln w="9525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46856" y="2926080"/>
            <a:ext cx="205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librosa.load(f, sr=16000)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librosa.resample(...)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특징 추출 (D3)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33008" y="1737360"/>
            <a:ext cx="2567864" cy="2834640"/>
          </a:xfrm>
          <a:prstGeom prst="roundRect">
            <a:avLst>
              <a:gd name="adj" fmla="val 2849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15888" y="187452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pydub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15888" y="233172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370168" y="2834640"/>
            <a:ext cx="2293544" cy="1554480"/>
          </a:xfrm>
          <a:prstGeom prst="roundRect">
            <a:avLst>
              <a:gd name="adj" fmla="val 3529"/>
            </a:avLst>
          </a:prstGeom>
          <a:solidFill>
            <a:srgbClr val="0B0F15"/>
          </a:solidFill>
          <a:ln w="9525">
            <a:solidFill>
              <a:srgbClr val="2A334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89040" y="2926080"/>
            <a:ext cx="205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audio[1000:4000]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+ 6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.fade_in(500)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9075191" y="1737360"/>
            <a:ext cx="2567864" cy="2834640"/>
          </a:xfrm>
          <a:prstGeom prst="roundRect">
            <a:avLst>
              <a:gd name="adj" fmla="val 2849"/>
            </a:avLst>
          </a:prstGeom>
          <a:solidFill>
            <a:srgbClr val="161D29"/>
          </a:solidFill>
          <a:ln w="15875">
            <a:solidFill>
              <a:srgbClr val="F06FA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258071" y="187452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6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ffmpeg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58071" y="233172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변환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9212351" y="2834640"/>
            <a:ext cx="2293544" cy="1554480"/>
          </a:xfrm>
          <a:prstGeom prst="roundRect">
            <a:avLst>
              <a:gd name="adj" fmla="val 3529"/>
            </a:avLst>
          </a:prstGeom>
          <a:solidFill>
            <a:srgbClr val="0B0F15"/>
          </a:solidFill>
          <a:ln w="9525">
            <a:solidFill>
              <a:srgbClr val="2A334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331223" y="2926080"/>
            <a:ext cx="205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webm · m4a · mp3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wav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-ar 16000 -ac 1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48640" y="489204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1520" y="489204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D2-7 도구 고르기 (상황 8개)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2.6 · pydub 편집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시간은 밀리초(ms)로 다룬다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6766560" cy="2743200"/>
          </a:xfrm>
          <a:prstGeom prst="roundRect">
            <a:avLst>
              <a:gd name="adj" fmla="val 2667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87452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pydub import AudioSegment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= AudioSegment.from_file("speech.wav")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clip  = audio[1000:4000]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# 1초 ~ 4초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loud  = clip + 6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# 6dB 키우기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faded = clip.fade_in(500).fade_out(1000)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both  = clip + AudioSegment.silent(800) + clip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clip.export("out.mp3", format="mp3")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589520" y="1691640"/>
            <a:ext cx="4050792" cy="2743200"/>
          </a:xfrm>
          <a:prstGeom prst="roundRect">
            <a:avLst>
              <a:gd name="adj" fmla="val 2667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90688" y="1856232"/>
            <a:ext cx="3648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밀리초 감각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790688" y="2322576"/>
            <a:ext cx="364845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 = 1,000 ms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audio[:2000] = 처음 2초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audio[-3000:] = 마지막 3초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len(audio) = 길이 (ms)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663440"/>
            <a:ext cx="6766560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466344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6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first2 = audio[: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# 2초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2000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589520" y="4727448"/>
            <a:ext cx="4050792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0" y="4727448"/>
            <a:ext cx="3776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D2-8 pydub 편집기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2.6 · 미니 프로젝트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파일이든 음성 모델용으로 바꾸는 전처리기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999427" cy="868680"/>
          </a:xfrm>
          <a:prstGeom prst="roundRect">
            <a:avLst>
              <a:gd name="adj" fmla="val 8421"/>
            </a:avLst>
          </a:prstGeom>
          <a:solidFill>
            <a:srgbClr val="161D29"/>
          </a:solidFill>
          <a:ln w="19050">
            <a:solidFill>
              <a:srgbClr val="E6EAF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691640"/>
            <a:ext cx="190798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 파일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mp3 · m4a · webm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548067" y="169164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822387" y="1691640"/>
            <a:ext cx="1999427" cy="868680"/>
          </a:xfrm>
          <a:prstGeom prst="roundRect">
            <a:avLst>
              <a:gd name="adj" fmla="val 8421"/>
            </a:avLst>
          </a:prstGeom>
          <a:solidFill>
            <a:srgbClr val="161D29"/>
          </a:solidFill>
          <a:ln w="19050">
            <a:solidFill>
              <a:srgbClr val="4FD1B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68107" y="1691640"/>
            <a:ext cx="190798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불러오기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sr=16000, mono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821814" y="169164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096134" y="1691640"/>
            <a:ext cx="1999427" cy="868680"/>
          </a:xfrm>
          <a:prstGeom prst="roundRect">
            <a:avLst>
              <a:gd name="adj" fmla="val 8421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41854" y="1691640"/>
            <a:ext cx="190798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묵음 자르기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trim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095561" y="169164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369881" y="1691640"/>
            <a:ext cx="1999427" cy="868680"/>
          </a:xfrm>
          <a:prstGeom prst="roundRect">
            <a:avLst>
              <a:gd name="adj" fmla="val 8421"/>
            </a:avLst>
          </a:prstGeom>
          <a:solidFill>
            <a:srgbClr val="161D29"/>
          </a:solidFill>
          <a:ln w="19050">
            <a:solidFill>
              <a:srgbClr val="B39D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15601" y="1691640"/>
            <a:ext cx="190798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볼륨 맞추기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normalize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369308" y="169164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9643628" y="1691640"/>
            <a:ext cx="1999427" cy="868680"/>
          </a:xfrm>
          <a:prstGeom prst="roundRect">
            <a:avLst>
              <a:gd name="adj" fmla="val 8421"/>
            </a:avLst>
          </a:prstGeom>
          <a:solidFill>
            <a:srgbClr val="161D29"/>
          </a:solidFill>
          <a:ln w="19050">
            <a:solidFill>
              <a:srgbClr val="5CC8E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89348" y="1691640"/>
            <a:ext cx="190798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PCM_16 WAV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2788920"/>
            <a:ext cx="7315200" cy="2011680"/>
          </a:xfrm>
          <a:prstGeom prst="roundRect">
            <a:avLst>
              <a:gd name="adj" fmla="val 3636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297180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make_model_ready(src, dst="ready.wav"):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y, sr = librosa.load(src, sr=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mono=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y, _ = librosa.effects.trim(y, top_db=30)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 = y / (np.abs(y).max() + 1e-9) * 0.9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sf.write(dst, y, sr, subtype="PCM_16")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138160" y="2788920"/>
            <a:ext cx="3502152" cy="2011680"/>
          </a:xfrm>
          <a:prstGeom prst="roundRect">
            <a:avLst>
              <a:gd name="adj" fmla="val 3636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339328" y="2953512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7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8339328" y="3419856"/>
            <a:ext cx="309981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sr=16000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mono=True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webm, m4a는 ffmpeg로 먼저 wav 변환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5074920"/>
            <a:ext cx="493776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1520" y="507492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D2-9 전처리 파이프라인 (단계별 정보 카드)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2.6 · 전처리 결과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입력은 제각각, 출력은 하나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548640"/>
                <a:gridCol w="42336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파일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정보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 정보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speech_hq.wav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44100 Hz · 2ch · PCM_16 · 1033.7 KB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16000 Hz · 1ch · PCM_16 · 185.0 KB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speech.mp3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24000 Hz · 1ch · MP3 · 23.9 KB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16000 Hz · 1ch · PCM_16 · 185.0 KB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stereo.wav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16000 Hz · 2ch · PCM_16 · 125.0 KB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16000 Hz · 1ch · PCM_16 · 62.5 KB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f.flac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16000 Hz · 1ch · PCM_16 · 53.9 KB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16000 Hz · 1ch · PCM_16 · 185.0 KB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44348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열이 모두 같은 형식이다. 과제 1: 휴대폰 녹음(m4a)으로 직접 해 보기</a:t>
            </a:r>
            <a:endParaRPr lang="en-US" sz="135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892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실행 예시. 크기와 길이는 음성에 따라 다르다.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2.6 · Colab에서 알아 둘 점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만날 수 있는 오류와 해결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474720"/>
                <a:gridCol w="359359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 module named 'audioop' (pyaudioop)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Python 3.13에서 audioop 제거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pip install audioop-lts (설치 셀에 포함)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webm 녹음 파일을 librosa가 못 읽음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librosa가 webm 형식을 직접 못 읽음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ffmpeg로 먼저 wav 변환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진폭을 바꿔도 소리 크기가 같음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Audio()가 크기를 자동으로 맞춤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Audio(..., normalize=False)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stereo 저장이 이상하거나 오류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librosa (2, N) 모양 그대로 저장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sf.write(f, stereo.T, sr)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저장한 소리가 느리고 낮음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 숫자만 바꿔 저장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librosa.resample()로 먼저 변환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120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소리가 이상하면 먼저 확인할 세 가지: 샘플링 레이트, 채널 수, 배열 모양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2.6 · 수식으로 정리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원리를 여섯 줄로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840480"/>
                <a:gridCol w="2743200"/>
                <a:gridCol w="24963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 검증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사인파 · 데시벨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x[n] = A·sin(2πfn / fs)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 = 20·log10(A1 / A0)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진폭 2배 → +6.02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RMS = A/√2 일치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샘플링 정리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 = fs · 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f_max &lt; fs / 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 kHz → 8 kHz까지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N_new = 96,000 일치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Aliasing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f_alias = | f − k·fs |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7,000 Hz @11,025 → 4,025 Hz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건너뛰기 측정 4,025 Hz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양자화 잡음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 = 2^b,  Δ ≈ 2^(1−b)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SNR ≈ 6.02·b + 1.76 dB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16bit ≈ 98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 98.1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비트레이트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 = fs · b · 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bytes = fs · b/8 · C · T + 44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256 kbps → MP3 64k = 4배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크기 예측 ±2 KB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이득 · 정규화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 = 10^(G/20)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y' = 0.9 · y / max|y|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+6 dB → ×1.995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pydub 측정 1.995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7150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측정값은 노트북 실행 예시 기준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다음 시간 Day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주파수 분석: 스펙트로그램은 어떻게 만들어질까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647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16916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tone()으로 880 Hz 소리를 만들어 들었다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2219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0120" y="21488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건너뛰기와 resample의 차이를 소리로 구분했다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91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60120" y="26060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PCM_16으로 저장하고 sf.info로 확인했다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1363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0120" y="3063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stereo를 mono로 합치고 모양을 확인했다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5935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60120" y="3520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WAV, FLAC, MP3, Opus의 크기와 차이를 비교했다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0507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60120" y="39776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make_model_ready()로 여러 파일을 변환했다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635240" y="1691640"/>
            <a:ext cx="4005072" cy="2606040"/>
          </a:xfrm>
          <a:prstGeom prst="roundRect">
            <a:avLst>
              <a:gd name="adj" fmla="val 2807"/>
            </a:avLst>
          </a:prstGeom>
          <a:solidFill>
            <a:srgbClr val="1E1A10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36408" y="1856232"/>
            <a:ext cx="3602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Day 3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7836408" y="2322576"/>
            <a:ext cx="3602736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본 그림 한 장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Aliasing 스펙트로그램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그림은 숫자 배열에서 어떻게 만들어질까? 25ms 창, 10ms hop의 의미는?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4617720"/>
            <a:ext cx="3515258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4690872"/>
            <a:ext cx="2143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worksheet.html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2875178" y="46908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40문항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5029200"/>
            <a:ext cx="3149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· 노션 제출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338218" y="4617720"/>
            <a:ext cx="3515258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21098" y="4690872"/>
            <a:ext cx="2143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animation.html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664757" y="46908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탭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21098" y="5029200"/>
            <a:ext cx="3149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애니메이션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127797" y="4617720"/>
            <a:ext cx="3515258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310677" y="4690872"/>
            <a:ext cx="2143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D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D2_실습.ipynb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0454335" y="46908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7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310677" y="5029200"/>
            <a:ext cx="3149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노트북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5532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레포 위치  </a:t>
            </a:r>
            <a:pPr indent="0" marL="0">
              <a:buNone/>
            </a:pPr>
            <a:r>
              <a:rPr lang="en-US" sz="1100" u="sng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04-voice-ai/day02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디지털노마드연구소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D2 디지털 오디오 기초</dc:title>
  <dc:subject>PptxGenJS Presentation</dc:subject>
  <dc:creator>디지털노마드연구소</dc:creator>
  <cp:lastModifiedBy>디지털노마드연구소</cp:lastModifiedBy>
  <cp:revision>1</cp:revision>
  <dcterms:created xsi:type="dcterms:W3CDTF">2026-10-07T03:38:58Z</dcterms:created>
  <dcterms:modified xsi:type="dcterms:W3CDTF">2026-10-07T03:38:58Z</dcterms:modified>
</cp:coreProperties>
</file>