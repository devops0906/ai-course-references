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3입니다. D1에서 그림으로만 봤던 스펙트로그램과 Whisper의 80 × 3000 입력을 오늘 직접 수식과 코드로 만듭니다. 사인파의 합에서 출발해 DFT의 원리, FFT 실습, STFT, Mel, MFCC까지 갑니다. 마지막에 어떤 파일이든 Log-Mel과 MFCC를 뽑는 특징 추출기를 완성합니다.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 전에 다섯 질문에 아는 만큼 답을 적게 하고 마지막에 비교합니다. 특히 4번은 D1부터 계속 나온 80 × 3000의 정체입니다.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노트북은 Part 1부터 6까지 순서대로 진행하고, 교시가 끝날 때마다 워크시트의 해당 탭을 풉니다. 오늘도 GPU는 필요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1입니다. 220, 440, 660 Hz를 따로 듣고 더해서 들려주세요. 모양은 복잡해져도 반복 주기는 1/220초 그대로입니다. 음 높이는 f₀, 음색은 각 배음의 크기 A_k가 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성대가 만든 배음을 성도(입, 혀, 목)가 걸러서 특정 높이 근처를 크게 만듭니다. 이 봉우리가 포먼트이고 모음을 결정합니다. 노트북의 vowel() 함수로 아, 이, 우를 들려주세요. f0만 바꾸면 높이는 바뀌어도 같은 모음으로 들립니다.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소리를 시간 축으로 보면 "언제 얼마나 큰가", 주파수 축으로 보면 "어떤 높이가 얼마나 들어 있나"입니다. 오늘 배우는 FFT가 왼쪽을 오른쪽으로 바꿉니다.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2입니다. 신호에 440 Hz가 있으면 440 Hz 시험 사인파와 곱한 값이 양수로 쌓여 합이 커지고, 700 Hz처럼 없는 주파수는 +와 −가 상쇄됩니다. 애니메이션 D3-3에서 스캔을 눌러 스펙트럼이 그려지는 과정과, 원에 감았을 때 무게중심이 움직이는 모습을 보여주세요.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신호의 위상을 모르기 때문에 cos와 sin을 둘 다 곱해야 합니다. 오일러 공식은 원 위를 도는 점을 복소수로 써서 둘을 한 번에 다룹니다. 지수함수 급수에 jθ를 넣으면 짝수 차수는 cos, 홀수 차수는 sin 급수로 묶입니다.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DFT 공식과 bin의 의미입니다. k번째 칸의 주파수는 k·fs/N이고, 유용한 범위는 0부터 N/2까지입니다. 진폭 A인 사인파가 bin에 맞으면 |X[k]| = A·N/2라서 2|X|/N로 진폭을 되돌립니다.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직접 만든 dft()는 N × N 행렬을 곱하므로 곱셈이 N²번입니다. FFT는 같은 결과를 N log2 N번으로 계산합니다. 노트북에서 np.allclose로 결과가 같은 것과 실제 시간 차이를 확인합니다. 실측 배수는 환경에 따라 다릅니다.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3입니다. 25 ms(400샘플)면 40 Hz 간격이라 440과 460 Hz가 하나로 뭉칩니다. 256 ms(4096샘플)면 3.9 Hz 간격이라 둘로 갈라집니다. 시간 길이와 주파수 간격을 곱하면 항상 1입니다.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주파수가 bin에 딱 맞지 않으면 끝부분이 끊겨 에너지가 넓게 퍼집니다. 양 끝을 0으로 줄이는 Hann 창을 곱하면 1,500 Hz에서 약 −40 dB이던 누설이 −100 dB 아래로 떨어집니다. 대신 봉우리가 조금 넓어집니다.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4입니다. 25 ms 창을 10 ms씩 옮기며 각 구간을 FFT하고, 결과를 세로로 세워 붙입니다. 직접 만든 my_stft()가 librosa.stft(center=False)와 같은 결과인 것을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STFT 결과 모양을 계산으로 맞히는 연습입니다. center=True는 앞뒤에 N/2씩 패딩해서 1 + L//H입니다. 30초면 3001이고 Whisper는 마지막을 버려 3000을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창이 길면 배음 줄무늬(음 높이)가 선명하지만 시간 변화가 번지고, 짧으면 반대입니다. 둘을 곱하면 1이라서 피할 수 없습니다. 애니메이션 D3-7에서 마이크로 말하며 n_fft를 바꿔 보여주세요.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5입니다. 0~8000 Hz를 mel 축에서 같은 간격으로 나누면 Hz 축에서는 낮은 쪽이 촘촘하고 높은 쪽이 넓어집니다. 이웃한 세 점마다 삼각형 필터를 만들어 파워를 묶습니다.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STFT 파워 201줄에 80 × 201 필터뱅크 행렬을 곱하면 80줄 Mel이 되고, 로그를 취하면 Log-Mel입니다. 30초면 80 × 3000이 됩니다. 실제 Whisper는 여기에 클리핑과 스케일 조정을 더하고, large-v3 계열은 128 mel을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6입니다. DCT는 Log-Mel 곡선을 느린 cos부터 빠른 cos까지 얼마씩 섞으면 되는지 계산합니다. 낮은 n은 봉우리(포먼트), 높은 n은 배음 줄무늬입니다. 앞 13개만 남긴 것이 MFCC입니다.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 계수만으로 복원하면 포먼트 봉우리만 남고 배음 줄무늬가 지워집니다. 노트북 빈칸 실습 6에서 같은 "아"를 120 Hz와 240 Hz로 만들면 거리가 다른 모음 "이"보다 훨씬 작습니다. 수치는 실행 예시입니다.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D2의 make_model_ready() 다음 단계입니다. 전처리 후 STFT, Mel, 로그, DCT를 한 번에 해서 딕셔너리로 돌려줍니다. 같은 문장을 여성과 남성 목소리로 비교하면 배음 간격은 달라도 큰 흐름은 비슷합니다.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각 Part의 수식으로 보기를 한 장에 모았습니다. 노트북 수식 검증 셀의 측정값과 함께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수강생이 자주 묻는 부분입니다. 특히 frame 수가 3000이 아니라 3001로 나오는 이유와, 10과 20의 dB 변환 차이를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체크리스트를 확인하고 워크시트 4교시 탭까지 마친 뒤 노션에 제출합니다. 다음 시간에는 오늘 만든 스펙트로그램을 이용해 잡음을 줄이고, 말소리 구간을 찾는 VAD를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animation.html#flow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sum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dft" TargetMode="Externa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res" TargetMode="Externa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window" TargetMode="Externa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stft" TargetMode="Externa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live" TargetMode="Externa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mel" TargetMode="Externa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mfcc" TargetMode="Externa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worksheet.html" TargetMode="External"/><Relationship Id="rId2" Type="http://schemas.openxmlformats.org/officeDocument/2006/relationships/hyperlink" Target="animation.html" TargetMode="External"/><Relationship Id="rId3" Type="http://schemas.openxmlformats.org/officeDocument/2006/relationships/hyperlink" Target="animation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68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 / 40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03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주파수 분석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FFT · STFT · Mel · MFCC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 of Sines → DFT → STFT → Mel → MFCC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4시간 · Colab CPU · 실습 노트북 Part 1 ~ 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29400" y="1371600"/>
            <a:ext cx="4983480" cy="3291840"/>
          </a:xfrm>
          <a:prstGeom prst="roundRect">
            <a:avLst>
              <a:gd name="adj" fmla="val 2222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0" y="1554480"/>
            <a:ext cx="4526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extract_features("speech.wav")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Log-Mel (80, 593)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Whisper 입력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MFCC    (13, 593)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봉우리 모양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1초에 약 100 frame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logmel_30s.shape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(80, 3000)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47091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예시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 · 오늘 답할 질문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Whisper가 읽는 "소리 그림"은 어떻게 만들어질까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6916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 같은 복잡한 소리는 무엇으로 이루어져 있을까?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631375" y="16916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40487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40487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240487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FFT는 신호 속 주파수를 어떻게 찾아낼까?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631375" y="24048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118104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311810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311810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ms로 잘라 보면 몇 Hz 차이까지 구분할 수 있을까?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631375" y="311810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3831336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383133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831336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Whisper의 80 × 3000 입력은 정확히 어떻게 만들까?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9631375" y="383133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 · 5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454456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45445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45445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 높이가 달라도 "아"를 "아"로 알아보는 특징은?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9631375" y="45445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6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수업이 끝나면 다섯 질문 모두에 수식 하나와 한 문장으로 답할 수 있어야 한다.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 · 오늘의 흐름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사인파에서 MFCC까지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63570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9AA4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73736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사인파의 합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184349" y="17373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440381" y="1737360"/>
            <a:ext cx="163570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486101" y="173736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DFT 원리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076090" y="17373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332122" y="1737360"/>
            <a:ext cx="163570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77842" y="173736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FFT 실습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967832" y="17373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223864" y="1737360"/>
            <a:ext cx="163570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69584" y="173736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STFT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859573" y="17373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8115605" y="1737360"/>
            <a:ext cx="163570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F06FA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61325" y="173736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Mel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751314" y="17373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10007346" y="1737360"/>
            <a:ext cx="163570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5CC8E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053066" y="173736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6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MFCC · 추출기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120640"/>
                <a:gridCol w="45079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1교시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사인파의 합, 배음 · 포먼트, DFT 원리, 오일러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1 ~ 2 · 빈칸 1, 2 · 워크시트 1교시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FFT 실습: 해상도, 창 함수, dB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3 · 빈칸 3 · 워크시트 2교시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STFT, 스펙트로그램, 트레이드오프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4 · 빈칸 4 · 워크시트 3교시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Mel, Log-Mel, MFCC, 특징 추출기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5 ~ 7 · 빈칸 5 ~ 7 · 워크시트 4교시 · 노션 제출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548640" y="544068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31520" y="544068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D3-1 오늘의 흐름 (Part 1 ~ 6)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· 사인파의 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소리 = 배음(f₀의 정수배)의 합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pic>
        <p:nvPicPr>
          <p:cNvPr id="6" name="Image 0" descr="배음과 합성 파형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94415" cy="289009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709160"/>
            <a:ext cx="5410048" cy="1051560"/>
          </a:xfrm>
          <a:prstGeom prst="roundRect">
            <a:avLst>
              <a:gd name="adj" fmla="val 6957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49808" y="4873752"/>
            <a:ext cx="500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 높이 = f₀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5340096"/>
            <a:ext cx="50077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주기 T = 1/f₀. 배음을 바꿔도 그대로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33008" y="4709160"/>
            <a:ext cx="5410048" cy="1051560"/>
          </a:xfrm>
          <a:prstGeom prst="roundRect">
            <a:avLst>
              <a:gd name="adj" fmla="val 6957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34176" y="4873752"/>
            <a:ext cx="500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음색 = A_k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434176" y="5340096"/>
            <a:ext cx="50077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배음의 크기 비율. 피아노 vs 바이올린, "아" vs "이"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589788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31520" y="589788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D3-2 사인파의 합 (배음 슬라이더)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· 포먼트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높이, 다른 모음: 봉우리 위치가 다르다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pic>
        <p:nvPicPr>
          <p:cNvPr id="6" name="Image 0" descr="아 이 우 스펙트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94415" cy="265156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26280"/>
            <a:ext cx="5760720" cy="1143000"/>
          </a:xfrm>
          <a:prstGeom prst="roundRect">
            <a:avLst>
              <a:gd name="adj" fmla="val 64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470916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x(t) = Σ A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sin(2π·k·f₀·t + φ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≈ G(k·f₀)   G = 성도의 봉우리 모양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4526280"/>
          <a:ext cx="505663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920240"/>
                <a:gridCol w="1947672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700 Hz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1200 Hz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300 Hz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2300 Hz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300 Hz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800 Hz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· 두 가지 시점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영역과 주파수 영역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pic>
        <p:nvPicPr>
          <p:cNvPr id="6" name="Image 0" descr="시간 영역과 주파수 영역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11094415" cy="27891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754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FFT: 시간 영역 → 주파수 영역.  STFT: 둘을 합쳐 "언제, 어떤 높이가" (스펙트로그램)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· DFT 원리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사인파와 곱해서 더하기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pic>
        <p:nvPicPr>
          <p:cNvPr id="6" name="Image 0" descr="곱해서 더하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554480"/>
            <a:ext cx="9265615" cy="350054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623560"/>
            <a:ext cx="512064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562356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D3-3 DFT 원리 (스캔 · 감아 보기)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· 오일러 공식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cos와 sin을 한 번에: e^{jθ} = cos θ + j sin 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pic>
        <p:nvPicPr>
          <p:cNvPr id="6" name="Image 0" descr="오일러 공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554480"/>
            <a:ext cx="9265615" cy="2884386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0916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급수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e^x = 1 + x + x²/2! + x³/3! + …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 = jθ, j² = −1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e^{jθ} = (1 − θ²/2! + …) + j(θ − θ³/3! + …) = cos θ + j sin θ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DFT 시험 사인파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e^{−j2πfn/fs} = cos(2πfn/fs) − j sin(2πfn/fs)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· DFT 공식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X[k] = Σ x[n] · e^{−j2πkn/N}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874520"/>
            <a:ext cx="10637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X[k] = Σ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n=0..N−1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x[n] · e^(−j2πkn/N)   =   c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− j·s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k · f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N        |X[k]| = √(c² + s²)        A = 2|X[k]| / N</a:t>
            </a:r>
            <a:endParaRPr lang="en-US" sz="1600" dirty="0"/>
          </a:p>
        </p:txBody>
      </p:sp>
      <p:pic>
        <p:nvPicPr>
          <p:cNvPr id="8" name="Image 0" descr="bin 눈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63240"/>
            <a:ext cx="11094415" cy="221222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548640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9808" y="548640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2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freqs = np.arange(N) * 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N;   mag = np.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(X)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SR, abs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· FFT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 같고, 계산은 약 100배 빠르다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1,048,576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97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DFT: N² (N = 1024)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17830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17830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10,240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475488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FFT: N·log₂N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0" y="17830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17830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100배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곱셈 횟수 차이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3383280"/>
            <a:ext cx="6400800" cy="1188720"/>
          </a:xfrm>
          <a:prstGeom prst="roundRect">
            <a:avLst>
              <a:gd name="adj" fmla="val 6154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35661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결과가 같은가: True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직접 DFT 45.7 ms | FFT 0.092 ms | 약 499배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617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6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예시. 시간은 환경에 따라 다르다.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269480" y="3383280"/>
            <a:ext cx="4370832" cy="1188720"/>
          </a:xfrm>
          <a:prstGeom prst="roundRect">
            <a:avLst>
              <a:gd name="adj" fmla="val 6154"/>
            </a:avLst>
          </a:prstGeom>
          <a:solidFill>
            <a:srgbClr val="161D29"/>
          </a:solidFill>
          <a:ln w="15875">
            <a:solidFill>
              <a:srgbClr val="F0716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70648" y="3547872"/>
            <a:ext cx="3968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07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실전에서는 항상 np.fft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7470648" y="4014216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 = 16,000(1초)이면 직접 DFT 행렬만 약 4 GB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502920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9AA4B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9808" y="502920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1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chord = tone(262) + tone(330) + tone(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# 솔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392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 · 주파수 해상도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Δf = f_s / N : 길게 볼수록 촘촘하다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pic>
        <p:nvPicPr>
          <p:cNvPr id="6" name="Image 0" descr="해상도 비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94415" cy="2874563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09160"/>
          <a:ext cx="7315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27432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길이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Δf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 ms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 Hz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4096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256 ms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3.9 Hz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Hz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8092440" y="4937760"/>
            <a:ext cx="3547872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8275320" y="4937760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D3-4 주파수 해상도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 · 창 함수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그냥 자르면 새어 나간다: Hann 창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pic>
        <p:nvPicPr>
          <p:cNvPr id="6" name="Image 0" descr="창 함수와 누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94415" cy="297663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754880"/>
            <a:ext cx="5760720" cy="685800"/>
          </a:xfrm>
          <a:prstGeom prst="roundRect">
            <a:avLst>
              <a:gd name="adj" fmla="val 1066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4937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w[n] = 0.5 − 0.5·cos(2πn / (N−1))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583680" y="4754880"/>
            <a:ext cx="5056632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784848" y="4754880"/>
            <a:ext cx="4690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3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np.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hanning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562356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1520" y="562356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D3-5 창 함수와 leakage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3.4 · STFT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잘라서 FFT하고, 세워 붙이면 스펙트로그램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pic>
        <p:nvPicPr>
          <p:cNvPr id="6" name="Image 0" descr="STFT 프레이밍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554480"/>
            <a:ext cx="8899855" cy="336592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440680"/>
            <a:ext cx="7498080" cy="685800"/>
          </a:xfrm>
          <a:prstGeom prst="roundRect">
            <a:avLst>
              <a:gd name="adj" fmla="val 1066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6235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X[m,k] = Σ x[n + mH] · w[n] · e^(−j2πkn/N)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8275320" y="5559552"/>
            <a:ext cx="3364992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458200" y="5559552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D3-6 STFT 프레이밍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3.4 · frame 수와 모양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 + N/2, 1 + ⌊L/H⌋)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4223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 (N=400, H=160)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center=False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 = 1 + ⌊(L − N)/H⌋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 = 16,000 → 98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center=True (기본)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 = 1 + ⌊L/H⌋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 = 16,000 → 101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30초 (Whisper)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+ 480000 // 160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3001 → 3000 사용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세로 (bin 수)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+ N/2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 (간격 40 Hz)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겹침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(N − H)/N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61772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49808" y="461772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4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hop = int(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SR)   # 10 ms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0.010 → 160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3.4 · 트레이드오프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시간과 주파수를 동시에 선명하게 볼 수 없다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pic>
        <p:nvPicPr>
          <p:cNvPr id="6" name="Image 0" descr="트레이드오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94415" cy="307537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846320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0292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/ f_s) × (f_s / N) = 1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949440" y="4965192"/>
            <a:ext cx="4690872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132320" y="4965192"/>
            <a:ext cx="4416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D3-7 시간-주파수 트레이드오프 (실시간)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 · Mel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귀에 맞춘 주파수 축과 삼각형 필터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pic>
        <p:nvPicPr>
          <p:cNvPr id="6" name="Image 0" descr="Mel 스케일과 필터뱅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94415" cy="306760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892040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0749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2595·log₁₀(1 + f/700)   ⟺   f = 700(10^(m/2595) − 1)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772400" y="5029200"/>
            <a:ext cx="3867912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955280" y="5029200"/>
            <a:ext cx="3593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D3-8 Mel 필터뱅크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 · Log-Mel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 입력 80 × 3000의 정체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pic>
        <p:nvPicPr>
          <p:cNvPr id="6" name="Image 0" descr="특징 추출 파이프라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554480"/>
            <a:ext cx="9631375" cy="2083266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50799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STFT 파워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(201, T)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|X[k, t]|²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필터뱅크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(80, 201)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H_m(k) 삼각형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(80, T)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 · |X|²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Log-Mel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(80, T)  30초 → (80, 3000)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10·log₁₀(Mel)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F06FA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49808" y="562356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5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librosa.feature.melspectrogram(..., n_mels=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80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3.6 · MFCC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Log-Mel을 DCT하면 앞쪽에 봉우리 모양이 모인다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pic>
        <p:nvPicPr>
          <p:cNvPr id="6" name="Image 0" descr="DCT 기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94415" cy="259387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26280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470916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Σ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log(Mel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· cos[π·n·(m + 0.5) / M],   n = 0 … 12   (c0 = 전체 크기)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3.6 · 봉우리 vs 음 높이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 높이가 달라도 같은 모음이면 MFCC가 비슷하다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pic>
        <p:nvPicPr>
          <p:cNvPr id="6" name="Image 0" descr="MFCC 복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554480"/>
            <a:ext cx="9997135" cy="270322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26280"/>
            <a:ext cx="3515258" cy="1051560"/>
          </a:xfrm>
          <a:prstGeom prst="roundRect">
            <a:avLst>
              <a:gd name="adj" fmla="val 6957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49808" y="4690872"/>
            <a:ext cx="31129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"아"120 vs "아"240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5157216"/>
            <a:ext cx="311292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MFCC 거리 약 91 (같은 모음)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338218" y="4526280"/>
            <a:ext cx="3515258" cy="1051560"/>
          </a:xfrm>
          <a:prstGeom prst="roundRect">
            <a:avLst>
              <a:gd name="adj" fmla="val 6957"/>
            </a:avLst>
          </a:prstGeom>
          <a:solidFill>
            <a:srgbClr val="161D29"/>
          </a:solidFill>
          <a:ln w="15875">
            <a:solidFill>
              <a:srgbClr val="F06FA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39386" y="4690872"/>
            <a:ext cx="31129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"아"120 vs "이"120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39386" y="5157216"/>
            <a:ext cx="311292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MFCC 거리 약 169 (다른 모음)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27797" y="4828032"/>
            <a:ext cx="3515258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310677" y="4828032"/>
            <a:ext cx="32409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D3-9 MFCC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571500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49808" y="571500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6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librosa.feature.mfcc(S=lm, n_mfcc=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13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3.6 · 미니 프로젝트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extract_features(): 어떤 파일이든 Log-Mel과 MFCC로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7315200" cy="2834640"/>
          </a:xfrm>
          <a:prstGeom prst="roundRect">
            <a:avLst>
              <a:gd name="adj" fmla="val 2581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874520"/>
            <a:ext cx="685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extract_features(src):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 = make_model_ready(src, "feat_in.wav")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y, sr = librosa.load(path, sr=16000)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mel = librosa.feature.melspectrogram(y=y, sr=sr,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n_fft=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hop_length=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n_mels=80)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logmel = librosa.power_to_db(mel, ref=np.max)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mfcc = librosa.feature.mfcc(S=logmel, n_mfcc=13)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{"logmel": logmel, "mfcc": mfcc}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138160" y="1691640"/>
            <a:ext cx="3502152" cy="2834640"/>
          </a:xfrm>
          <a:prstGeom prst="roundRect">
            <a:avLst>
              <a:gd name="adj" fmla="val 2581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39328" y="1856232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7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339328" y="2322576"/>
            <a:ext cx="309981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n_fft = 400 (25 ms)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hop_length = 160 (10 ms)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Log-Mel (80, T), MFCC (13, T), 1초에 약 100 frame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846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D6부터 Whisper가 이 Log-Mel을 입력으로 받는다.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3.6 · 수식으로 정리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원리를 여덟 줄로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669280"/>
                <a:gridCol w="33192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푸리에 급수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x(t) = Σ A_k sin(2πk f₀ t + φ_k)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배음 간격 = f₀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DFT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X[k] = Σ x[n] e^(−j2πkn/N)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np.allclose(dft, fft)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bin · 진폭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f_k = k f_s / N,  A = 2|X[k]|/N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 Hz → 0.5000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해상도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Δf = f_s / 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400 → 40 Hz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Hann 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w[n] = 0.5 − 0.5 cos(2πn/(N−1))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np.hanning과 일치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STFT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 = 1 + ⌊L/H⌋,  모양 (1 + N/2, M)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(201, 593)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 = 2595 log₁₀(1 + f/700),  H·|X|²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1000 Hz → 1000 mel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MFCC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c_n = Σ log Mel_m cos[πn(m+0.5)/M]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dct 직접 = librosa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3.6 · 알아 둘 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헷갈리기 쉬운 것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340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헷갈리는 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직접 DFT가 메모리 오류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 × N 복소수 행렬. N = 16,000이면 약 4 GB → 실습은 N = 1024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frame 수가 3001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librosa center=True는 1 + L//H. Whisper는 마지막을 버려 3000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power_to_db vs amplitude_to_db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파워는 10·log₁₀, 진폭은 20·log₁₀. 결과 dB는 같다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librosa mel 값이 HTK 공식과 다름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librosa 기본은 Slaney 방식. HTK와 비교할 때는 htk=True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Whisper mel 수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80. large-v3 계열은 128 mel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257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 수와 bin 수는 항상 공식으로 먼저 예측하고 shape로 확인한다.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다음 시간 Day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오디오 전처리: 리샘플링 · 정규화 · 노이즈 제거 · VAD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647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16916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도-미-솔 화음을 FFT로 분해했다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" y="21488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만든 dft()가 np.fft와 같음을 확인했다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91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0120" y="26060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Δf = f_s/N과 Hann 창의 효과를 실험했다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1363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0120" y="3063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my_stft()로 스펙트로그램을 만들고 frame 수를 예측했다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5935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60120" y="3520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 입력 80 × 3000 Log-Mel을 만들었다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0507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0120" y="39776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MFCC가 음 높이보다 모음을 담는 것을 확인했다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635240" y="1691640"/>
            <a:ext cx="4005072" cy="2606040"/>
          </a:xfrm>
          <a:prstGeom prst="roundRect">
            <a:avLst>
              <a:gd name="adj" fmla="val 2807"/>
            </a:avLst>
          </a:prstGeom>
          <a:solidFill>
            <a:srgbClr val="1E1A10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36408" y="1856232"/>
            <a:ext cx="3602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Day 4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7836408" y="2322576"/>
            <a:ext cx="3602736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스펙트로그램으로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잡음은 어디에 있고, 말소리는 언제 시작할까?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리샘플링 · 정규화 · 노이즈 제거 · Silero VAD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4617720"/>
            <a:ext cx="3515258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4690872"/>
            <a:ext cx="2143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worksheet.html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2875178" y="46908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40문항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5029200"/>
            <a:ext cx="314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· 노션 제출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338218" y="4617720"/>
            <a:ext cx="3515258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21098" y="4690872"/>
            <a:ext cx="2143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animation.html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664757" y="46908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21098" y="5029200"/>
            <a:ext cx="314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애니메이션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127797" y="4617720"/>
            <a:ext cx="3515258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310677" y="4690872"/>
            <a:ext cx="2143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D3_실습.ipynb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0454335" y="46908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7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310677" y="5029200"/>
            <a:ext cx="314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노트북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5532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레포 위치  </a:t>
            </a:r>
            <a:pPr indent="0" marL="0">
              <a:buNone/>
            </a:pPr>
            <a:r>
              <a:rPr lang="en-US" sz="1100" u="sng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04-voice-ai/day03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디지털노마드연구소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D3 주파수 분석</dc:title>
  <dc:subject>PptxGenJS Presentation</dc:subject>
  <dc:creator>디지털노마드연구소</dc:creator>
  <cp:lastModifiedBy>디지털노마드연구소</cp:lastModifiedBy>
  <cp:revision>1</cp:revision>
  <dcterms:created xsi:type="dcterms:W3CDTF">2026-10-07T13:00:57Z</dcterms:created>
  <dcterms:modified xsi:type="dcterms:W3CDTF">2026-10-07T13:00:57Z</dcterms:modified>
</cp:coreProperties>
</file>