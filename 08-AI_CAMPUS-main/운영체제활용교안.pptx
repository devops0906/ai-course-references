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5"/>
  </p:notesMasterIdLst>
  <p:sldIdLst>
    <p:sldId id="256" r:id="rId2"/>
    <p:sldId id="257" r:id="rId3"/>
    <p:sldId id="258" r:id="rId4"/>
    <p:sldId id="259" r:id="rId5"/>
    <p:sldId id="260" r:id="rId6"/>
    <p:sldId id="261" r:id="rId7"/>
    <p:sldId id="262" r:id="rId8"/>
    <p:sldId id="377" r:id="rId9"/>
    <p:sldId id="263" r:id="rId10"/>
    <p:sldId id="264" r:id="rId11"/>
    <p:sldId id="265" r:id="rId12"/>
    <p:sldId id="266" r:id="rId13"/>
    <p:sldId id="267" r:id="rId14"/>
    <p:sldId id="378" r:id="rId15"/>
    <p:sldId id="379" r:id="rId16"/>
    <p:sldId id="380" r:id="rId17"/>
    <p:sldId id="353" r:id="rId18"/>
    <p:sldId id="381" r:id="rId19"/>
    <p:sldId id="382" r:id="rId20"/>
    <p:sldId id="268" r:id="rId21"/>
    <p:sldId id="354" r:id="rId22"/>
    <p:sldId id="383" r:id="rId23"/>
    <p:sldId id="269" r:id="rId24"/>
    <p:sldId id="384" r:id="rId25"/>
    <p:sldId id="270" r:id="rId26"/>
    <p:sldId id="271" r:id="rId27"/>
    <p:sldId id="272" r:id="rId28"/>
    <p:sldId id="273" r:id="rId29"/>
    <p:sldId id="274" r:id="rId30"/>
    <p:sldId id="385" r:id="rId31"/>
    <p:sldId id="386" r:id="rId32"/>
    <p:sldId id="387" r:id="rId33"/>
    <p:sldId id="355" r:id="rId34"/>
    <p:sldId id="388" r:id="rId35"/>
    <p:sldId id="389" r:id="rId36"/>
    <p:sldId id="275" r:id="rId37"/>
    <p:sldId id="356" r:id="rId38"/>
    <p:sldId id="390" r:id="rId39"/>
    <p:sldId id="276" r:id="rId40"/>
    <p:sldId id="391" r:id="rId41"/>
    <p:sldId id="277" r:id="rId42"/>
    <p:sldId id="278" r:id="rId43"/>
    <p:sldId id="279" r:id="rId44"/>
    <p:sldId id="280" r:id="rId45"/>
    <p:sldId id="281" r:id="rId46"/>
    <p:sldId id="392" r:id="rId47"/>
    <p:sldId id="393" r:id="rId48"/>
    <p:sldId id="394" r:id="rId49"/>
    <p:sldId id="357" r:id="rId50"/>
    <p:sldId id="395" r:id="rId51"/>
    <p:sldId id="396" r:id="rId52"/>
    <p:sldId id="282" r:id="rId53"/>
    <p:sldId id="358" r:id="rId54"/>
    <p:sldId id="397" r:id="rId55"/>
    <p:sldId id="283" r:id="rId56"/>
    <p:sldId id="398" r:id="rId57"/>
    <p:sldId id="284" r:id="rId58"/>
    <p:sldId id="285" r:id="rId59"/>
    <p:sldId id="286" r:id="rId60"/>
    <p:sldId id="287" r:id="rId61"/>
    <p:sldId id="288" r:id="rId62"/>
    <p:sldId id="399" r:id="rId63"/>
    <p:sldId id="400" r:id="rId64"/>
    <p:sldId id="401" r:id="rId65"/>
    <p:sldId id="359" r:id="rId66"/>
    <p:sldId id="402" r:id="rId67"/>
    <p:sldId id="403" r:id="rId68"/>
    <p:sldId id="289" r:id="rId69"/>
    <p:sldId id="360" r:id="rId70"/>
    <p:sldId id="404" r:id="rId71"/>
    <p:sldId id="290" r:id="rId72"/>
    <p:sldId id="405" r:id="rId73"/>
    <p:sldId id="291" r:id="rId7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525" autoAdjust="0"/>
  </p:normalViewPr>
  <p:slideViewPr>
    <p:cSldViewPr snapToGrid="0" snapToObjects="1">
      <p:cViewPr varScale="1">
        <p:scale>
          <a:sx n="127" d="100"/>
          <a:sy n="127" d="100"/>
        </p:scale>
        <p:origin x="259"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9514597"/>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5분
[강사 스크립트]
오늘부터 24시간 동안 운영체제를 단순한 명령어 모음이 아니라, 온디바이스 AI 시스템을 실제로 움직이는 자원 관리자라는 관점에서 학습합니다. 이 과정은 컴퓨터 구조 24시간 다음에 위치하며, 이후 프로그래밍 언어와 Linux &amp; Shell, Embedded I/O, ONNX/TensorRT, ROS2로 이어지는 기반 수업입니다.
수업의 특징은 세 가지입니다. 첫째, 개념을 먼저 예측합니다. 둘째, HTML 인터랙티브 시뮬레이터에서 눈으로 검증합니다. 셋째, 디지털 워크시트에서 본인의 판단이 맞았는지 기록합니다. 강의 중 틀린 예측은 감점이 아니라 학습 증거로 취급합니다.
[수강생에게 던질 질문]
• 여러분이 생각하는 운영체제의 가장 중요한 역할은 무엇인가요?
• 온디바이스 AI에서 OS가 빠지면 어떤 일이 생길까요?
[강사 주의 포인트]
• 첫 시간부터 Linux 명령어 암기 수업처럼 보이지 않도록 “왜 필요한가”를 먼저 강조합니다.
[다음 슬라이드 연결]
먼저 24시간 전체 구조와 수업 운영 방식을 확인하겠습니다.</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8분
[강사 스크립트]
이 슬라이드는 과정의 위치를 설명하는 데 사용합니다. 컴퓨터 구조에서는 CPU, 메모리, 버스, I/O 장치의 동작 원리를 배웠습니다. 이제 운영체제에서는 그 하드웨어를 여러 프로그램이 동시에 사용하도록 누가 중재하는지 학습합니다.
특히 이 과정 뒤에는 프로그래밍 언어 72시간이 이어집니다. 프로그래밍을 할 때도 프로세스, 메모리, 파일, 네트워크, 시스템 콜을 이해하면 오류 원인을 훨씬 빠르게 찾을 수 있습니다. 이후 별도 과목인 Linux &amp; Shell 40시간에서는 명령어와 Shell 사용을 더 깊게 다루므로, 여기서는 Shell 문법 자체보다 명령어를 “OS 상태를 관찰하는 도구”로 사용합니다.
[수강생에게 던질 질문]
• 컴퓨터 구조와 운영체제의 경계는 어디라고 생각하나요?
• 프로그래밍 오류처럼 보이지만 사실 OS 자원 문제였던 경험이 있나요?
[다음 슬라이드 연결]
다음은 24시간 동안 어떤 능력을 확보할지 구체적으로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8분
[강사 스크립트]
이 과정의 목표는 명령어를 외우는 것이 아니라 “상태를 읽고, 다음 동작을 예측하고, 문제를 좁히는 능력”입니다.
수강생이 24시간 후 할 수 있어야 하는 일은 여섯 가지입니다. 첫째, 핵심 OS 개념을 설명할 수 있어야 합니다. 둘째, 실제 시스템 지표를 관찰할 수 있어야 합니다. 셋째, 스케줄러나 Page Fault처럼 화면에서 보이지 않는 상태 변화를 예측할 수 있어야 합니다. 넷째, 장애 원인을 하나씩 좁혀 갈 수 있어야 합니다. 다섯째, 이 모든 개념을 온디바이스 AI의 CPU/GPU/NPU/RAM/Camera 자원 문제와 연결해야 합니다. 마지막으로 수정 후에는 반드시 검증해야 합니다.
강사는 각 챕터 종료 시 “무엇을 외웠나?”가 아니라 “어떤 증거로 그렇게 판단했나?”를 질문하는 방식으로 수업을 운영합니다.
[수강생에게 던질 질문]
• 여섯 가지 중 현재 가장 자신 있는 항목과 가장 자신 없는 항목은 무엇인가요?
[강사 주의 포인트]
• 수강생 수준 차이가 큰 경우, “설명”과 “진단”을 분리해 기초 수강생도 성공 경험을 갖게 합니다.
[다음 슬라이드 연결]
이 목표를 달성하기 위해 매 챕터를 동일한 학습 사이클로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8분
[강사 스크립트]
이 수업의 가장 중요한 운영 규칙입니다. 먼저 예측하고, 그 다음 움직이는 시뮬레이션에서 확인하고, 마지막에 워크시트로 기록합니다.
강사는 시뮬레이터를 “정답 보여주는 화면”으로 사용하지 말고, 수강생의 예측을 검증하는 실험 장치로 사용하세요. 예를 들어 Round Robin에서 Quantum을 1로 바꾸기 전에 “Context Switch가 늘까 줄까?”를 먼저 묻습니다. Page Fault 버튼을 누르기 전에 “어떤 Frame이 바뀔까?”를 예측하게 합니다.
워크시트는 참고자료와 같은 방식으로 브라우저 localStorage에 자동 저장되며, 채점 후 예측 칸이 잠깁니다. 이 방식은 수강생이 오답을 지우고 정답만 남기는 것을 막고, 사고 과정 자체를 학습 기록으로 남기기 위한 것입니다.
[시연/운영 포인트]
• 실제 수업 시작 전에 PPT·시뮬레이터·워크시트를 같은 폴더에 배치했는지 확인합니다.
• 브라우저 팝업 차단이나 로컬 파일 실행 정책이 있는 교육장 PC라면 사전 점검합니다.
[다음 슬라이드 연결]
이제 3일간의 전체 시간표를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6분
[강사 스크립트]
24시간은 3일로 나누고, 하루에 4개 챕터를 진행합니다. 각 챕터는 약 2시간입니다.
Day 1은 “프로그램이 실행된다”는 말 안에 무엇이 들어 있는지를 이해하는 날입니다. OS 구조, Linux 환경, 프로세스/스레드, CPU 스케줄링을 다룹니다. Day 2는 데이터가 어디에 저장되고 어떻게 장치로 이동하는지를 다룹니다. 메모리, 파일시스템, I/O, 시스템 콜입니다. Day 3는 실제 운영에 가까운 내용입니다. 부팅/서비스, 네트워크, 온디바이스 AI 자원, 그리고 최종 장애분석까지 연결합니다.
각 챕터는 2시간이지만 슬라이드만 2시간 보는 구조가 아닙니다. 개념 설명 약 45~55분, 시뮬레이터 약 25~30분, 워크시트와 실습 약 30~40분으로 운영합니다.
[다음 슬라이드 연결]
Day 1부터 시작하겠습니다.</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4분
[강사 스크립트]
실제 강사시트 일정 기준으로 운영체제 활용은 2026년 8월 28일, 8월 31일, 9월 1일의 3일 과정이며 하루 8시간씩 총 24시간입니다. 주강사와 보조강사 역할을 분리해 운영할 경우, 주강사는 개념 설명과 전체 시연을 맡고 보조강사는 브라우저 실습 환경, 워크시트 진행, 개별 오류 대응을 담당하면 효율적입니다.
각 날은 4개 챕터로 나누었지만, 2시간마다 정확히 끊기보다 수강생 수준과 실습 속도에 따라 앞 챕터의 워크시트 시간을 10~15분 조정할 수 있습니다. 단, Day 3의 Chapter 12 장애분석은 최소 90분 이상의 실습 시간을 확보하는 것을 권장합니다.
[강사 주의 포인트]
• 교육장 네트워크나 PC 환경 때문에 HTML 실행이 지연될 수 있으므로 Day 1 시작 전 파일 배포를 완료합니다.
[다음 슬라이드 연결]
다음 슬라이드에서 교재와 디지털 도구를 한 번에 정리합니다.</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5분
[강사 스크립트]
수업 자료는 네 가지 축으로 구성됩니다. 첫째, 참고 교재는 개념과 임베디드 맥락을 연결하는 보조 자료입니다. 둘째, HTML 시뮬레이터는 정적인 PPT로 이해하기 어려운 상태 변화를 직접 조작하는 도구입니다. 셋째, 디지털 워크시트는 예측과 오답을 학습 기록으로 남기는 평가 도구입니다. 넷째, Linux Shell은 이 과목에서 목표가 아니라 OS 상태를 관찰하는 수단입니다.
강사는 PPT를 모든 내용을 보여주는 교재로 사용하지 말고, 설명의 구조와 핵심 질문을 제공하는 화면으로 사용하세요. 세부 실험은 HTML로 이동하고, 결과 기록은 워크시트로 이동하는 것이 수업 집중도를 높입니다.
[시연/운영 포인트]
• 수업 시작 전에 세 파일이 모두 열리는지 확인합니다.
• 워크시트 localStorage 저장이 정상 동작하는지 한 번 테스트합니다.
[다음 슬라이드 연결]
이제 Day 1의 기본 구조와 실행으로 들어갑니다.</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5분</a:t>
            </a:r>
          </a:p>
          <a:p>
            <a:endParaRPr/>
          </a:p>
          <a:p>
            <a:r>
              <a:t>[강사 스크립트]</a:t>
            </a:r>
          </a:p>
          <a:p>
            <a:r>
              <a:t>이번 강화판부터 PPT 안에 실습 수행 구간을 매우 명확하게 표시합니다. 노란색 “▶ ANIMATION 수행” 표식은 브라우저 시뮬레이터로 전환하라는 의미이고, 녹색 “✍ WORKSHEET 수행” 표식은 디지털 워크시트를 작성/채점하라는 의미입니다.</a:t>
            </a:r>
          </a:p>
          <a:p>
            <a:endParaRPr/>
          </a:p>
          <a:p>
            <a:r>
              <a:t>수강생에게 두 파일을 첫날 미리 열어두게 하면 수업 전환 시간이 줄어듭니다.</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5분
[강사 스크립트]
Day 1은 가장 기초이면서 이후 모든 실습의 언어를 만드는 날입니다. 오늘은 “프로그램을 실행했다”는 한 문장을 쪼개서 봅니다. 프로그램은 프로세스가 되고, 프로세스는 CPU 시간을 받아 Running 상태가 되며, I/O를 기다리면 Waiting으로 이동합니다. 이 모든 상태를 OS가 관리합니다.
Linux 환경에서는 /proc, /sys, /dev 같은 위치를 통해 그 상태를 실제로 관찰합니다. 마지막에는 CPU 스케줄링까지 연결해 “왜 어떤 프로그램은 느리고, 어떤 프로그램은 먼저 실행되는가?”를 설명할 수 있게 합니다.
[수강생에게 던질 질문]
• 오늘 마지막에 어떤 문제를 스스로 진단할 수 있으면 성공이라고 볼까요?
[다음 슬라이드 연결]
DAY 1 첫 번째 챕터로 들어가겠습니다.</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운영체제 개요입니다. OS 구조 · User/Kernel Space · 자원 중재 · RTOS를 중심으로 진행합니다. 먼저 수강생에게 “User Space와 Kernel Space를 왜 나누는가?”라는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User Space와 Kernel Space를 왜 나누는가?
• Driver는 어느 계층에서 어떤 문제를 해결하는가?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“운영체제의 위치”부터 설명합니다. Application과 Hardware 사이에서 CPU·Memory·File·Device를 추상화하고 중재
그 다음 두 번째 개념인 “보호 경계”로 넘어갑니다. User Space에서 보호된 자원 접근 시 System Call을 통해 Kernel로 진입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User Space와 Kernel Space를 왜 나누는가?
• Driver는 어느 계층에서 어떤 문제를 해결하는가?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“자원 관리자”는 여러 프로세스가 한정된 CPU/RAM/장치를 공유하도록 정책과 순서를 결정입니다. 네 번째 개념 “범용 OS vs RTOS”는 평균 처리량·편의성 중심과 예측 가능한 응답시간 중심의 차이입니다.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운영체제의 위치: Application과 Hardware 사이에서 CPU·Memory·File·Device를 추상화하고 중재합니다.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보호 경계: User Space는 제한된 권한으로 실행되고 보호 자원 접근은 System Call을 통해 Kernel로 넘어갑니다.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자원 관리자: 여러 프로세스가 CPU/RAM/장치를 공유하도록 순서와 정책을 결정합니다.</a:t>
            </a:r>
          </a:p>
          <a:p>
            <a:r>
              <a:t>• 범용 OS vs RTOS: 평균 처리량과 편의성 중심의 범용 OS와 예측 가능한 Deadline 중심의 RTOS를 구분합니다.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운영체제 개요의 핵심 개념을 실제 동작 순서로 연결하는 워크플로우 설명입니다. 정의를 다시 읽는 대신, 시스템에서 어떤 사건이 먼저 발생하고 다음 상태가 무엇인지 순서대로 추적합니다.</a:t>
            </a:r>
          </a:p>
          <a:p>
            <a:endParaRPr/>
          </a:p>
          <a:p>
            <a:r>
              <a:t>1단계 사용자 요청: 사용자가 파일·카메라·AI 작업을 요청</a:t>
            </a:r>
          </a:p>
          <a:p>
            <a:r>
              <a:t>2단계 Application: User Space에서 요청 구성</a:t>
            </a:r>
          </a:p>
          <a:p>
            <a:r>
              <a:t>3단계 System Call: 보호 자원 접근을 Kernel에 위임</a:t>
            </a:r>
          </a:p>
          <a:p>
            <a:r>
              <a:t>4단계 Kernel 정책: CPU·RAM·Device 정책 적용</a:t>
            </a:r>
          </a:p>
          <a:p>
            <a:r>
              <a:t>5단계 Driver / Hardware: 장치별 Driver가 실제 HW 제어</a:t>
            </a:r>
          </a:p>
          <a:p>
            <a:r>
              <a:t>6단계 결과 반환: 결과가 다시 User Space로 복귀</a:t>
            </a:r>
          </a:p>
          <a:p>
            <a:endParaRPr/>
          </a:p>
          <a:p>
            <a:r>
              <a:t>[관찰 포인트]</a:t>
            </a:r>
          </a:p>
          <a:p>
            <a:r>
              <a:t>• User↔Kernel 경계를 지나는 순간</a:t>
            </a:r>
          </a:p>
          <a:p>
            <a:r>
              <a:t>• 요청 종류에 따라 CPU/RAM/I/O 비중이 달라짐</a:t>
            </a:r>
          </a:p>
          <a:p>
            <a:r>
              <a:t>• 범용 OS와 RTOS는 응답시간 정책이 다름</a:t>
            </a:r>
          </a:p>
          <a:p>
            <a:endParaRPr/>
          </a:p>
          <a:p>
            <a:r>
              <a:t>[수강생 질문]</a:t>
            </a:r>
          </a:p>
          <a:p>
            <a:r>
              <a:t>• 어디서 User Mode가 Kernel Mode로 바뀌는가?</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운영체제 개요 워크플로우의 전반부 세 단계를 별도 페이지로 분리했습니다. 한 번에 6단계를 보여주지 않고, 현재 세 단계에서 발생하는 상태 변화만 설명합니다.</a:t>
            </a:r>
          </a:p>
          <a:p>
            <a:endParaRPr/>
          </a:p>
          <a:p>
            <a:r>
              <a:t>1단계 User App 요청: 이 단계의 입력, 상태 변화, 다음 단계 조건을 질문합니다.</a:t>
            </a:r>
          </a:p>
          <a:p>
            <a:r>
              <a:t>2단계 System Call 진입: 이 단계의 입력, 상태 변화, 다음 단계 조건을 질문합니다.</a:t>
            </a:r>
          </a:p>
          <a:p>
            <a:r>
              <a:t>3단계 Kernel 정책 적용: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운영체제 개요 워크플로우의 후반부 세 단계를 별도 페이지로 분리했습니다. 한 번에 6단계를 보여주지 않고, 현재 세 단계에서 발생하는 상태 변화만 설명합니다.</a:t>
            </a:r>
          </a:p>
          <a:p>
            <a:endParaRPr/>
          </a:p>
          <a:p>
            <a:r>
              <a:t>4단계 Driver 호출: 이 단계의 입력, 상태 변화, 다음 단계 조건을 질문합니다.</a:t>
            </a:r>
          </a:p>
          <a:p>
            <a:r>
              <a:t>5단계 Hardware 실행: 이 단계의 입력, 상태 변화, 다음 단계 조건을 질문합니다.</a:t>
            </a:r>
          </a:p>
          <a:p>
            <a:r>
              <a:t>6단계 결과 반환: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AI 앱이 카메라와 CPU를 동시에 많이 사용한다면?”입니다. 먼저 수강생이 원인을 추측하도록 하고, 강사는 가설을 바로 정답 처리하지 않습니다.
분석 순서는 다음과 같습니다.
1단계. 앱은 카메라 레지스터를 직접 만지지 않고 Driver를 통해 접근한다.
2단계. CPU를 독점하면 Scheduler가 다른 프로세스의 실행 기회를 조정한다.
3단계. 메모리·파일·네트워크 접근도 각각 Kernel 서비스를 통해 보호된다.
4단계. 결국 OS는 “실행 환경”이 아니라 “자원 충돌을 관리하는 정책 계층”이다.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운영체제 개요의 HTML 애니메이션을 어떻게 읽고 운영할지 설명하는 가이드입니다. 애니메이션을 단순한 시각 효과로 사용하지 말고, “조작 → 화면 변화 → 지표 → 판단” 네 단계로 읽게 하세요.</a:t>
            </a:r>
          </a:p>
          <a:p>
            <a:endParaRPr/>
          </a:p>
          <a:p>
            <a:r>
              <a:t>[시나리오 1: 정상 흐름]</a:t>
            </a:r>
          </a:p>
          <a:p>
            <a:r>
              <a:t>조작: 파일 읽기 실행</a:t>
            </a:r>
          </a:p>
          <a:p>
            <a:r>
              <a:t>움직임: 요청 토큰이 App→Kernel→Driver→Storage로 이동</a:t>
            </a:r>
          </a:p>
          <a:p>
            <a:r>
              <a:t>관찰: Device I/O 상승, CPU는 중간 수준</a:t>
            </a:r>
          </a:p>
          <a:p>
            <a:r>
              <a:t>질문: 어디서 User Mode가 Kernel Mode로 바뀌는가?</a:t>
            </a:r>
          </a:p>
          <a:p>
            <a:endParaRPr/>
          </a:p>
          <a:p>
            <a:r>
              <a:t>[시나리오 2: 자원 경쟁]</a:t>
            </a:r>
          </a:p>
          <a:p>
            <a:r>
              <a:t>조작: AI 추론 실행</a:t>
            </a:r>
          </a:p>
          <a:p>
            <a:r>
              <a:t>움직임: CPU/RAM 게이지가 동시에 증가하고 OS가 자원 중재</a:t>
            </a:r>
          </a:p>
          <a:p>
            <a:r>
              <a:t>관찰: CPU·RAM 사용률, 응답 지연</a:t>
            </a:r>
          </a:p>
          <a:p>
            <a:r>
              <a:t>질문: OS가 없다면 두 앱의 충돌을 누가 조정할까?</a:t>
            </a:r>
          </a:p>
          <a:p>
            <a:endParaRPr/>
          </a:p>
          <a:p>
            <a:r>
              <a:t>[시나리오 3: 실시간성 비교]</a:t>
            </a:r>
          </a:p>
          <a:p>
            <a:r>
              <a:t>조작: RTOS 지터 조절</a:t>
            </a:r>
          </a:p>
          <a:p>
            <a:r>
              <a:t>움직임: 범용 OS 응답 막대는 흔들리고 RTOS는 일정하게 유지</a:t>
            </a:r>
          </a:p>
          <a:p>
            <a:r>
              <a:t>관찰: 지터, Deadline miss</a:t>
            </a:r>
          </a:p>
          <a:p>
            <a:r>
              <a:t>질문: 평균 속도와 예측 가능한 응답 중 무엇이 더 중요한가?</a:t>
            </a:r>
          </a:p>
          <a:p>
            <a:endParaRPr/>
          </a:p>
          <a:p>
            <a:r>
              <a:t>[강사 운영 포인트]</a:t>
            </a:r>
          </a:p>
          <a:p>
            <a:r>
              <a:t>파일 읽기→카메라 프레임→AI 추론→RTOS 지터 비교 순으로 진행하며, 각 단계 전에 자원 게이지가 어떻게 변할지 먼저 예측시킨다.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01입니다.</a:t>
            </a:r>
          </a:p>
          <a:p>
            <a:endParaRPr/>
          </a:p>
          <a:p>
            <a:r>
              <a:t>수행 순서는 예측 → Step → Auto Play → 지표/로그 해석 → 설명입니다. 수강생에게 각 Step 전에 다음 상태를 먼저 말하게 하세요.</a:t>
            </a:r>
          </a:p>
          <a:p>
            <a:endParaRPr/>
          </a:p>
          <a:p>
            <a:r>
              <a:t>[오늘의 실습 항목]</a:t>
            </a:r>
          </a:p>
          <a:p>
            <a:r>
              <a:t>• 파일 읽기와 AI 추론의 자원 게이지 비교</a:t>
            </a:r>
          </a:p>
          <a:p>
            <a:r>
              <a:t>• RTOS Deadline 시나리오에서 지터 관찰</a:t>
            </a:r>
          </a:p>
          <a:p>
            <a:r>
              <a:t>• User↔Kernel 경계를 한 문장으로 설명</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시뮬레이터에서 “파일 읽기”를 선택하고 요청 흐름을 관찰</a:t>
            </a:r>
          </a:p>
          <a:p>
            <a:r>
              <a:t>2. “카메라 프레임”으로 바꾸고 Device I/O 사용량 변화를 비교</a:t>
            </a:r>
          </a:p>
          <a:p>
            <a:r>
              <a:t>3. “AI 추론”을 선택해 CPU/RAM 부하가 함께 증가하는지 확인</a:t>
            </a:r>
          </a:p>
          <a:p>
            <a:r>
              <a:t>4. RTOS 비교 화면에서 지터를 올려 Deadline 안정성 차이를 토론</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시뮬레이터에서 “파일 읽기”를 선택하고 요청 흐름을 관찰</a:t>
            </a:r>
          </a:p>
          <a:p>
            <a:r>
              <a:t>• “카메라 프레임”으로 바꾸고 Device I/O 사용량 변화를 비교</a:t>
            </a:r>
          </a:p>
          <a:p>
            <a:r>
              <a:t>• “AI 추론”을 선택해 CPU/RAM 부하가 함께 증가하는지 확인</a:t>
            </a:r>
          </a:p>
          <a:p>
            <a:r>
              <a:t>• RTOS 비교 화면에서 지터를 올려 Deadline 안정성 차이를 토론</a:t>
            </a:r>
          </a:p>
          <a:p>
            <a:endParaRPr/>
          </a:p>
          <a:p>
            <a:r>
              <a:t>[다음 슬라이드 연결]</a:t>
            </a:r>
          </a:p>
          <a:p>
            <a:r>
              <a:t>시뮬레이션으로 검산했으니 이제 워크시트에서 자신의 판단을 기록합니다.</a:t>
            </a:r>
          </a:p>
          <a:p>
            <a:endParaRPr/>
          </a:p>
          <a:p>
            <a:r>
              <a:t>[애니메이션 읽는 법 추가]</a:t>
            </a:r>
          </a:p>
          <a:p>
            <a:r>
              <a:t>파일 읽기→카메라 프레임→AI 추론→RTOS 지터 비교 순으로 진행하며, 각 단계 전에 자원 게이지가 어떻게 변할지 먼저 예측시킨다.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01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파일 읽기와 AI 추론의 자원 게이지 비교</a:t>
            </a:r>
          </a:p>
          <a:p>
            <a:r>
              <a:t>• RTOS Deadline 시나리오에서 지터 관찰</a:t>
            </a:r>
          </a:p>
          <a:p>
            <a:r>
              <a:t>• User↔Kernel 경계를 한 문장으로 설명</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워크시트 C01의 예측 문제를 먼저 작성</a:t>
            </a:r>
          </a:p>
          <a:p>
            <a:r>
              <a:t>2. 채점 후 오답을 수정하지 말고 시뮬레이터로 원인을 확인</a:t>
            </a:r>
          </a:p>
          <a:p>
            <a:r>
              <a:t>3. 마지막 서술: “OS는 자원 관리자다”를 한 문장으로 작성</a:t>
            </a:r>
          </a:p>
          <a:p>
            <a:endParaRPr/>
          </a:p>
          <a:p>
            <a:r>
              <a:t>마지막 서술형은 정답 문장을 복사하지 말고 자신의 언어로 설명하게 하세요.</a:t>
            </a:r>
          </a:p>
          <a:p>
            <a:endParaRPr/>
          </a:p>
          <a:p>
            <a:r>
              <a:t>[수강생에게 던질 질문]</a:t>
            </a:r>
          </a:p>
          <a:p>
            <a:r>
              <a:t>• User Space와 Kernel Space를 왜 나누는가?</a:t>
            </a:r>
          </a:p>
          <a:p>
            <a:r>
              <a:t>• Driver는 어느 계층에서 어떤 문제를 해결하는가?</a:t>
            </a:r>
          </a:p>
          <a:p>
            <a:r>
              <a:t>• 온디바이스 AI에서 OS가 없다면 어떤 문제가 생길까?</a:t>
            </a:r>
          </a:p>
          <a:p>
            <a:endParaRPr/>
          </a:p>
          <a:p>
            <a:r>
              <a:t>[다음 슬라이드 연결]</a:t>
            </a:r>
          </a:p>
          <a:p>
            <a:r>
              <a:t>다음 챕터로 넘어가며 방금 배운 개념이 어떻게 연결되는지 확인합니다.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Linux 운영환경 이해입니다. 디렉터리 · 권한 · PATH · /proc · /sys · /dev를 중심으로 진행합니다. 먼저 수강생에게 “755에서 7,5,5는 각각 무엇을 의미하는가?”라는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755에서 7,5,5는 각각 무엇을 의미하는가?
• /proc와 /sys는 왜 “가상” 파일시스템인가?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“디렉터리 의미”부터 설명합니다. /home 사용자 데이터, /etc 설정, /proc 프로세스/커널 정보, /sys 장치/커널 객체, /dev 장치 노드
그 다음 두 번째 개념인 “권한 모델”로 넘어갑니다. Owner/Group/Others에 대해 read/write/execute를 독립적으로 부여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755에서 7,5,5는 각각 무엇을 의미하는가?
• /proc와 /sys는 왜 “가상” 파일시스템인가?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“PATH”는 명령 이름만 입력했을 때 실행 파일을 찾는 검색 경로 목록입니다. 네 번째 개념 “가상 파일시스템”는 /proc와 /sys는 디스크 파일이 아니라 Kernel 상태를 파일 형태로 노출입니다.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디렉터리 구조: /home·/etc·/proc·/sys·/dev의 역할을 위치가 아니라 정보 종류로 구분합니다.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권한 rwx: Owner/Group/Others의 read·write·execute를 숫자 권한과 연결합니다.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PATH 검색: 명령 이름을 입력하면 PATH 목록을 순차 검색해 실행 파일을 찾습니다.</a:t>
            </a:r>
          </a:p>
          <a:p>
            <a:r>
              <a:t>• /proc·/sys·/dev: 프로세스·커널·장치 상태가 파일/노드 형태로 노출됩니다.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Linux 운영환경 이해의 핵심 개념을 실제 동작 순서로 연결하는 워크플로우 설명입니다. 정의를 다시 읽는 대신, 시스템에서 어떤 사건이 먼저 발생하고 다음 상태가 무엇인지 순서대로 추적합니다.</a:t>
            </a:r>
          </a:p>
          <a:p>
            <a:endParaRPr/>
          </a:p>
          <a:p>
            <a:r>
              <a:t>1단계 명령 입력: Shell에 명령 또는 실행 파일 요청</a:t>
            </a:r>
          </a:p>
          <a:p>
            <a:r>
              <a:t>2단계 PATH 검색: PATH 디렉터리를 순서대로 탐색</a:t>
            </a:r>
          </a:p>
          <a:p>
            <a:r>
              <a:t>3단계 권한 검사: r/w/x 권한으로 실행 가능 여부 판단</a:t>
            </a:r>
          </a:p>
          <a:p>
            <a:r>
              <a:t>4단계 프로세스 실행: 실행되면 PID를 가진 Process 생성</a:t>
            </a:r>
          </a:p>
          <a:p>
            <a:r>
              <a:t>5단계 /proc 생성: /proc/PID에서 상태가 보임</a:t>
            </a:r>
          </a:p>
          <a:p>
            <a:r>
              <a:t>6단계 /sys · /dev 확인: 장치가 연결되면 /sys 정보와 /dev 노드 확인</a:t>
            </a:r>
          </a:p>
          <a:p>
            <a:endParaRPr/>
          </a:p>
          <a:p>
            <a:r>
              <a:t>[관찰 포인트]</a:t>
            </a:r>
          </a:p>
          <a:p>
            <a:r>
              <a:t>• 경로·권한·프로세스·장치가 서로 다른 문제임</a:t>
            </a:r>
          </a:p>
          <a:p>
            <a:r>
              <a:t>• /proc와 /sys는 Kernel 상태를 파일처럼 보여줌</a:t>
            </a:r>
          </a:p>
          <a:p>
            <a:r>
              <a:t>• /dev 노드의 존재는 장치 접근 가능성의 중요한 단서</a:t>
            </a:r>
          </a:p>
          <a:p>
            <a:endParaRPr/>
          </a:p>
          <a:p>
            <a:r>
              <a:t>[수강생 질문]</a:t>
            </a:r>
          </a:p>
          <a:p>
            <a:r>
              <a:t>• 명령 이름만 쳤는데 실행되는 이유는?</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Linux 운영환경 워크플로우의 전반부 세 단계를 별도 페이지로 분리했습니다. 한 번에 6단계를 보여주지 않고, 현재 세 단계에서 발생하는 상태 변화만 설명합니다.</a:t>
            </a:r>
          </a:p>
          <a:p>
            <a:endParaRPr/>
          </a:p>
          <a:p>
            <a:r>
              <a:t>1단계 명령 입력: 이 단계의 입력, 상태 변화, 다음 단계 조건을 질문합니다.</a:t>
            </a:r>
          </a:p>
          <a:p>
            <a:r>
              <a:t>2단계 PATH 검색: 이 단계의 입력, 상태 변화, 다음 단계 조건을 질문합니다.</a:t>
            </a:r>
          </a:p>
          <a:p>
            <a:r>
              <a:t>3단계 권한 확인: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Linux 운영환경 워크플로우의 후반부 세 단계를 별도 페이지로 분리했습니다. 한 번에 6단계를 보여주지 않고, 현재 세 단계에서 발생하는 상태 변화만 설명합니다.</a:t>
            </a:r>
          </a:p>
          <a:p>
            <a:endParaRPr/>
          </a:p>
          <a:p>
            <a:r>
              <a:t>4단계 프로세스 생성: 이 단계의 입력, 상태 변화, 다음 단계 조건을 질문합니다.</a:t>
            </a:r>
          </a:p>
          <a:p>
            <a:r>
              <a:t>5단계 /proc 생성: 이 단계의 입력, 상태 변화, 다음 단계 조건을 질문합니다.</a:t>
            </a:r>
          </a:p>
          <a:p>
            <a:r>
              <a:t>6단계 /sys·/dev 장치 확인: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camera_app은 있는데 실행도, 카메라 접근도 안 된다”입니다. 먼저 수강생이 원인을 추측하도록 하고, 강사는 가설을 바로 정답 처리하지 않습니다.
분석 순서는 다음과 같습니다.
1단계. 먼저 현재 위치와 파일 존재 여부를 확인한다.
2단계. 실행 권한(x)이 없으면 Permission denied가 발생한다.
3단계. 프로세스가 실행되면 /proc/PID가 생기고 fd에서 장치 연결을 볼 수 있다.
4단계. 카메라가 연결되면 /sys와 /dev에 관련 노드가 나타나는지 확인한다.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Linux 운영환경 이해의 HTML 애니메이션을 어떻게 읽고 운영할지 설명하는 가이드입니다. 애니메이션을 단순한 시각 효과로 사용하지 말고, “조작 → 화면 변화 → 지표 → 판단” 네 단계로 읽게 하세요.</a:t>
            </a:r>
          </a:p>
          <a:p>
            <a:endParaRPr/>
          </a:p>
          <a:p>
            <a:r>
              <a:t>[시나리오 1: 경로 탐색]</a:t>
            </a:r>
          </a:p>
          <a:p>
            <a:r>
              <a:t>조작: PATH 검색 실행</a:t>
            </a:r>
          </a:p>
          <a:p>
            <a:r>
              <a:t>움직임: 후보 디렉터리가 차례로 강조되고 실행 파일에서 멈춤</a:t>
            </a:r>
          </a:p>
          <a:p>
            <a:r>
              <a:t>관찰: 검색 순서, 발견 위치</a:t>
            </a:r>
          </a:p>
          <a:p>
            <a:r>
              <a:t>질문: 명령 이름만 쳤는데 실행되는 이유는?</a:t>
            </a:r>
          </a:p>
          <a:p>
            <a:endParaRPr/>
          </a:p>
          <a:p>
            <a:r>
              <a:t>[시나리오 2: 권한 오류]</a:t>
            </a:r>
          </a:p>
          <a:p>
            <a:r>
              <a:t>조작: x 권한 OFF 후 접근</a:t>
            </a:r>
          </a:p>
          <a:p>
            <a:r>
              <a:t>움직임: 파일까지 도달하지만 실행 단계에서 차단</a:t>
            </a:r>
          </a:p>
          <a:p>
            <a:r>
              <a:t>관찰: 권한 숫자, Permission denied</a:t>
            </a:r>
          </a:p>
          <a:p>
            <a:r>
              <a:t>질문: chmod 777이 왜 좋은 기본 해결책이 아닌가?</a:t>
            </a:r>
          </a:p>
          <a:p>
            <a:endParaRPr/>
          </a:p>
          <a:p>
            <a:r>
              <a:t>[시나리오 3: 장치 이벤트]</a:t>
            </a:r>
          </a:p>
          <a:p>
            <a:r>
              <a:t>조작: Camera 연결/해제</a:t>
            </a:r>
          </a:p>
          <a:p>
            <a:r>
              <a:t>움직임: /sys와 /dev 노드가 생성·제거됨</a:t>
            </a:r>
          </a:p>
          <a:p>
            <a:r>
              <a:t>관찰: /sys/class, /dev/video0</a:t>
            </a:r>
          </a:p>
          <a:p>
            <a:r>
              <a:t>질문: 프로세스가 살아 있는데 카메라가 안 될 때 무엇을 먼저 볼까?</a:t>
            </a:r>
          </a:p>
          <a:p>
            <a:endParaRPr/>
          </a:p>
          <a:p>
            <a:r>
              <a:t>[강사 운영 포인트]</a:t>
            </a:r>
          </a:p>
          <a:p>
            <a:r>
              <a:t>경로→권한→프로세스→장치 순으로 진단하게 하며, 단일 “Linux 문제”가 아니라 서로 다른 층의 문제임을 강조한다.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02입니다.</a:t>
            </a:r>
          </a:p>
          <a:p>
            <a:endParaRPr/>
          </a:p>
          <a:p>
            <a:r>
              <a:t>수행 순서는 예측 → Step → Auto Play → 지표/로그 해석 → 설명입니다. 수강생에게 각 Step 전에 다음 상태를 먼저 말하게 하세요.</a:t>
            </a:r>
          </a:p>
          <a:p>
            <a:endParaRPr/>
          </a:p>
          <a:p>
            <a:r>
              <a:t>[오늘의 실습 항목]</a:t>
            </a:r>
          </a:p>
          <a:p>
            <a:r>
              <a:t>• PATH 미등록과 실행권한 없음 시나리오 비교</a:t>
            </a:r>
          </a:p>
          <a:p>
            <a:r>
              <a:t>• Camera Hot Plug로 /sys·/dev 변화 관찰</a:t>
            </a:r>
          </a:p>
          <a:p>
            <a:r>
              <a:t>• 755 권한을 말로 해석</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디렉터리 탐색 화면에서 / → /home → /proc → /sys → /dev 이동</a:t>
            </a:r>
          </a:p>
          <a:p>
            <a:r>
              <a:t>2. r/w/x 조합을 바꾸고 접근 성공/실패 비교</a:t>
            </a:r>
          </a:p>
          <a:p>
            <a:r>
              <a:t>3. Process 생성 버튼으로 /proc/PID 생성 확인</a:t>
            </a:r>
          </a:p>
          <a:p>
            <a:r>
              <a:t>4. Camera 연결/해제로 /sys와 /dev 노드 변화 확인</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디렉터리 탐색 화면에서 / → /home → /proc → /sys → /dev 이동</a:t>
            </a:r>
          </a:p>
          <a:p>
            <a:r>
              <a:t>• r/w/x 조합을 바꾸고 접근 성공/실패 비교</a:t>
            </a:r>
          </a:p>
          <a:p>
            <a:r>
              <a:t>• Process 생성 버튼으로 /proc/PID 생성 확인</a:t>
            </a:r>
          </a:p>
          <a:p>
            <a:r>
              <a:t>• Camera 연결/해제로 /sys와 /dev 노드 변화 확인</a:t>
            </a:r>
          </a:p>
          <a:p>
            <a:endParaRPr/>
          </a:p>
          <a:p>
            <a:r>
              <a:t>[다음 슬라이드 연결]</a:t>
            </a:r>
          </a:p>
          <a:p>
            <a:r>
              <a:t>시뮬레이션으로 검산했으니 이제 워크시트에서 자신의 판단을 기록합니다.</a:t>
            </a:r>
          </a:p>
          <a:p>
            <a:endParaRPr/>
          </a:p>
          <a:p>
            <a:r>
              <a:t>[애니메이션 읽는 법 추가]</a:t>
            </a:r>
          </a:p>
          <a:p>
            <a:r>
              <a:t>경로→권한→프로세스→장치 순으로 진단하게 하며, 단일 “Linux 문제”가 아니라 서로 다른 층의 문제임을 강조한다.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02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PATH 미등록과 실행권한 없음 시나리오 비교</a:t>
            </a:r>
          </a:p>
          <a:p>
            <a:r>
              <a:t>• Camera Hot Plug로 /sys·/dev 변화 관찰</a:t>
            </a:r>
          </a:p>
          <a:p>
            <a:r>
              <a:t>• 755 권한을 말로 해석</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755·644·700 권한을 말로 해석</a:t>
            </a:r>
          </a:p>
          <a:p>
            <a:r>
              <a:t>2. PATH가 명령을 찾는 순서를 그림으로 설명</a:t>
            </a:r>
          </a:p>
          <a:p>
            <a:r>
              <a:t>3. /proc·/sys·/dev 중 어떤 정보를 어디서 볼지 사례별 선택</a:t>
            </a:r>
          </a:p>
          <a:p>
            <a:endParaRPr/>
          </a:p>
          <a:p>
            <a:r>
              <a:t>마지막 서술형은 정답 문장을 복사하지 말고 자신의 언어로 설명하게 하세요.</a:t>
            </a:r>
          </a:p>
          <a:p>
            <a:endParaRPr/>
          </a:p>
          <a:p>
            <a:r>
              <a:t>[수강생에게 던질 질문]</a:t>
            </a:r>
          </a:p>
          <a:p>
            <a:r>
              <a:t>• 755에서 7,5,5는 각각 무엇을 의미하는가?</a:t>
            </a:r>
          </a:p>
          <a:p>
            <a:r>
              <a:t>• /proc와 /sys는 왜 “가상” 파일시스템인가?</a:t>
            </a:r>
          </a:p>
          <a:p>
            <a:r>
              <a:t>• /dev/video0가 없다는 것은 어떤 단서를 주는가?</a:t>
            </a:r>
          </a:p>
          <a:p>
            <a:endParaRPr/>
          </a:p>
          <a:p>
            <a:r>
              <a:t>[다음 슬라이드 연결]</a:t>
            </a:r>
          </a:p>
          <a:p>
            <a:r>
              <a:t>다음 챕터로 넘어가며 방금 배운 개념이 어떻게 연결되는지 확인합니다.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프로세스와 스레드입니다. 상태 전이 · fork/exec · Thread 공유 · Race/Mutex를 중심으로 진행합니다. 먼저 수강생에게 “Waiting과 Ready의 차이는 무엇인가?”라는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Waiting과 Ready의 차이는 무엇인가?
• fork 후 부모와 자식은 무엇이 같은가/다른가?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“프로세스”부터 설명합니다. 실행 중인 프로그램의 인스턴스이며 PID와 독립 주소 공간을 가짐
그 다음 두 번째 개념인 “상태 전이”로 넘어갑니다. Ready는 CPU 대기, Running은 실행, Waiting은 I/O·이벤트 대기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Waiting과 Ready의 차이는 무엇인가?
• fork 후 부모와 자식은 무엇이 같은가/다른가?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“fork / exec”는 fork는 새 프로세스 생성, exec는 같은 PID에서 실행 이미지를 교체입니다. 네 번째 개념 “Thread”는 Code/Data/Heap은 공유하고 각 Thread가 Stack을 별도로 가짐입니다.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프로세스 상태: New·Ready·Running·Waiting·Terminated가 사건에 따라 이동합니다.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fork / exec: fork는 프로세스를 만들고 exec는 현재 실행 이미지를 교체합니다.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Thread 공유: Code/Data/Heap은 공유하고 Thread별 Stack은 분리됩니다.</a:t>
            </a:r>
          </a:p>
          <a:p>
            <a:r>
              <a:t>• Race / Mutex: 공유 데이터의 비원자적 연산은 Race를 만들며 Mutex로 임계영역을 보호합니다.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프로세스와 스레드의 핵심 개념을 실제 동작 순서로 연결하는 워크플로우 설명입니다. 정의를 다시 읽는 대신, 시스템에서 어떤 사건이 먼저 발생하고 다음 상태가 무엇인지 순서대로 추적합니다.</a:t>
            </a:r>
          </a:p>
          <a:p>
            <a:endParaRPr/>
          </a:p>
          <a:p>
            <a:r>
              <a:t>1단계 New: 프로그램 실행으로 Process 생성</a:t>
            </a:r>
          </a:p>
          <a:p>
            <a:r>
              <a:t>2단계 Ready: CPU를 기다리는 Ready Queue 진입</a:t>
            </a:r>
          </a:p>
          <a:p>
            <a:r>
              <a:t>3단계 Running: Scheduler가 선택하면 Running</a:t>
            </a:r>
          </a:p>
          <a:p>
            <a:r>
              <a:t>4단계 Waiting: I/O 요청 시 Waiting으로 이동</a:t>
            </a:r>
          </a:p>
          <a:p>
            <a:r>
              <a:t>5단계 Ready 복귀: 이벤트 완료 후 다시 Ready</a:t>
            </a:r>
          </a:p>
          <a:p>
            <a:r>
              <a:t>6단계 Terminate / fork / exec: 종료하거나 fork/exec로 실행 구조 변화</a:t>
            </a:r>
          </a:p>
          <a:p>
            <a:endParaRPr/>
          </a:p>
          <a:p>
            <a:r>
              <a:t>[관찰 포인트]</a:t>
            </a:r>
          </a:p>
          <a:p>
            <a:r>
              <a:t>• Ready와 Waiting은 “기다린다”는 점은 같지만 이유가 다름</a:t>
            </a:r>
          </a:p>
          <a:p>
            <a:r>
              <a:t>• fork는 Process를 만들고 exec는 실행 이미지를 교체</a:t>
            </a:r>
          </a:p>
          <a:p>
            <a:r>
              <a:t>• Thread는 공유 자원과 개별 Stack을 동시에 가짐</a:t>
            </a:r>
          </a:p>
          <a:p>
            <a:endParaRPr/>
          </a:p>
          <a:p>
            <a:r>
              <a:t>[수강생 질문]</a:t>
            </a:r>
          </a:p>
          <a:p>
            <a:r>
              <a:t>• Waiting과 Ready를 구분하는 핵심 조건은?</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프로세스와 스레드 워크플로우의 전반부 세 단계를 별도 페이지로 분리했습니다. 한 번에 6단계를 보여주지 않고, 현재 세 단계에서 발생하는 상태 변화만 설명합니다.</a:t>
            </a:r>
          </a:p>
          <a:p>
            <a:endParaRPr/>
          </a:p>
          <a:p>
            <a:r>
              <a:t>1단계 New 생성: 이 단계의 입력, 상태 변화, 다음 단계 조건을 질문합니다.</a:t>
            </a:r>
          </a:p>
          <a:p>
            <a:r>
              <a:t>2단계 Ready Queue: 이 단계의 입력, 상태 변화, 다음 단계 조건을 질문합니다.</a:t>
            </a:r>
          </a:p>
          <a:p>
            <a:r>
              <a:t>3단계 CPU Running: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프로세스와 스레드 워크플로우의 후반부 세 단계를 별도 페이지로 분리했습니다. 한 번에 6단계를 보여주지 않고, 현재 세 단계에서 발생하는 상태 변화만 설명합니다.</a:t>
            </a:r>
          </a:p>
          <a:p>
            <a:endParaRPr/>
          </a:p>
          <a:p>
            <a:r>
              <a:t>4단계 I/O Waiting: 이 단계의 입력, 상태 변화, 다음 단계 조건을 질문합니다.</a:t>
            </a:r>
          </a:p>
          <a:p>
            <a:r>
              <a:t>5단계 Ready 복귀: 이 단계의 입력, 상태 변화, 다음 단계 조건을 질문합니다.</a:t>
            </a:r>
          </a:p>
          <a:p>
            <a:r>
              <a:t>6단계 종료/회수: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두 스레드가 counter++ 했는데 결과가 기대값보다 작다”입니다. 먼저 수강생이 원인을 추측하도록 하고, 강사는 가설을 바로 정답 처리하지 않습니다.
분석 순서는 다음과 같습니다.
1단계. counter++는 읽기-증가-쓰기의 여러 단계로 나뉜다.
2단계. 두 Thread가 같은 값을 읽으면 한 번의 증가가 사라질 수 있다.
3단계. Mutex는 임계 구역에 한 Thread만 들어가도록 직렬화한다.
4단계. 동기화는 정확성을 주지만 대기와 오버헤드를 만들 수 있다.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프로세스와 스레드의 HTML 애니메이션을 어떻게 읽고 운영할지 설명하는 가이드입니다. 애니메이션을 단순한 시각 효과로 사용하지 말고, “조작 → 화면 변화 → 지표 → 판단” 네 단계로 읽게 하세요.</a:t>
            </a:r>
          </a:p>
          <a:p>
            <a:endParaRPr/>
          </a:p>
          <a:p>
            <a:r>
              <a:t>[시나리오 1: 상태 전이]</a:t>
            </a:r>
          </a:p>
          <a:p>
            <a:r>
              <a:t>조작: 상태 진행 버튼</a:t>
            </a:r>
          </a:p>
          <a:p>
            <a:r>
              <a:t>움직임: Process 카드가 Ready→Running→Waiting→Ready로 이동</a:t>
            </a:r>
          </a:p>
          <a:p>
            <a:r>
              <a:t>관찰: 현재 상태, Queue 위치</a:t>
            </a:r>
          </a:p>
          <a:p>
            <a:r>
              <a:t>질문: Waiting과 Ready를 구분하는 핵심 조건은?</a:t>
            </a:r>
          </a:p>
          <a:p>
            <a:endParaRPr/>
          </a:p>
          <a:p>
            <a:r>
              <a:t>[시나리오 2: fork / exec]</a:t>
            </a:r>
          </a:p>
          <a:p>
            <a:r>
              <a:t>조작: fork 후 exec 실행</a:t>
            </a:r>
          </a:p>
          <a:p>
            <a:r>
              <a:t>움직임: 자식 Process가 생기고 exec에서 실행 이미지가 교체</a:t>
            </a:r>
          </a:p>
          <a:p>
            <a:r>
              <a:t>관찰: PID 수, 실행 이미지</a:t>
            </a:r>
          </a:p>
          <a:p>
            <a:r>
              <a:t>질문: fork와 exec를 같이 쓰는 이유는?</a:t>
            </a:r>
          </a:p>
          <a:p>
            <a:endParaRPr/>
          </a:p>
          <a:p>
            <a:r>
              <a:t>[시나리오 3: Race / Mutex]</a:t>
            </a:r>
          </a:p>
          <a:p>
            <a:r>
              <a:t>조작: Mutex OFF/ON 비교</a:t>
            </a:r>
          </a:p>
          <a:p>
            <a:r>
              <a:t>움직임: 두 Thread가 동시에 접근하거나 한쪽이 대기</a:t>
            </a:r>
          </a:p>
          <a:p>
            <a:r>
              <a:t>관찰: 기대 counter vs 실제 counter</a:t>
            </a:r>
          </a:p>
          <a:p>
            <a:r>
              <a:t>질문: 정확성을 얻는 대신 Mutex가 만드는 비용은?</a:t>
            </a:r>
          </a:p>
          <a:p>
            <a:endParaRPr/>
          </a:p>
          <a:p>
            <a:r>
              <a:t>[강사 운영 포인트]</a:t>
            </a:r>
          </a:p>
          <a:p>
            <a:r>
              <a:t>상태 전이로 Process 생명주기를 먼저 이해시킨 뒤 fork/exec를 보여주고, 마지막에 Thread Race를 통해 공유 자원의 위험을 연결한다.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03입니다.</a:t>
            </a:r>
          </a:p>
          <a:p>
            <a:endParaRPr/>
          </a:p>
          <a:p>
            <a:r>
              <a:t>수행 순서는 예측 → Step → Auto Play → 지표/로그 해석 → 설명입니다. 수강생에게 각 Step 전에 다음 상태를 먼저 말하게 하세요.</a:t>
            </a:r>
          </a:p>
          <a:p>
            <a:endParaRPr/>
          </a:p>
          <a:p>
            <a:r>
              <a:t>[오늘의 실습 항목]</a:t>
            </a:r>
          </a:p>
          <a:p>
            <a:r>
              <a:t>• I/O 요청 상태 전이 추적</a:t>
            </a:r>
          </a:p>
          <a:p>
            <a:r>
              <a:t>• fork→exec 흐름 실행</a:t>
            </a:r>
          </a:p>
          <a:p>
            <a:r>
              <a:t>• Race와 Mutex 결과 Counter 비교</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상태 진행 버튼으로 Ready→Running→Waiting→Ready 흐름 확인</a:t>
            </a:r>
          </a:p>
          <a:p>
            <a:r>
              <a:t>2. fork()로 자식 생성 후 exec()로 이미지 교체</a:t>
            </a:r>
          </a:p>
          <a:p>
            <a:r>
              <a:t>3. Mutex OFF로 반복 실행하여 실제값과 기대값 비교</a:t>
            </a:r>
          </a:p>
          <a:p>
            <a:r>
              <a:t>4. Mutex ON으로 다시 실행하여 정확성 회복 확인</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상태 진행 버튼으로 Ready→Running→Waiting→Ready 흐름 확인</a:t>
            </a:r>
          </a:p>
          <a:p>
            <a:r>
              <a:t>• fork()로 자식 생성 후 exec()로 이미지 교체</a:t>
            </a:r>
          </a:p>
          <a:p>
            <a:r>
              <a:t>• Mutex OFF로 반복 실행하여 실제값과 기대값 비교</a:t>
            </a:r>
          </a:p>
          <a:p>
            <a:r>
              <a:t>• Mutex ON으로 다시 실행하여 정확성 회복 확인</a:t>
            </a:r>
          </a:p>
          <a:p>
            <a:endParaRPr/>
          </a:p>
          <a:p>
            <a:r>
              <a:t>[다음 슬라이드 연결]</a:t>
            </a:r>
          </a:p>
          <a:p>
            <a:r>
              <a:t>시뮬레이션으로 검산했으니 이제 워크시트에서 자신의 판단을 기록합니다.</a:t>
            </a:r>
          </a:p>
          <a:p>
            <a:endParaRPr/>
          </a:p>
          <a:p>
            <a:r>
              <a:t>[애니메이션 읽는 법 추가]</a:t>
            </a:r>
          </a:p>
          <a:p>
            <a:r>
              <a:t>상태 전이로 Process 생명주기를 먼저 이해시킨 뒤 fork/exec를 보여주고, 마지막에 Thread Race를 통해 공유 자원의 위험을 연결한다.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03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I/O 요청 상태 전이 추적</a:t>
            </a:r>
          </a:p>
          <a:p>
            <a:r>
              <a:t>• fork→exec 흐름 실행</a:t>
            </a:r>
          </a:p>
          <a:p>
            <a:r>
              <a:t>• Race와 Mutex 결과 Counter 비교</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상태 전이를 사건과 연결해 표 완성</a:t>
            </a:r>
          </a:p>
          <a:p>
            <a:r>
              <a:t>2. Process vs Thread를 메모리 관점에서 비교</a:t>
            </a:r>
          </a:p>
          <a:p>
            <a:r>
              <a:t>3. Race Condition 사례를 설명하고 Mutex 적용 위치 표시</a:t>
            </a:r>
          </a:p>
          <a:p>
            <a:endParaRPr/>
          </a:p>
          <a:p>
            <a:r>
              <a:t>마지막 서술형은 정답 문장을 복사하지 말고 자신의 언어로 설명하게 하세요.</a:t>
            </a:r>
          </a:p>
          <a:p>
            <a:endParaRPr/>
          </a:p>
          <a:p>
            <a:r>
              <a:t>[수강생에게 던질 질문]</a:t>
            </a:r>
          </a:p>
          <a:p>
            <a:r>
              <a:t>• Waiting과 Ready의 차이는 무엇인가?</a:t>
            </a:r>
          </a:p>
          <a:p>
            <a:r>
              <a:t>• fork 후 부모와 자식은 무엇이 같은가/다른가?</a:t>
            </a:r>
          </a:p>
          <a:p>
            <a:r>
              <a:t>• Mutex를 아무 곳에나 크게 잡으면 어떤 문제가 생길까?</a:t>
            </a:r>
          </a:p>
          <a:p>
            <a:endParaRPr/>
          </a:p>
          <a:p>
            <a:r>
              <a:t>[다음 슬라이드 연결]</a:t>
            </a:r>
          </a:p>
          <a:p>
            <a:r>
              <a:t>다음 챕터로 넘어가며 방금 배운 개념이 어떻게 연결되는지 확인합니다.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8~10분
[강사 스크립트]
이 챕터는 CPU와 스케줄링입니다. FCFS · SJF · Priority · Round Robin · Context Switch · Multi-Core를 중심으로 진행합니다. 먼저 수강생에게 “SJF가 평균 대기시간에 유리한 이유는?”라는 질문을 던져 현재 생각을 드러내게 하세요.
이 슬라이드에서는 세부 설명보다 방향을 잡는 것이 목적입니다. 학습 목표를 하나씩 읽어주며, 수업이 끝났을 때 어디까지 설명할 수 있어야 하는지 기준을 제시합니다. 오른쪽 인포그래픽은 챕터 전체를 압축한 지도입니다. 지금은 다 해석하지 말고, 뒤에서 여러 단계로 나눠 하나씩 읽어낼 것이라고 안내합니다.
[수강생에게 던질 질문]
• SJF가 평균 대기시간에 유리한 이유는?
• Priority Scheduling의 Starvation은 어떻게 완화할 수 있을까?
[강사 주의 포인트]
• 이 도입 슬라이드에서 그림 세부요소까지 한 번에 설명하지 않습니다.
[다음 슬라이드 연결]
다음 슬라이드에서는 같은 그림을 크게 보고, 먼저 전체 구조를 읽어냅니다.</a:t>
            </a:r>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7~8분
[강사 스크립트]
이제 그림을 크게 보여주며 “전체 보기”를 합니다. 이 슬라이드의 목적은 그림을 가리지 않고 먼저 전체 구조를 인식시키는 것입니다.
강사는 그림 안의 작은 글자를 모두 읽지 말고, 전체 흐름만 말로 안내하세요. 예를 들어 “왼쪽에서 입력이 들어오고, 가운데에서 운영체제가 중재하며, 오른쪽 또는 아래에서 결과가 나간다”처럼 구조를 먼저 읽습니다. 수강생에게는 “이 그림에서 가장 먼저 눈에 들어오는 축이 무엇인가요?”라고 묻고, 흐름·계층·자원·상태 중 하나로 답하게 합니다.
다음 두 장에서 이 그림을 1단계와 2단계로 나눠 설명할 예정이므로, 여기서 한 번에 다 설명하려고 하지 않는 것이 중요합니다.
[수강생에게 던질 질문]
• 이 그림에서 먼저 보이는 것은 계층인가요, 흐름인가요?
• 가운데에서 OS가 담당하는 역할은 무엇처럼 보이나요?
[다음 슬라이드 연결]
다음 슬라이드에서는 이 그림에서 첫 번째·두 번째 핵심 개념만 떼어 단계적으로 설명합니다.</a:t>
            </a:r>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장부터는 그림을 단계별로 읽습니다. 이번 슬라이드에서는 첫 번째와 두 번째 개념만 다룹니다.
첫 번째 개념인 “FCFS”부터 설명합니다. 도착 순서대로 처리: 단순하지만 긴 작업이 앞에 있으면 Convoy Effect
그 다음 두 번째 개념인 “SJF”로 넘어갑니다. 짧은 작업 우선: 평균 대기시간을 줄일 수 있지만 실행시간 예측이 필요
중요한 점은 설명 상자를 그림 위에 겹치지 않는 것입니다. 그림은 왼쪽에 크게 유지하고, 설명은 오른쪽에서 진행합니다. 수강생에게는 포인터나 손가락으로 그림의 해당 위치를 찾게 하세요. “지금 말한 기능이 그림의 어느 부분인가요?”라고 물으면 수동적으로 듣기보다 그림을 능동적으로 읽게 됩니다.
[수강생에게 던질 질문]
• SJF가 평균 대기시간에 유리한 이유는?
• Priority Scheduling의 Starvation은 어떻게 완화할 수 있을까?
[다음 슬라이드 연결]
이제 나머지 두 개념을 같은 그림에서 이어서 해석합니다.</a:t>
            </a:r>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10~12분
[강사 스크립트]
이 슬라이드에서는 세 번째와 네 번째 핵심 개념을 다룹니다.
세 번째 개념 “Priority”는 중요도 기반 실행: 낮은 우선순위의 Starvation 가능입니다. 네 번째 개념 “Round Robin”는 Quantum 단위 선점: 반응성이 좋지만 Quantum이 작으면 전환 오버헤드 증가입니다.
앞 슬라이드와 합쳐서 수강생이 그림 전체를 다시 설명하게 하세요. 예를 들어 “입력이 어디에서 들어와 운영체제의 어떤 기능을 지나 결과로 연결되는지”를 한 문장으로 말하게 하면 좋습니다. 그림을 크게 유지한 덕분에 수강생이 시각 요소를 놓치지 않고 설명을 따라갈 수 있습니다.
[수강생에게 던질 질문]
• 이 네 개념 중 실제 장애 분석에서 가장 자주 단서가 되는 것은 무엇인가요?
• 그림 전체를 한 문장으로 요약하면 어떻게 말할 수 있나요?
[다음 슬라이드 연결]
이제 그림에서 본 구조를 실제 문제 상황에 적용해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Ready Queue: 실행 가능한 프로세스가 CPU 할당을 기다리는 곳입니다.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스케줄링 정책: FCFS·SJF·Priority·RR은 서로 다른 목표와 Trade-off를 갖습니다.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복잡한 인포그래픽을 한 장에서 모두 설명하지 않고, 이번에는 확대 영역만 봅니다. 먼저 그림 자체를 10초 정도 조용히 보게 한 뒤 핵심 개념을 하나씩 붙입니다.</a:t>
            </a:r>
          </a:p>
          <a:p>
            <a:endParaRPr/>
          </a:p>
          <a:p>
            <a:r>
              <a:t>• Context Switch: PCB 저장·복원과 캐시 영향 때문에 전환은 비용을 가집니다.</a:t>
            </a:r>
          </a:p>
          <a:p>
            <a:r>
              <a:t>• Multi-Core / Affinity: 여러 코어에 부하를 나누고 필요하면 특정 코어에 프로세스를 고정합니다.</a:t>
            </a:r>
          </a:p>
          <a:p>
            <a:endParaRPr/>
          </a:p>
          <a:p>
            <a:r>
              <a:t>수강생에게 “이 개념이 그림의 어느 요소로 표현되어 있는가?”를 반드시 묻습니다. 정의를 외우기보다 도형·화살표·Queue·표의 의미를 설명하게 합니다.</a:t>
            </a:r>
          </a:p>
          <a:p>
            <a:endParaRPr/>
          </a:p>
          <a:p>
            <a:r>
              <a:t>[다음 연결]</a:t>
            </a:r>
          </a:p>
          <a:p>
            <a:r>
              <a:t>다음 확대 슬라이드 또는 워크플로우로 이동해 그림의 다른 영역과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10~12분</a:t>
            </a:r>
          </a:p>
          <a:p>
            <a:endParaRPr/>
          </a:p>
          <a:p>
            <a:r>
              <a:t>[강사 스크립트]</a:t>
            </a:r>
          </a:p>
          <a:p>
            <a:r>
              <a:t>이 슬라이드는 CPU와 스케줄링의 핵심 개념을 실제 동작 순서로 연결하는 워크플로우 설명입니다. 정의를 다시 읽는 대신, 시스템에서 어떤 사건이 먼저 발생하고 다음 상태가 무엇인지 순서대로 추적합니다.</a:t>
            </a:r>
          </a:p>
          <a:p>
            <a:endParaRPr/>
          </a:p>
          <a:p>
            <a:r>
              <a:t>1단계 Process 도착: 실행할 Process들이 도착</a:t>
            </a:r>
          </a:p>
          <a:p>
            <a:r>
              <a:t>2단계 Ready Queue: CPU 앞에서 대기</a:t>
            </a:r>
          </a:p>
          <a:p>
            <a:r>
              <a:t>3단계 정책 선택: FCFS/SJF/Priority/RR 정책 적용</a:t>
            </a:r>
          </a:p>
          <a:p>
            <a:r>
              <a:t>4단계 Dispatch: 선택된 Process를 CPU에 올림</a:t>
            </a:r>
          </a:p>
          <a:p>
            <a:r>
              <a:t>5단계 Burst / Quantum 실행: Burst 또는 Quantum만큼 실행</a:t>
            </a:r>
          </a:p>
          <a:p>
            <a:r>
              <a:t>6단계 Switch / Complete: 종료하거나 Context Switch 후 다시 Queue</a:t>
            </a:r>
          </a:p>
          <a:p>
            <a:endParaRPr/>
          </a:p>
          <a:p>
            <a:r>
              <a:t>[관찰 포인트]</a:t>
            </a:r>
          </a:p>
          <a:p>
            <a:r>
              <a:t>• 알고리즘이 같아도 입력 조건에 따라 결과가 달라짐</a:t>
            </a:r>
          </a:p>
          <a:p>
            <a:r>
              <a:t>• Quantum이 작을수록 반응성은 좋아질 수 있지만 Switch가 증가</a:t>
            </a:r>
          </a:p>
          <a:p>
            <a:r>
              <a:t>• 멀티코어는 병렬성과 부하 균형이 함께 필요</a:t>
            </a:r>
          </a:p>
          <a:p>
            <a:endParaRPr/>
          </a:p>
          <a:p>
            <a:r>
              <a:t>[수강생 질문]</a:t>
            </a:r>
          </a:p>
          <a:p>
            <a:r>
              <a:t>• 어떤 정책이 “공정하다”고 말할 수 있을까?</a:t>
            </a:r>
          </a:p>
          <a:p>
            <a:r>
              <a:t>• 현재 단계에서 다음 단계로 넘어가기 위한 조건은 무엇인가요?</a:t>
            </a:r>
          </a:p>
          <a:p>
            <a:endParaRPr/>
          </a:p>
          <a:p>
            <a:r>
              <a:t>[진행 팁]</a:t>
            </a:r>
          </a:p>
          <a:p>
            <a:r>
              <a:t>화살표를 따라 1→6을 한 번 설명한 뒤, 이번에는 강사가 말을 멈추고 수강생이 각 단계 이름만 이어 말하게 합니다. 그 다음 문제 상황 슬라이드에서 어느 단계가 깨졌는지 찾도록 연결합니다.</a:t>
            </a:r>
          </a:p>
        </p:txBody>
      </p:sp>
      <p:sp>
        <p:nvSpPr>
          <p:cNvPr id="4" name="Slide Number Placeholder 3"/>
          <p:cNvSpPr>
            <a:spLocks noGrp="1"/>
          </p:cNvSpPr>
          <p:nvPr>
            <p:ph type="sldNum" sz="quarter" idx="5"/>
          </p:nvPr>
        </p:nvSpPr>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CPU 스케줄링 워크플로우의 전반부 세 단계를 별도 페이지로 분리했습니다. 한 번에 6단계를 보여주지 않고, 현재 세 단계에서 발생하는 상태 변화만 설명합니다.</a:t>
            </a:r>
          </a:p>
          <a:p>
            <a:endParaRPr/>
          </a:p>
          <a:p>
            <a:r>
              <a:t>1단계 Ready Queue: 이 단계의 입력, 상태 변화, 다음 단계 조건을 질문합니다.</a:t>
            </a:r>
          </a:p>
          <a:p>
            <a:r>
              <a:t>2단계 Scheduler 선택: 이 단계의 입력, 상태 변화, 다음 단계 조건을 질문합니다.</a:t>
            </a:r>
          </a:p>
          <a:p>
            <a:r>
              <a:t>3단계 Dispatch: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a:t>
            </a:r>
          </a:p>
          <a:p>
            <a:endParaRPr/>
          </a:p>
          <a:p>
            <a:r>
              <a:t>[강사 스크립트]</a:t>
            </a:r>
          </a:p>
          <a:p>
            <a:r>
              <a:t>CPU 스케줄링 워크플로우의 후반부 세 단계를 별도 페이지로 분리했습니다. 한 번에 6단계를 보여주지 않고, 현재 세 단계에서 발생하는 상태 변화만 설명합니다.</a:t>
            </a:r>
          </a:p>
          <a:p>
            <a:endParaRPr/>
          </a:p>
          <a:p>
            <a:r>
              <a:t>4단계 CPU Burst: 이 단계의 입력, 상태 변화, 다음 단계 조건을 질문합니다.</a:t>
            </a:r>
          </a:p>
          <a:p>
            <a:r>
              <a:t>5단계 Context Switch: 이 단계의 입력, 상태 변화, 다음 단계 조건을 질문합니다.</a:t>
            </a:r>
          </a:p>
          <a:p>
            <a:r>
              <a:t>6단계 Complete/재대기: 이 단계의 입력, 상태 변화, 다음 단계 조건을 질문합니다.</a:t>
            </a:r>
          </a:p>
          <a:p>
            <a:endParaRPr/>
          </a:p>
          <a:p>
            <a:r>
              <a:t>[운영 포인트]</a:t>
            </a:r>
          </a:p>
          <a:p>
            <a:r>
              <a:t>강사가 먼저 설명하기 전에 수강생에게 다음 단계를 예측시킵니다. 이후 PRO 애니메이션에서 Step 버튼을 사용하면 이 워크플로우를 한 단계씩 검산할 수 있습니다.</a:t>
            </a:r>
          </a:p>
        </p:txBody>
      </p:sp>
      <p:sp>
        <p:nvSpPr>
          <p:cNvPr id="4" name="Slide Number Placeholder 3"/>
          <p:cNvSpPr>
            <a:spLocks noGrp="1"/>
          </p:cNvSpPr>
          <p:nvPr>
            <p:ph type="sldNum" sz="quarter" idx="5"/>
          </p:nvPr>
        </p:nvSpPr>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[권장 진행 시간] 20~25분
[강사 스크립트]
이제 그림의 개념을 실제 문제 상황에 적용합니다. 사례는 “문제 상황: 반응성을 높이려고 Quantum을 계속 줄이면?”입니다. 먼저 수강생이 원인을 추측하도록 하고, 강사는 가설을 바로 정답 처리하지 않습니다.
분석 순서는 다음과 같습니다.
1단계. 짧은 Quantum은 프로세스가 CPU를 자주 교대해 인터랙티브 반응성을 높인다.
2단계. 하지만 PCB 저장/복원과 캐시 교란이 자주 발생한다.
3단계. 실제 처리에 쓰는 시간보다 전환 비용이 커지면 전체 처리량이 떨어진다.
4단계. 멀티코어에서도 부하 균형과 Affinity 정책이 중요하다.
핵심은 첫 증상에서 바로 해결 명령어로 가지 않고, 상태 변화와 증거를 통해 범위를 좁히는 것입니다.
[수강생에게 던질 질문]
• 이 상황에서 가장 먼저 확인할 한 가지 지표는 무엇인가요?
• 그 지표가 정상이라면 다음 가설은 무엇인가요?
[다음 슬라이드 연결]
이제 같은 현상을 HTML 시뮬레이터에서 직접 조작해 보겠습니다.</a:t>
            </a:r>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8~10분 + 실제 HTML 시연 15~20분</a:t>
            </a:r>
          </a:p>
          <a:p>
            <a:endParaRPr/>
          </a:p>
          <a:p>
            <a:r>
              <a:t>[강사 스크립트]</a:t>
            </a:r>
          </a:p>
          <a:p>
            <a:r>
              <a:t>이 슬라이드는 CPU와 스케줄링의 HTML 애니메이션을 어떻게 읽고 운영할지 설명하는 가이드입니다. 애니메이션을 단순한 시각 효과로 사용하지 말고, “조작 → 화면 변화 → 지표 → 판단” 네 단계로 읽게 하세요.</a:t>
            </a:r>
          </a:p>
          <a:p>
            <a:endParaRPr/>
          </a:p>
          <a:p>
            <a:r>
              <a:t>[시나리오 1: 알고리즘 비교]</a:t>
            </a:r>
          </a:p>
          <a:p>
            <a:r>
              <a:t>조작: FCFS→SJF→Priority→RR</a:t>
            </a:r>
          </a:p>
          <a:p>
            <a:r>
              <a:t>움직임: Gantt 순서와 실행 Process가 달라짐</a:t>
            </a:r>
          </a:p>
          <a:p>
            <a:r>
              <a:t>관찰: 평균 대기시간, 완료 순서</a:t>
            </a:r>
          </a:p>
          <a:p>
            <a:r>
              <a:t>질문: 어떤 정책이 “공정하다”고 말할 수 있을까?</a:t>
            </a:r>
          </a:p>
          <a:p>
            <a:endParaRPr/>
          </a:p>
          <a:p>
            <a:r>
              <a:t>[시나리오 2: Quantum 실험]</a:t>
            </a:r>
          </a:p>
          <a:p>
            <a:r>
              <a:t>조작: RR Quantum 1→5</a:t>
            </a:r>
          </a:p>
          <a:p>
            <a:r>
              <a:t>움직임: 작은 Quantum에서 Process 전환이 자주 발생</a:t>
            </a:r>
          </a:p>
          <a:p>
            <a:r>
              <a:t>관찰: Context Switch 횟수</a:t>
            </a:r>
          </a:p>
          <a:p>
            <a:r>
              <a:t>질문: Quantum을 1로 만들면 왜 항상 좋지 않은가?</a:t>
            </a:r>
          </a:p>
          <a:p>
            <a:endParaRPr/>
          </a:p>
          <a:p>
            <a:r>
              <a:t>[시나리오 3: 멀티코어]</a:t>
            </a:r>
          </a:p>
          <a:p>
            <a:r>
              <a:t>조작: Core 수 / Affinity 변경</a:t>
            </a:r>
          </a:p>
          <a:p>
            <a:r>
              <a:t>움직임: Process가 여러 Core로 분산되거나 한 Core에 몰림</a:t>
            </a:r>
          </a:p>
          <a:p>
            <a:r>
              <a:t>관찰: Core별 사용률, Queue</a:t>
            </a:r>
          </a:p>
          <a:p>
            <a:r>
              <a:t>질문: Affinity 고정이 도움이 되는 경우와 해가 되는 경우는?</a:t>
            </a:r>
          </a:p>
          <a:p>
            <a:endParaRPr/>
          </a:p>
          <a:p>
            <a:r>
              <a:t>[강사 운영 포인트]</a:t>
            </a:r>
          </a:p>
          <a:p>
            <a:r>
              <a:t>같은 Process 집합을 유지한 채 정책만 바꿔야 공정한 비교가 된다. 숫자보다 “왜 순서가 달라졌는지”를 설명하게 한다.</a:t>
            </a:r>
          </a:p>
          <a:p>
            <a:endParaRPr/>
          </a:p>
          <a:p>
            <a:r>
              <a:t>매 조작 전에 반드시 5~10초 예측 시간을 주고, 결과가 나온 뒤에는 “무엇이 움직였는가?”보다 “왜 그렇게 움직였는가?”를 물어보세요.</a:t>
            </a:r>
          </a:p>
          <a:p>
            <a:endParaRPr/>
          </a:p>
          <a:p>
            <a:r>
              <a:t>[수행 표시]</a:t>
            </a:r>
          </a:p>
          <a:p>
            <a:r>
              <a:t>다음 단계에서 os_24h_interactive_animations_PRO.html을 실행합니다. 수강생에게 브라우저와 챕터 번호를 미리 준비시키세요.</a:t>
            </a:r>
          </a:p>
        </p:txBody>
      </p:sp>
      <p:sp>
        <p:nvSpPr>
          <p:cNvPr id="4" name="Slide Number Placeholder 3"/>
          <p:cNvSpPr>
            <a:spLocks noGrp="1"/>
          </p:cNvSpPr>
          <p:nvPr>
            <p:ph type="sldNum" sz="quarter" idx="5"/>
          </p:nvPr>
        </p:nvSpPr>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페이지가 보이면 PPT 설명을 멈추고 실제 HTML 애니메이션으로 전환합니다. 파일은 os_24h_interactive_animations_PRO.html, Chapter 04입니다.</a:t>
            </a:r>
          </a:p>
          <a:p>
            <a:endParaRPr/>
          </a:p>
          <a:p>
            <a:r>
              <a:t>수행 순서는 예측 → Step → Auto Play → 지표/로그 해석 → 설명입니다. 수강생에게 각 Step 전에 다음 상태를 먼저 말하게 하세요.</a:t>
            </a:r>
          </a:p>
          <a:p>
            <a:endParaRPr/>
          </a:p>
          <a:p>
            <a:r>
              <a:t>[오늘의 실습 항목]</a:t>
            </a:r>
          </a:p>
          <a:p>
            <a:r>
              <a:t>• FCFS/SJF/RR 실행 순서 비교</a:t>
            </a:r>
          </a:p>
          <a:p>
            <a:r>
              <a:t>• Quantum 변경으로 Switch 수 비교</a:t>
            </a:r>
          </a:p>
          <a:p>
            <a:r>
              <a:t>• Core 수와 Affinity 변화 관찰</a:t>
            </a:r>
          </a:p>
          <a:p>
            <a:endParaRPr/>
          </a:p>
          <a:p>
            <a:r>
              <a:t>[주의]</a:t>
            </a:r>
          </a:p>
          <a:p>
            <a:r>
              <a:t>애니메이션을 단순히 끝까지 재생하지 말고, 상태가 바뀌는 순간마다 멈춰 “왜?”를 묻습니다.</a:t>
            </a:r>
          </a:p>
        </p:txBody>
      </p:sp>
      <p:sp>
        <p:nvSpPr>
          <p:cNvPr id="4" name="Slide Number Placeholder 3"/>
          <p:cNvSpPr>
            <a:spLocks noGrp="1"/>
          </p:cNvSpPr>
          <p:nvPr>
            <p:ph type="sldNum" sz="quarter" idx="5"/>
          </p:nvPr>
        </p:nvSpPr>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이 슬라이드는 HTML 시뮬레이터로 전환하기 위한 진행 화면입니다. 화면을 띄운 뒤 바로 조작하지 말고, 단계마다 먼저 예측을 받으세요.</a:t>
            </a:r>
          </a:p>
          <a:p>
            <a:endParaRPr/>
          </a:p>
          <a:p>
            <a:r>
              <a:t>진행 순서:</a:t>
            </a:r>
          </a:p>
          <a:p>
            <a:r>
              <a:t>1. 동일 P1~P4 조건에서 FCFS/SJF/Priority/RR 비교</a:t>
            </a:r>
          </a:p>
          <a:p>
            <a:r>
              <a:t>2. RR에서 Quantum 1→5로 변경하며 Context Switch 횟수 기록</a:t>
            </a:r>
          </a:p>
          <a:p>
            <a:r>
              <a:t>3. Core 수 1→4로 바꾸며 Queue 변화를 관찰</a:t>
            </a:r>
          </a:p>
          <a:p>
            <a:r>
              <a:t>4. Affinity 고정 ON/OFF로 특정 Core 과부하 비교</a:t>
            </a:r>
          </a:p>
          <a:p>
            <a:endParaRPr/>
          </a:p>
          <a:p>
            <a:r>
              <a:t>시뮬레이터는 정답 화면이 아니라 실험 장치입니다. 값을 바꾸며 어떤 상태가 바뀌는지, 무엇이 병목이 되는지, 어떤 임계치에서 급격한 변화가 생기는지 관찰하게 합니다.</a:t>
            </a:r>
          </a:p>
          <a:p>
            <a:endParaRPr/>
          </a:p>
          <a:p>
            <a:r>
              <a:t>[수강생에게 던질 질문]</a:t>
            </a:r>
          </a:p>
          <a:p>
            <a:r>
              <a:t>• 첫 조작 전에 무엇이 변할 것이라고 예상하나요?</a:t>
            </a:r>
          </a:p>
          <a:p>
            <a:r>
              <a:t>• 결과가 예상과 달랐다면 어떤 가정이 틀렸을까요?</a:t>
            </a:r>
          </a:p>
          <a:p>
            <a:endParaRPr/>
          </a:p>
          <a:p>
            <a:r>
              <a:t>[시연/운영 포인트]</a:t>
            </a:r>
          </a:p>
          <a:p>
            <a:r>
              <a:t>• 동일 P1~P4 조건에서 FCFS/SJF/Priority/RR 비교</a:t>
            </a:r>
          </a:p>
          <a:p>
            <a:r>
              <a:t>• RR에서 Quantum 1→5로 변경하며 Context Switch 횟수 기록</a:t>
            </a:r>
          </a:p>
          <a:p>
            <a:r>
              <a:t>• Core 수 1→4로 바꾸며 Queue 변화를 관찰</a:t>
            </a:r>
          </a:p>
          <a:p>
            <a:r>
              <a:t>• Affinity 고정 ON/OFF로 특정 Core 과부하 비교</a:t>
            </a:r>
          </a:p>
          <a:p>
            <a:endParaRPr/>
          </a:p>
          <a:p>
            <a:r>
              <a:t>[다음 슬라이드 연결]</a:t>
            </a:r>
          </a:p>
          <a:p>
            <a:r>
              <a:t>시뮬레이션으로 검산했으니 이제 워크시트에서 자신의 판단을 기록합니다.</a:t>
            </a:r>
          </a:p>
          <a:p>
            <a:endParaRPr/>
          </a:p>
          <a:p>
            <a:r>
              <a:t>[애니메이션 읽는 법 추가]</a:t>
            </a:r>
          </a:p>
          <a:p>
            <a:r>
              <a:t>같은 Process 집합을 유지한 채 정책만 바꿔야 공정한 비교가 된다. 숫자보다 “왜 순서가 달라졌는지”를 설명하게 한다.</a:t>
            </a:r>
          </a:p>
          <a:p>
            <a:r>
              <a:t>• 시뮬레이터에서 움직이는 요소를 먼저 찾고, 그 다음 숫자/로그를 읽습니다.</a:t>
            </a:r>
          </a:p>
          <a:p>
            <a:r>
              <a:t>• 정상 시나리오 → 부하/오류 시나리오 → 복구/비교 시나리오 순으로 실행합니다.</a:t>
            </a:r>
          </a:p>
          <a:p>
            <a:r>
              <a:t>• 결과가 바뀌는 임계점이 보이면 그 순간에서 멈춰 원인을 질문합니다.</a:t>
            </a:r>
          </a:p>
          <a:p>
            <a:endParaRPr/>
          </a:p>
          <a:p>
            <a:r>
              <a:t>[수행 표시]</a:t>
            </a:r>
          </a:p>
          <a:p>
            <a:r>
              <a:t>이 슬라이드에서 실제 HTML 애니메이션을 수행합니다. 파일: os_24h_interactive_animations_PRO.html. 반드시 예측→Step/Auto Play→지표/로그 관찰→설명 순서로 운영합니다.</a:t>
            </a:r>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[권장 진행 시간] 15~25분</a:t>
            </a:r>
          </a:p>
          <a:p>
            <a:endParaRPr/>
          </a:p>
          <a:p>
            <a:r>
              <a:t>[강사 스크립트]</a:t>
            </a:r>
          </a:p>
          <a:p>
            <a:r>
              <a:t>이 페이지는 Worksheet 실제 수행 시작점입니다. 파일은 os_24h_digital_worksheet.html입니다. 상단 이름 입력을 확인한 뒤 Chapter 04 탭으로 이동하게 합니다.</a:t>
            </a:r>
          </a:p>
          <a:p>
            <a:endParaRPr/>
          </a:p>
          <a:p>
            <a:r>
              <a:t>오답을 발견해도 채점 전 답을 정답에 맞추기 위해 수정하지 않게 합니다. 채점 후 잠긴 답과 정답의 차이가 학습 증거입니다. 애니메이션에서 왜 틀렸는지 확인한 후 마지막 서술형을 자신의 언어로 작성하게 합니다.</a:t>
            </a:r>
          </a:p>
          <a:p>
            <a:endParaRPr/>
          </a:p>
          <a:p>
            <a:r>
              <a:t>[검증 포인트]</a:t>
            </a:r>
          </a:p>
          <a:p>
            <a:r>
              <a:t>• FCFS/SJF/RR 실행 순서 비교</a:t>
            </a:r>
          </a:p>
          <a:p>
            <a:r>
              <a:t>• Quantum 변경으로 Switch 수 비교</a:t>
            </a:r>
          </a:p>
          <a:p>
            <a:r>
              <a:t>• Core 수와 Affinity 변화 관찰</a:t>
            </a:r>
          </a:p>
          <a:p>
            <a:endParaRPr/>
          </a:p>
          <a:p>
            <a:r>
              <a:t>[완료 확인]</a:t>
            </a:r>
          </a:p>
          <a:p>
            <a:r>
              <a:t>점수, 서술형, 완료 화면 세 가지가 모두 있으면 다음 챕터로 넘어갑니다.</a:t>
            </a:r>
          </a:p>
        </p:txBody>
      </p:sp>
      <p:sp>
        <p:nvSpPr>
          <p:cNvPr id="4" name="Slide Number Placeholder 3"/>
          <p:cNvSpPr>
            <a:spLocks noGrp="1"/>
          </p:cNvSpPr>
          <p:nvPr>
            <p:ph type="sldNum" sz="quarter" idx="5"/>
          </p:nvPr>
        </p:nvSpPr>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[권장 진행 시간] 25~30분</a:t>
            </a:r>
          </a:p>
          <a:p>
            <a:endParaRPr/>
          </a:p>
          <a:p>
            <a:r>
              <a:t>[강사 스크립트]</a:t>
            </a:r>
          </a:p>
          <a:p>
            <a:r>
              <a:t>챕터 마지막은 디지털 워크시트로 실력을 검증합니다. 먼저 개인이 답을 작성하고, 채점 버튼을 눌러 예측을 잠그게 합니다. 이후 왜 틀렸는지 시뮬레이터나 개념 슬라이드로 돌아가 근거를 다시 확인하게 합니다.</a:t>
            </a:r>
          </a:p>
          <a:p>
            <a:endParaRPr/>
          </a:p>
          <a:p>
            <a:r>
              <a:t>오늘 과제는 다음과 같습니다.</a:t>
            </a:r>
          </a:p>
          <a:p>
            <a:r>
              <a:t>1. SJF 실행 순서 직접 계산</a:t>
            </a:r>
          </a:p>
          <a:p>
            <a:r>
              <a:t>2. RR Quantum 변화에 따른 장단점 서술</a:t>
            </a:r>
          </a:p>
          <a:p>
            <a:r>
              <a:t>3. CPU 100% 상황에서 어떤 프로세스를 먼저 확인할지 진단 순서 작성</a:t>
            </a:r>
          </a:p>
          <a:p>
            <a:endParaRPr/>
          </a:p>
          <a:p>
            <a:r>
              <a:t>마지막 서술형은 정답 문장을 복사하지 말고 자신의 언어로 설명하게 하세요.</a:t>
            </a:r>
          </a:p>
          <a:p>
            <a:endParaRPr/>
          </a:p>
          <a:p>
            <a:r>
              <a:t>[수강생에게 던질 질문]</a:t>
            </a:r>
          </a:p>
          <a:p>
            <a:r>
              <a:t>• SJF가 평균 대기시간에 유리한 이유는?</a:t>
            </a:r>
          </a:p>
          <a:p>
            <a:r>
              <a:t>• Priority Scheduling의 Starvation은 어떻게 완화할 수 있을까?</a:t>
            </a:r>
          </a:p>
          <a:p>
            <a:r>
              <a:t>• Context Switch는 왜 공짜가 아닌가?</a:t>
            </a:r>
          </a:p>
          <a:p>
            <a:endParaRPr/>
          </a:p>
          <a:p>
            <a:r>
              <a:t>[다음 슬라이드 연결]</a:t>
            </a:r>
          </a:p>
          <a:p>
            <a:r>
              <a:t>DAY 1의 네 챕터를 마쳤습니다. 다음 DAY로 넘어가기 전에 핵심 연결을 짧게 복습합니다.</a:t>
            </a:r>
          </a:p>
          <a:p>
            <a:endParaRPr/>
          </a:p>
          <a:p>
            <a:r>
              <a:t>[수행 표시]</a:t>
            </a:r>
          </a:p>
          <a:p>
            <a:r>
              <a:t>이 슬라이드에서 디지털 워크시트를 실제 작성/채점합니다. 파일: os_24h_digital_worksheet.html.</a:t>
            </a:r>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1E2761"/>
        </a:solidFill>
        <a:effectLst/>
      </p:bgPr>
    </p:bg>
    <p:spTree>
      <p:nvGrpSpPr>
        <p:cNvPr id="1" name=""/>
        <p:cNvGrpSpPr/>
        <p:nvPr/>
      </p:nvGrpSpPr>
      <p:grpSpPr>
        <a:xfrm>
          <a:off x="0" y="0"/>
          <a:ext cx="0" cy="0"/>
          <a:chOff x="0" y="0"/>
          <a:chExt cx="0" cy="0"/>
        </a:xfrm>
      </p:grpSpPr>
      <p:sp>
        <p:nvSpPr>
          <p:cNvPr id="2" name="Shape 0"/>
          <p:cNvSpPr/>
          <p:nvPr/>
        </p:nvSpPr>
        <p:spPr>
          <a:xfrm>
            <a:off x="320040" y="6547104"/>
            <a:ext cx="11539728" cy="0"/>
          </a:xfrm>
          <a:prstGeom prst="line">
            <a:avLst/>
          </a:prstGeom>
          <a:noFill/>
          <a:ln w="10160">
            <a:solidFill>
              <a:srgbClr val="36429A"/>
            </a:solidFill>
            <a:prstDash val="solid"/>
          </a:ln>
        </p:spPr>
      </p:sp>
      <p:sp>
        <p:nvSpPr>
          <p:cNvPr id="3" name="Text 1"/>
          <p:cNvSpPr/>
          <p:nvPr/>
        </p:nvSpPr>
        <p:spPr>
          <a:xfrm>
            <a:off x="384048" y="6565392"/>
            <a:ext cx="8412480" cy="164592"/>
          </a:xfrm>
          <a:prstGeom prst="rect">
            <a:avLst/>
          </a:prstGeom>
          <a:noFill/>
          <a:ln/>
        </p:spPr>
        <p:txBody>
          <a:bodyPr wrap="square" lIns="0" tIns="0" rIns="0" bIns="0" rtlCol="0" anchor="ctr"/>
          <a:lstStyle/>
          <a:p>
            <a:pPr marL="0" indent="0">
              <a:buNone/>
            </a:pPr>
            <a:r>
              <a:rPr lang="en-US" sz="780" dirty="0">
                <a:solidFill>
                  <a:srgbClr val="A9BCE7"/>
                </a:solidFill>
                <a:latin typeface="Noto Sans CJK KR" pitchFamily="34" charset="0"/>
                <a:ea typeface="Noto Sans CJK KR" pitchFamily="34" charset="-122"/>
                <a:cs typeface="Noto Sans CJK KR" pitchFamily="34" charset="-120"/>
              </a:rPr>
              <a:t>HYUNDAI AI Insight Campus · 온 디바이스 AI | 운영체제 활용 24H</a:t>
            </a:r>
            <a:endParaRPr lang="en-US" sz="78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230"/>
        </a:solidFill>
        <a:effectLst/>
      </p:bgPr>
    </p:bg>
    <p:spTree>
      <p:nvGrpSpPr>
        <p:cNvPr id="1" name=""/>
        <p:cNvGrpSpPr/>
        <p:nvPr/>
      </p:nvGrpSpPr>
      <p:grpSpPr>
        <a:xfrm>
          <a:off x="0" y="0"/>
          <a:ext cx="0" cy="0"/>
          <a:chOff x="0" y="0"/>
          <a:chExt cx="0" cy="0"/>
        </a:xfrm>
      </p:grpSpPr>
      <p:pic>
        <p:nvPicPr>
          <p:cNvPr id="2" name="Image 0" descr="/mnt/data/a_wide_dark_navy_blue_tech_themed_background_illu_batch_4.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7040880" cy="6858000"/>
          </a:xfrm>
          <a:prstGeom prst="rect">
            <a:avLst/>
          </a:prstGeom>
          <a:solidFill>
            <a:srgbClr val="0B1230">
              <a:alpha val="82000"/>
            </a:srgbClr>
          </a:solidFill>
          <a:ln w="12700">
            <a:solidFill>
              <a:srgbClr val="0B1230">
                <a:alpha val="0"/>
              </a:srgbClr>
            </a:solidFill>
            <a:prstDash val="solid"/>
          </a:ln>
        </p:spPr>
        <p:txBody>
          <a:bodyPr/>
          <a:lstStyle/>
          <a:p>
            <a:endParaRPr/>
          </a:p>
        </p:txBody>
      </p:sp>
      <p:sp>
        <p:nvSpPr>
          <p:cNvPr id="4" name="Text 1"/>
          <p:cNvSpPr/>
          <p:nvPr/>
        </p:nvSpPr>
        <p:spPr>
          <a:xfrm>
            <a:off x="621792" y="1097280"/>
            <a:ext cx="5303520" cy="685800"/>
          </a:xfrm>
          <a:prstGeom prst="rect">
            <a:avLst/>
          </a:prstGeom>
          <a:noFill/>
          <a:ln/>
        </p:spPr>
        <p:txBody>
          <a:bodyPr wrap="square" lIns="0" tIns="0" rIns="0" bIns="0" rtlCol="0" anchor="ctr"/>
          <a:lstStyle/>
          <a:p>
            <a:pPr marL="0" indent="0">
              <a:buNone/>
            </a:pPr>
            <a:r>
              <a:rPr lang="en-US" sz="3800" b="1" dirty="0">
                <a:solidFill>
                  <a:srgbClr val="FFFFFF"/>
                </a:solidFill>
                <a:latin typeface="Noto Sans CJK KR" pitchFamily="34" charset="0"/>
                <a:ea typeface="Noto Sans CJK KR" pitchFamily="34" charset="-122"/>
                <a:cs typeface="Noto Sans CJK KR" pitchFamily="34" charset="-120"/>
              </a:rPr>
              <a:t>운영체제 활용</a:t>
            </a:r>
            <a:endParaRPr lang="en-US" sz="3800" dirty="0"/>
          </a:p>
        </p:txBody>
      </p:sp>
      <p:sp>
        <p:nvSpPr>
          <p:cNvPr id="6" name="Text 3"/>
          <p:cNvSpPr/>
          <p:nvPr/>
        </p:nvSpPr>
        <p:spPr>
          <a:xfrm>
            <a:off x="640080" y="2651760"/>
            <a:ext cx="5212080" cy="310896"/>
          </a:xfrm>
          <a:prstGeom prst="rect">
            <a:avLst/>
          </a:prstGeom>
          <a:noFill/>
          <a:ln/>
        </p:spPr>
        <p:txBody>
          <a:bodyPr wrap="square" lIns="0" tIns="0" rIns="0" bIns="0" rtlCol="0" anchor="ctr"/>
          <a:lstStyle/>
          <a:p>
            <a:pPr marL="0" indent="0">
              <a:buNone/>
            </a:pPr>
            <a:r>
              <a:rPr lang="en-US" sz="1350" dirty="0">
                <a:solidFill>
                  <a:srgbClr val="CADCFC"/>
                </a:solidFill>
                <a:latin typeface="Noto Sans CJK KR" pitchFamily="34" charset="0"/>
                <a:ea typeface="Noto Sans CJK KR" pitchFamily="34" charset="-122"/>
                <a:cs typeface="Noto Sans CJK KR" pitchFamily="34" charset="-120"/>
              </a:rPr>
              <a:t>HYUNDAI AI Insight Campus · 온 디바이스 AI</a:t>
            </a:r>
            <a:endParaRPr lang="en-US" sz="1350" dirty="0"/>
          </a:p>
        </p:txBody>
      </p:sp>
      <p:sp>
        <p:nvSpPr>
          <p:cNvPr id="7" name="Text 4"/>
          <p:cNvSpPr/>
          <p:nvPr/>
        </p:nvSpPr>
        <p:spPr>
          <a:xfrm>
            <a:off x="640080" y="3127248"/>
            <a:ext cx="5532120" cy="640080"/>
          </a:xfrm>
          <a:prstGeom prst="rect">
            <a:avLst/>
          </a:prstGeom>
          <a:noFill/>
          <a:ln/>
        </p:spPr>
        <p:txBody>
          <a:bodyPr wrap="square" lIns="0" tIns="0" rIns="0" bIns="0" rtlCol="0" anchor="ctr">
            <a:normAutofit/>
          </a:bodyPr>
          <a:lstStyle/>
          <a:p>
            <a:pPr marL="0" indent="0">
              <a:buNone/>
            </a:pPr>
            <a:r>
              <a:rPr lang="en-US" sz="1650" dirty="0">
                <a:solidFill>
                  <a:srgbClr val="5EC8FF"/>
                </a:solidFill>
                <a:latin typeface="Noto Sans CJK KR" pitchFamily="34" charset="0"/>
                <a:ea typeface="Noto Sans CJK KR" pitchFamily="34" charset="-122"/>
                <a:cs typeface="Noto Sans CJK KR" pitchFamily="34" charset="-120"/>
              </a:rPr>
              <a:t>개념 → 인터랙티브 시뮬레이션 → 디지털 워크시트 → 장애분석</a:t>
            </a:r>
            <a:endParaRPr lang="en-US" sz="1650" dirty="0"/>
          </a:p>
        </p:txBody>
      </p:sp>
      <p:sp>
        <p:nvSpPr>
          <p:cNvPr id="8" name="Shape 5"/>
          <p:cNvSpPr/>
          <p:nvPr/>
        </p:nvSpPr>
        <p:spPr>
          <a:xfrm>
            <a:off x="640080" y="4005072"/>
            <a:ext cx="4023360" cy="0"/>
          </a:xfrm>
          <a:prstGeom prst="line">
            <a:avLst/>
          </a:prstGeom>
          <a:noFill/>
          <a:ln w="25400">
            <a:solidFill>
              <a:srgbClr val="FFC24B"/>
            </a:solidFill>
            <a:prstDash val="solid"/>
          </a:ln>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과정 위치와 24시간 학습 범위</a:t>
            </a:r>
            <a:endParaRPr lang="en-US" sz="2800" dirty="0"/>
          </a:p>
        </p:txBody>
      </p:sp>
      <p:sp>
        <p:nvSpPr>
          <p:cNvPr id="4" name="Text 2"/>
          <p:cNvSpPr/>
          <p:nvPr/>
        </p:nvSpPr>
        <p:spPr>
          <a:xfrm>
            <a:off x="502920" y="1280160"/>
            <a:ext cx="4572000" cy="329184"/>
          </a:xfrm>
          <a:prstGeom prst="rect">
            <a:avLst/>
          </a:prstGeom>
          <a:noFill/>
          <a:ln/>
        </p:spPr>
        <p:txBody>
          <a:bodyPr wrap="square" lIns="0" tIns="0" rIns="0" bIns="0" rtlCol="0" anchor="ctr"/>
          <a:lstStyle/>
          <a:p>
            <a:pPr marL="0" indent="0">
              <a:buNone/>
            </a:pPr>
            <a:r>
              <a:rPr lang="en-US" sz="1800" b="1" dirty="0">
                <a:solidFill>
                  <a:srgbClr val="FFFFFF"/>
                </a:solidFill>
                <a:latin typeface="Noto Sans CJK KR" pitchFamily="34" charset="0"/>
                <a:ea typeface="Noto Sans CJK KR" pitchFamily="34" charset="-122"/>
                <a:cs typeface="Noto Sans CJK KR" pitchFamily="34" charset="-120"/>
              </a:rPr>
              <a:t>임베디드 컴퓨팅 Part 1의 연결 구조</a:t>
            </a:r>
            <a:endParaRPr lang="en-US" sz="1800" dirty="0"/>
          </a:p>
        </p:txBody>
      </p:sp>
      <p:sp>
        <p:nvSpPr>
          <p:cNvPr id="5" name="Shape 3"/>
          <p:cNvSpPr/>
          <p:nvPr/>
        </p:nvSpPr>
        <p:spPr>
          <a:xfrm>
            <a:off x="640080" y="1847088"/>
            <a:ext cx="1773936" cy="914400"/>
          </a:xfrm>
          <a:prstGeom prst="roundRect">
            <a:avLst>
              <a:gd name="adj" fmla="val 4000"/>
            </a:avLst>
          </a:prstGeom>
          <a:solidFill>
            <a:srgbClr val="20295B"/>
          </a:solidFill>
          <a:ln w="12700">
            <a:solidFill>
              <a:srgbClr val="36429A"/>
            </a:solidFill>
            <a:prstDash val="solid"/>
          </a:ln>
        </p:spPr>
        <p:txBody>
          <a:bodyPr/>
          <a:lstStyle/>
          <a:p>
            <a:endParaRPr/>
          </a:p>
        </p:txBody>
      </p:sp>
      <p:sp>
        <p:nvSpPr>
          <p:cNvPr id="6" name="Text 4"/>
          <p:cNvSpPr/>
          <p:nvPr/>
        </p:nvSpPr>
        <p:spPr>
          <a:xfrm>
            <a:off x="694944" y="1965960"/>
            <a:ext cx="1664208" cy="69494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컴퓨터 구조</a:t>
            </a:r>
            <a:endParaRPr lang="en-US" sz="1100" dirty="0"/>
          </a:p>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24H</a:t>
            </a:r>
            <a:endParaRPr lang="en-US" sz="1100" dirty="0"/>
          </a:p>
        </p:txBody>
      </p:sp>
      <p:sp>
        <p:nvSpPr>
          <p:cNvPr id="7" name="Text 5"/>
          <p:cNvSpPr/>
          <p:nvPr/>
        </p:nvSpPr>
        <p:spPr>
          <a:xfrm>
            <a:off x="2395728" y="1956816"/>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8" name="Shape 6"/>
          <p:cNvSpPr/>
          <p:nvPr/>
        </p:nvSpPr>
        <p:spPr>
          <a:xfrm>
            <a:off x="2542032" y="1847088"/>
            <a:ext cx="1773936" cy="914400"/>
          </a:xfrm>
          <a:prstGeom prst="roundRect">
            <a:avLst>
              <a:gd name="adj" fmla="val 4000"/>
            </a:avLst>
          </a:prstGeom>
          <a:solidFill>
            <a:srgbClr val="36429A"/>
          </a:solidFill>
          <a:ln w="22860">
            <a:solidFill>
              <a:srgbClr val="FFC24B"/>
            </a:solidFill>
            <a:prstDash val="solid"/>
          </a:ln>
        </p:spPr>
        <p:txBody>
          <a:bodyPr/>
          <a:lstStyle/>
          <a:p>
            <a:endParaRPr/>
          </a:p>
        </p:txBody>
      </p:sp>
      <p:sp>
        <p:nvSpPr>
          <p:cNvPr id="9" name="Text 7"/>
          <p:cNvSpPr/>
          <p:nvPr/>
        </p:nvSpPr>
        <p:spPr>
          <a:xfrm>
            <a:off x="2596896" y="1965960"/>
            <a:ext cx="1664208" cy="69494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Noto Sans CJK KR" pitchFamily="34" charset="0"/>
                <a:ea typeface="Noto Sans CJK KR" pitchFamily="34" charset="-122"/>
                <a:cs typeface="Noto Sans CJK KR" pitchFamily="34" charset="-120"/>
              </a:rPr>
              <a:t>운영체제 활용</a:t>
            </a:r>
            <a:endParaRPr lang="en-US" sz="1100" dirty="0"/>
          </a:p>
          <a:p>
            <a:pPr marL="0" indent="0" algn="ctr">
              <a:buNone/>
            </a:pPr>
            <a:r>
              <a:rPr lang="en-US" sz="1100" b="1" dirty="0">
                <a:solidFill>
                  <a:srgbClr val="FFFFFF"/>
                </a:solidFill>
                <a:latin typeface="Noto Sans CJK KR" pitchFamily="34" charset="0"/>
                <a:ea typeface="Noto Sans CJK KR" pitchFamily="34" charset="-122"/>
                <a:cs typeface="Noto Sans CJK KR" pitchFamily="34" charset="-120"/>
              </a:rPr>
              <a:t>24H</a:t>
            </a:r>
            <a:endParaRPr lang="en-US" sz="1100" dirty="0"/>
          </a:p>
        </p:txBody>
      </p:sp>
      <p:sp>
        <p:nvSpPr>
          <p:cNvPr id="10" name="Text 8"/>
          <p:cNvSpPr/>
          <p:nvPr/>
        </p:nvSpPr>
        <p:spPr>
          <a:xfrm>
            <a:off x="4297680" y="1956816"/>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1" name="Shape 9"/>
          <p:cNvSpPr/>
          <p:nvPr/>
        </p:nvSpPr>
        <p:spPr>
          <a:xfrm>
            <a:off x="4443984" y="1847088"/>
            <a:ext cx="1773936" cy="914400"/>
          </a:xfrm>
          <a:prstGeom prst="roundRect">
            <a:avLst>
              <a:gd name="adj" fmla="val 4000"/>
            </a:avLst>
          </a:prstGeom>
          <a:solidFill>
            <a:srgbClr val="20295B"/>
          </a:solidFill>
          <a:ln w="12700">
            <a:solidFill>
              <a:srgbClr val="36429A"/>
            </a:solidFill>
            <a:prstDash val="solid"/>
          </a:ln>
        </p:spPr>
        <p:txBody>
          <a:bodyPr/>
          <a:lstStyle/>
          <a:p>
            <a:endParaRPr/>
          </a:p>
        </p:txBody>
      </p:sp>
      <p:sp>
        <p:nvSpPr>
          <p:cNvPr id="12" name="Text 10"/>
          <p:cNvSpPr/>
          <p:nvPr/>
        </p:nvSpPr>
        <p:spPr>
          <a:xfrm>
            <a:off x="4498848" y="1965960"/>
            <a:ext cx="1664208" cy="69494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프로그래밍 언어</a:t>
            </a:r>
            <a:endParaRPr lang="en-US" sz="1100" dirty="0"/>
          </a:p>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72H</a:t>
            </a:r>
            <a:endParaRPr lang="en-US" sz="1100" dirty="0"/>
          </a:p>
        </p:txBody>
      </p:sp>
      <p:sp>
        <p:nvSpPr>
          <p:cNvPr id="13" name="Shape 11"/>
          <p:cNvSpPr/>
          <p:nvPr/>
        </p:nvSpPr>
        <p:spPr>
          <a:xfrm>
            <a:off x="6720840" y="141732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4" name="Text 12"/>
          <p:cNvSpPr/>
          <p:nvPr/>
        </p:nvSpPr>
        <p:spPr>
          <a:xfrm>
            <a:off x="6885432" y="1545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15" name="Text 13"/>
          <p:cNvSpPr/>
          <p:nvPr/>
        </p:nvSpPr>
        <p:spPr>
          <a:xfrm>
            <a:off x="7269480" y="156362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왜 여기서 OS인가?</a:t>
            </a:r>
            <a:endParaRPr lang="en-US" sz="1500" dirty="0"/>
          </a:p>
        </p:txBody>
      </p:sp>
      <p:sp>
        <p:nvSpPr>
          <p:cNvPr id="16" name="Text 14"/>
          <p:cNvSpPr/>
          <p:nvPr/>
        </p:nvSpPr>
        <p:spPr>
          <a:xfrm>
            <a:off x="6903720" y="194767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하드웨어가 어떻게 구성되는지 배운 뒤, 여러 프로그램이 그 하드웨어를 어떻게 안전하게 공유하는지 이해하는 단계입니다.</a:t>
            </a:r>
            <a:endParaRPr lang="en-US" sz="1150" dirty="0"/>
          </a:p>
        </p:txBody>
      </p:sp>
      <p:sp>
        <p:nvSpPr>
          <p:cNvPr id="17" name="Shape 15"/>
          <p:cNvSpPr/>
          <p:nvPr/>
        </p:nvSpPr>
        <p:spPr>
          <a:xfrm>
            <a:off x="9235440" y="141732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8" name="Text 16"/>
          <p:cNvSpPr/>
          <p:nvPr/>
        </p:nvSpPr>
        <p:spPr>
          <a:xfrm>
            <a:off x="9400032" y="1545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19" name="Text 17"/>
          <p:cNvSpPr/>
          <p:nvPr/>
        </p:nvSpPr>
        <p:spPr>
          <a:xfrm>
            <a:off x="9784080" y="156362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뒤 과정과 연결</a:t>
            </a:r>
            <a:endParaRPr lang="en-US" sz="1500" dirty="0"/>
          </a:p>
        </p:txBody>
      </p:sp>
      <p:sp>
        <p:nvSpPr>
          <p:cNvPr id="20" name="Text 18"/>
          <p:cNvSpPr/>
          <p:nvPr/>
        </p:nvSpPr>
        <p:spPr>
          <a:xfrm>
            <a:off x="9418320" y="194767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Linux &amp; Shell, Embedded I/O, AI Runtime, ROS2에서 발생하는 문제를 OS 관점으로 해석할 수 있게 합니다.</a:t>
            </a:r>
            <a:endParaRPr lang="en-US" sz="1150" dirty="0"/>
          </a:p>
        </p:txBody>
      </p:sp>
      <p:sp>
        <p:nvSpPr>
          <p:cNvPr id="21" name="Shape 19"/>
          <p:cNvSpPr/>
          <p:nvPr/>
        </p:nvSpPr>
        <p:spPr>
          <a:xfrm>
            <a:off x="6720840" y="306324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2" name="Text 20"/>
          <p:cNvSpPr/>
          <p:nvPr/>
        </p:nvSpPr>
        <p:spPr>
          <a:xfrm>
            <a:off x="6885432" y="319125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23" name="Text 21"/>
          <p:cNvSpPr/>
          <p:nvPr/>
        </p:nvSpPr>
        <p:spPr>
          <a:xfrm>
            <a:off x="7269480" y="320954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이론만 하지 않기</a:t>
            </a:r>
            <a:endParaRPr lang="en-US" sz="1500" dirty="0"/>
          </a:p>
        </p:txBody>
      </p:sp>
      <p:sp>
        <p:nvSpPr>
          <p:cNvPr id="24" name="Text 22"/>
          <p:cNvSpPr/>
          <p:nvPr/>
        </p:nvSpPr>
        <p:spPr>
          <a:xfrm>
            <a:off x="6903720" y="359359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모든 핵심 개념은 인터랙티브 시뮬레이션에서 상태 변화와 자원 흐름으로 확인합니다.</a:t>
            </a:r>
            <a:endParaRPr lang="en-US" sz="1150" dirty="0"/>
          </a:p>
        </p:txBody>
      </p:sp>
      <p:sp>
        <p:nvSpPr>
          <p:cNvPr id="25" name="Shape 23"/>
          <p:cNvSpPr/>
          <p:nvPr/>
        </p:nvSpPr>
        <p:spPr>
          <a:xfrm>
            <a:off x="9235440" y="3063240"/>
            <a:ext cx="2331720" cy="1417320"/>
          </a:xfrm>
          <a:prstGeom prst="roundRect">
            <a:avLst>
              <a:gd name="adj" fmla="val 5161"/>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6" name="Text 24"/>
          <p:cNvSpPr/>
          <p:nvPr/>
        </p:nvSpPr>
        <p:spPr>
          <a:xfrm>
            <a:off x="9400032" y="3191256"/>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a:t>
            </a:r>
            <a:endParaRPr lang="en-US" sz="1900" dirty="0"/>
          </a:p>
        </p:txBody>
      </p:sp>
      <p:sp>
        <p:nvSpPr>
          <p:cNvPr id="27" name="Text 25"/>
          <p:cNvSpPr/>
          <p:nvPr/>
        </p:nvSpPr>
        <p:spPr>
          <a:xfrm>
            <a:off x="9784080" y="3209544"/>
            <a:ext cx="161848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평가 방식</a:t>
            </a:r>
            <a:endParaRPr lang="en-US" sz="1500" dirty="0"/>
          </a:p>
        </p:txBody>
      </p:sp>
      <p:sp>
        <p:nvSpPr>
          <p:cNvPr id="28" name="Text 26"/>
          <p:cNvSpPr/>
          <p:nvPr/>
        </p:nvSpPr>
        <p:spPr>
          <a:xfrm>
            <a:off x="9418320" y="3593592"/>
            <a:ext cx="1965960" cy="7589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매 챕터 디지털 워크시트에서 예측 → 채점 → 검산 → 설명의 사이클로 실력을 확인합니다.</a:t>
            </a:r>
            <a:endParaRPr lang="en-US" sz="1150" dirty="0"/>
          </a:p>
        </p:txBody>
      </p:sp>
      <p:sp>
        <p:nvSpPr>
          <p:cNvPr id="29" name="Text 27"/>
          <p:cNvSpPr/>
          <p:nvPr/>
        </p:nvSpPr>
        <p:spPr>
          <a:xfrm>
            <a:off x="658368" y="4956048"/>
            <a:ext cx="10881360" cy="685800"/>
          </a:xfrm>
          <a:prstGeom prst="rect">
            <a:avLst/>
          </a:prstGeom>
          <a:noFill/>
          <a:ln/>
        </p:spPr>
        <p:txBody>
          <a:bodyPr wrap="square" lIns="508" tIns="508" rIns="508" bIns="508" rtlCol="0" anchor="ctr">
            <a:normAutofit/>
          </a:bodyPr>
          <a:lstStyle/>
          <a:p>
            <a:pPr marL="0" indent="0" algn="ctr">
              <a:buNone/>
            </a:pPr>
            <a:r>
              <a:rPr lang="en-US" sz="1750" b="1" dirty="0">
                <a:solidFill>
                  <a:srgbClr val="FFC24B"/>
                </a:solidFill>
                <a:latin typeface="Noto Sans CJK KR" pitchFamily="34" charset="0"/>
                <a:ea typeface="Noto Sans CJK KR" pitchFamily="34" charset="-122"/>
                <a:cs typeface="Noto Sans CJK KR" pitchFamily="34" charset="-120"/>
              </a:rPr>
              <a:t>핵심 관점: “운영체제는 하드웨어를 숨기는 층”을 넘어 “한정된 자원을 여러 작업에 배분하는 정책 시스템”이다.</a:t>
            </a:r>
            <a:endParaRPr lang="en-US" sz="1750" dirty="0"/>
          </a:p>
        </p:txBody>
      </p:sp>
      <p:sp>
        <p:nvSpPr>
          <p:cNvPr id="30"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24시간 후 수강생이 할 수 있어야 하는 것</a:t>
            </a:r>
            <a:endParaRPr lang="en-US" sz="2800" dirty="0"/>
          </a:p>
        </p:txBody>
      </p:sp>
      <p:sp>
        <p:nvSpPr>
          <p:cNvPr id="4" name="Shape 2"/>
          <p:cNvSpPr/>
          <p:nvPr/>
        </p:nvSpPr>
        <p:spPr>
          <a:xfrm>
            <a:off x="594360" y="141732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5" name="Text 3"/>
          <p:cNvSpPr/>
          <p:nvPr/>
        </p:nvSpPr>
        <p:spPr>
          <a:xfrm>
            <a:off x="758952" y="1545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6" name="Text 4"/>
          <p:cNvSpPr/>
          <p:nvPr/>
        </p:nvSpPr>
        <p:spPr>
          <a:xfrm>
            <a:off x="114300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설명</a:t>
            </a:r>
            <a:endParaRPr lang="en-US" sz="1500" dirty="0"/>
          </a:p>
        </p:txBody>
      </p:sp>
      <p:sp>
        <p:nvSpPr>
          <p:cNvPr id="7" name="Text 5"/>
          <p:cNvSpPr/>
          <p:nvPr/>
        </p:nvSpPr>
        <p:spPr>
          <a:xfrm>
            <a:off x="777240" y="194767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Process·Thread·Memory·File·Device·Network의 핵심 동작을 자신의 말로 설명</a:t>
            </a:r>
            <a:endParaRPr lang="en-US" sz="1150" dirty="0"/>
          </a:p>
        </p:txBody>
      </p:sp>
      <p:sp>
        <p:nvSpPr>
          <p:cNvPr id="8" name="Shape 6"/>
          <p:cNvSpPr/>
          <p:nvPr/>
        </p:nvSpPr>
        <p:spPr>
          <a:xfrm>
            <a:off x="4389120" y="141732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553712" y="1545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10" name="Text 8"/>
          <p:cNvSpPr/>
          <p:nvPr/>
        </p:nvSpPr>
        <p:spPr>
          <a:xfrm>
            <a:off x="493776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관찰</a:t>
            </a:r>
            <a:endParaRPr lang="en-US" sz="1500" dirty="0"/>
          </a:p>
        </p:txBody>
      </p:sp>
      <p:sp>
        <p:nvSpPr>
          <p:cNvPr id="11" name="Text 9"/>
          <p:cNvSpPr/>
          <p:nvPr/>
        </p:nvSpPr>
        <p:spPr>
          <a:xfrm>
            <a:off x="4572000" y="194767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top/free/df/journalctl 등으로 실행 중 시스템의 상태를 읽기</a:t>
            </a:r>
            <a:endParaRPr lang="en-US" sz="1150" dirty="0"/>
          </a:p>
        </p:txBody>
      </p:sp>
      <p:sp>
        <p:nvSpPr>
          <p:cNvPr id="12" name="Shape 10"/>
          <p:cNvSpPr/>
          <p:nvPr/>
        </p:nvSpPr>
        <p:spPr>
          <a:xfrm>
            <a:off x="8183880" y="141732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8348472" y="154533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14" name="Text 12"/>
          <p:cNvSpPr/>
          <p:nvPr/>
        </p:nvSpPr>
        <p:spPr>
          <a:xfrm>
            <a:off x="873252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예측</a:t>
            </a:r>
            <a:endParaRPr lang="en-US" sz="1500" dirty="0"/>
          </a:p>
        </p:txBody>
      </p:sp>
      <p:sp>
        <p:nvSpPr>
          <p:cNvPr id="15" name="Text 13"/>
          <p:cNvSpPr/>
          <p:nvPr/>
        </p:nvSpPr>
        <p:spPr>
          <a:xfrm>
            <a:off x="8366760" y="194767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스케줄링·Paging·Buffer·TCP 같은 흐름에서 다음 상태를 예측</a:t>
            </a:r>
            <a:endParaRPr lang="en-US" sz="1150" dirty="0"/>
          </a:p>
        </p:txBody>
      </p:sp>
      <p:sp>
        <p:nvSpPr>
          <p:cNvPr id="16" name="Shape 14"/>
          <p:cNvSpPr/>
          <p:nvPr/>
        </p:nvSpPr>
        <p:spPr>
          <a:xfrm>
            <a:off x="594360" y="342900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758952" y="3557016"/>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a:t>
            </a:r>
            <a:endParaRPr lang="en-US" sz="1900" dirty="0"/>
          </a:p>
        </p:txBody>
      </p:sp>
      <p:sp>
        <p:nvSpPr>
          <p:cNvPr id="18" name="Text 16"/>
          <p:cNvSpPr/>
          <p:nvPr/>
        </p:nvSpPr>
        <p:spPr>
          <a:xfrm>
            <a:off x="1143000" y="35753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진단</a:t>
            </a:r>
            <a:endParaRPr lang="en-US" sz="1500" dirty="0"/>
          </a:p>
        </p:txBody>
      </p:sp>
      <p:sp>
        <p:nvSpPr>
          <p:cNvPr id="19" name="Text 17"/>
          <p:cNvSpPr/>
          <p:nvPr/>
        </p:nvSpPr>
        <p:spPr>
          <a:xfrm>
            <a:off x="777240" y="395935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CPU·RAM·Disk·Device·Service 지표를 조합해 Root Cause 후보 좁히기</a:t>
            </a:r>
            <a:endParaRPr lang="en-US" sz="1150" dirty="0"/>
          </a:p>
        </p:txBody>
      </p:sp>
      <p:sp>
        <p:nvSpPr>
          <p:cNvPr id="20" name="Shape 18"/>
          <p:cNvSpPr/>
          <p:nvPr/>
        </p:nvSpPr>
        <p:spPr>
          <a:xfrm>
            <a:off x="4389120" y="342900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553712" y="3557016"/>
            <a:ext cx="320040" cy="320040"/>
          </a:xfrm>
          <a:prstGeom prst="rect">
            <a:avLst/>
          </a:prstGeom>
          <a:noFill/>
          <a:ln/>
        </p:spPr>
        <p:txBody>
          <a:bodyPr wrap="square" lIns="0" tIns="0" rIns="0" bIns="0" rtlCol="0" anchor="ctr"/>
          <a:lstStyle/>
          <a:p>
            <a:pPr marL="0" indent="0" algn="ctr">
              <a:buNone/>
            </a:pPr>
            <a:r>
              <a:rPr lang="en-US" sz="1900" dirty="0">
                <a:solidFill>
                  <a:srgbClr val="8EA9FF"/>
                </a:solidFill>
                <a:latin typeface="Segoe UI Emoji" pitchFamily="34" charset="0"/>
                <a:ea typeface="Segoe UI Emoji" pitchFamily="34" charset="-122"/>
                <a:cs typeface="Segoe UI Emoji" pitchFamily="34" charset="-120"/>
              </a:rPr>
              <a:t>⚡</a:t>
            </a:r>
            <a:endParaRPr lang="en-US" sz="1900" dirty="0"/>
          </a:p>
        </p:txBody>
      </p:sp>
      <p:sp>
        <p:nvSpPr>
          <p:cNvPr id="22" name="Text 20"/>
          <p:cNvSpPr/>
          <p:nvPr/>
        </p:nvSpPr>
        <p:spPr>
          <a:xfrm>
            <a:off x="4937760" y="35753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연결</a:t>
            </a:r>
            <a:endParaRPr lang="en-US" sz="1500" dirty="0"/>
          </a:p>
        </p:txBody>
      </p:sp>
      <p:sp>
        <p:nvSpPr>
          <p:cNvPr id="23" name="Text 21"/>
          <p:cNvSpPr/>
          <p:nvPr/>
        </p:nvSpPr>
        <p:spPr>
          <a:xfrm>
            <a:off x="4572000" y="395935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온디바이스 AI Pipeline에서 OS 자원 병목과 Thermal 문제를 해석</a:t>
            </a:r>
            <a:endParaRPr lang="en-US" sz="1150" dirty="0"/>
          </a:p>
        </p:txBody>
      </p:sp>
      <p:sp>
        <p:nvSpPr>
          <p:cNvPr id="24" name="Shape 22"/>
          <p:cNvSpPr/>
          <p:nvPr/>
        </p:nvSpPr>
        <p:spPr>
          <a:xfrm>
            <a:off x="8183880" y="3429000"/>
            <a:ext cx="3429000" cy="1554480"/>
          </a:xfrm>
          <a:prstGeom prst="roundRect">
            <a:avLst>
              <a:gd name="adj" fmla="val 470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5" name="Text 23"/>
          <p:cNvSpPr/>
          <p:nvPr/>
        </p:nvSpPr>
        <p:spPr>
          <a:xfrm>
            <a:off x="8348472" y="3557016"/>
            <a:ext cx="320040" cy="320040"/>
          </a:xfrm>
          <a:prstGeom prst="rect">
            <a:avLst/>
          </a:prstGeom>
          <a:noFill/>
          <a:ln/>
        </p:spPr>
        <p:txBody>
          <a:bodyPr wrap="square" lIns="0" tIns="0" rIns="0" bIns="0" rtlCol="0" anchor="ctr"/>
          <a:lstStyle/>
          <a:p>
            <a:pPr marL="0" indent="0" algn="ctr">
              <a:buNone/>
            </a:pPr>
            <a:r>
              <a:rPr lang="en-US" sz="1900" dirty="0">
                <a:solidFill>
                  <a:srgbClr val="9CF0D4"/>
                </a:solidFill>
                <a:latin typeface="Segoe UI Emoji" pitchFamily="34" charset="0"/>
                <a:ea typeface="Segoe UI Emoji" pitchFamily="34" charset="-122"/>
                <a:cs typeface="Segoe UI Emoji" pitchFamily="34" charset="-120"/>
              </a:rPr>
              <a:t>✅</a:t>
            </a:r>
            <a:endParaRPr lang="en-US" sz="1900" dirty="0"/>
          </a:p>
        </p:txBody>
      </p:sp>
      <p:sp>
        <p:nvSpPr>
          <p:cNvPr id="26" name="Text 24"/>
          <p:cNvSpPr/>
          <p:nvPr/>
        </p:nvSpPr>
        <p:spPr>
          <a:xfrm>
            <a:off x="8732520" y="35753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검증</a:t>
            </a:r>
            <a:endParaRPr lang="en-US" sz="1500" dirty="0"/>
          </a:p>
        </p:txBody>
      </p:sp>
      <p:sp>
        <p:nvSpPr>
          <p:cNvPr id="27" name="Text 25"/>
          <p:cNvSpPr/>
          <p:nvPr/>
        </p:nvSpPr>
        <p:spPr>
          <a:xfrm>
            <a:off x="8366760" y="3959352"/>
            <a:ext cx="3063240" cy="89611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수정 후 동일 조건에서 성능·로그·장치 상태를 재확인</a:t>
            </a:r>
            <a:endParaRPr lang="en-US" sz="11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수업 운영 방식: 예측 → 시뮬레이션 → 워크시트</a:t>
            </a:r>
            <a:endParaRPr lang="en-US" sz="2800" dirty="0"/>
          </a:p>
        </p:txBody>
      </p:sp>
      <p:sp>
        <p:nvSpPr>
          <p:cNvPr id="4" name="Shape 2"/>
          <p:cNvSpPr/>
          <p:nvPr/>
        </p:nvSpPr>
        <p:spPr>
          <a:xfrm>
            <a:off x="594360"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5" name="Text 3"/>
          <p:cNvSpPr/>
          <p:nvPr/>
        </p:nvSpPr>
        <p:spPr>
          <a:xfrm>
            <a:off x="649224"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 개념 설명</a:t>
            </a:r>
            <a:endParaRPr lang="en-US" sz="1100" dirty="0"/>
          </a:p>
        </p:txBody>
      </p:sp>
      <p:sp>
        <p:nvSpPr>
          <p:cNvPr id="6" name="Text 4"/>
          <p:cNvSpPr/>
          <p:nvPr/>
        </p:nvSpPr>
        <p:spPr>
          <a:xfrm>
            <a:off x="2298192"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7" name="Shape 5"/>
          <p:cNvSpPr/>
          <p:nvPr/>
        </p:nvSpPr>
        <p:spPr>
          <a:xfrm>
            <a:off x="2444496"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8" name="Text 6"/>
          <p:cNvSpPr/>
          <p:nvPr/>
        </p:nvSpPr>
        <p:spPr>
          <a:xfrm>
            <a:off x="2499360"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 먼저 예측</a:t>
            </a:r>
            <a:endParaRPr lang="en-US" sz="1100" dirty="0"/>
          </a:p>
        </p:txBody>
      </p:sp>
      <p:sp>
        <p:nvSpPr>
          <p:cNvPr id="9" name="Text 7"/>
          <p:cNvSpPr/>
          <p:nvPr/>
        </p:nvSpPr>
        <p:spPr>
          <a:xfrm>
            <a:off x="4148328"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4294632" y="1463040"/>
            <a:ext cx="1722120" cy="777240"/>
          </a:xfrm>
          <a:prstGeom prst="roundRect">
            <a:avLst>
              <a:gd name="adj" fmla="val 4706"/>
            </a:avLst>
          </a:prstGeom>
          <a:solidFill>
            <a:srgbClr val="36429A"/>
          </a:solidFill>
          <a:ln w="22860">
            <a:solidFill>
              <a:srgbClr val="FFC24B"/>
            </a:solidFill>
            <a:prstDash val="solid"/>
          </a:ln>
        </p:spPr>
        <p:txBody>
          <a:bodyPr/>
          <a:lstStyle/>
          <a:p>
            <a:endParaRPr/>
          </a:p>
        </p:txBody>
      </p:sp>
      <p:sp>
        <p:nvSpPr>
          <p:cNvPr id="11" name="Text 9"/>
          <p:cNvSpPr/>
          <p:nvPr/>
        </p:nvSpPr>
        <p:spPr>
          <a:xfrm>
            <a:off x="4349496" y="1581912"/>
            <a:ext cx="1612392" cy="557784"/>
          </a:xfrm>
          <a:prstGeom prst="rect">
            <a:avLst/>
          </a:prstGeom>
          <a:noFill/>
          <a:ln/>
        </p:spPr>
        <p:txBody>
          <a:bodyPr wrap="square" lIns="0" tIns="0" rIns="0" bIns="0" rtlCol="0" anchor="ctr">
            <a:normAutofit/>
          </a:bodyPr>
          <a:lstStyle/>
          <a:p>
            <a:pPr marL="0" indent="0" algn="ctr">
              <a:buNone/>
            </a:pPr>
            <a:r>
              <a:rPr lang="en-US" sz="1100" b="1" dirty="0">
                <a:solidFill>
                  <a:srgbClr val="FFFFFF"/>
                </a:solidFill>
                <a:latin typeface="Noto Sans CJK KR" pitchFamily="34" charset="0"/>
                <a:ea typeface="Noto Sans CJK KR" pitchFamily="34" charset="-122"/>
                <a:cs typeface="Noto Sans CJK KR" pitchFamily="34" charset="-120"/>
              </a:rPr>
              <a:t>3. HTML 시뮬레이터</a:t>
            </a:r>
            <a:endParaRPr lang="en-US" sz="1100" dirty="0"/>
          </a:p>
        </p:txBody>
      </p:sp>
      <p:sp>
        <p:nvSpPr>
          <p:cNvPr id="12" name="Text 10"/>
          <p:cNvSpPr/>
          <p:nvPr/>
        </p:nvSpPr>
        <p:spPr>
          <a:xfrm>
            <a:off x="5998464"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6144768"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14" name="Text 12"/>
          <p:cNvSpPr/>
          <p:nvPr/>
        </p:nvSpPr>
        <p:spPr>
          <a:xfrm>
            <a:off x="6199632"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 결과 관찰</a:t>
            </a:r>
            <a:endParaRPr lang="en-US" sz="1100" dirty="0"/>
          </a:p>
        </p:txBody>
      </p:sp>
      <p:sp>
        <p:nvSpPr>
          <p:cNvPr id="15" name="Text 13"/>
          <p:cNvSpPr/>
          <p:nvPr/>
        </p:nvSpPr>
        <p:spPr>
          <a:xfrm>
            <a:off x="7848600"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7994904"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17" name="Text 15"/>
          <p:cNvSpPr/>
          <p:nvPr/>
        </p:nvSpPr>
        <p:spPr>
          <a:xfrm>
            <a:off x="8049768"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5. 워크시트 채점</a:t>
            </a:r>
            <a:endParaRPr lang="en-US" sz="1100" dirty="0"/>
          </a:p>
        </p:txBody>
      </p:sp>
      <p:sp>
        <p:nvSpPr>
          <p:cNvPr id="18" name="Text 16"/>
          <p:cNvSpPr/>
          <p:nvPr/>
        </p:nvSpPr>
        <p:spPr>
          <a:xfrm>
            <a:off x="9698736" y="157276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9" name="Shape 17"/>
          <p:cNvSpPr/>
          <p:nvPr/>
        </p:nvSpPr>
        <p:spPr>
          <a:xfrm>
            <a:off x="9845040" y="1463040"/>
            <a:ext cx="1722120" cy="777240"/>
          </a:xfrm>
          <a:prstGeom prst="roundRect">
            <a:avLst>
              <a:gd name="adj" fmla="val 4706"/>
            </a:avLst>
          </a:prstGeom>
          <a:solidFill>
            <a:srgbClr val="20295B"/>
          </a:solidFill>
          <a:ln w="12700">
            <a:solidFill>
              <a:srgbClr val="36429A"/>
            </a:solidFill>
            <a:prstDash val="solid"/>
          </a:ln>
        </p:spPr>
        <p:txBody>
          <a:bodyPr/>
          <a:lstStyle/>
          <a:p>
            <a:endParaRPr/>
          </a:p>
        </p:txBody>
      </p:sp>
      <p:sp>
        <p:nvSpPr>
          <p:cNvPr id="20" name="Text 18"/>
          <p:cNvSpPr/>
          <p:nvPr/>
        </p:nvSpPr>
        <p:spPr>
          <a:xfrm>
            <a:off x="9899904" y="1581912"/>
            <a:ext cx="1612392" cy="55778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6. 한 문장 설명</a:t>
            </a:r>
            <a:endParaRPr lang="en-US" sz="1100" dirty="0"/>
          </a:p>
        </p:txBody>
      </p:sp>
      <p:sp>
        <p:nvSpPr>
          <p:cNvPr id="21" name="Shape 19"/>
          <p:cNvSpPr/>
          <p:nvPr/>
        </p:nvSpPr>
        <p:spPr>
          <a:xfrm>
            <a:off x="658368" y="2560320"/>
            <a:ext cx="3429000" cy="2103120"/>
          </a:xfrm>
          <a:prstGeom prst="roundRect">
            <a:avLst>
              <a:gd name="adj" fmla="val 3478"/>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2" name="Text 20"/>
          <p:cNvSpPr/>
          <p:nvPr/>
        </p:nvSpPr>
        <p:spPr>
          <a:xfrm>
            <a:off x="822960" y="268833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23" name="Text 21"/>
          <p:cNvSpPr/>
          <p:nvPr/>
        </p:nvSpPr>
        <p:spPr>
          <a:xfrm>
            <a:off x="1207008" y="2706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예측 먼저</a:t>
            </a:r>
            <a:endParaRPr lang="en-US" sz="1500" dirty="0"/>
          </a:p>
        </p:txBody>
      </p:sp>
      <p:sp>
        <p:nvSpPr>
          <p:cNvPr id="24" name="Text 22"/>
          <p:cNvSpPr/>
          <p:nvPr/>
        </p:nvSpPr>
        <p:spPr>
          <a:xfrm>
            <a:off x="841248" y="3090672"/>
            <a:ext cx="3063240" cy="14447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시뮬레이터를 먼저 보면 “봤기 때문에 맞힌 것”인지 “이해해서 예측한 것”인지 구분하기 어렵습니다. 그래서 항상 먼저 적습니다.</a:t>
            </a:r>
            <a:endParaRPr lang="en-US" sz="1150" dirty="0"/>
          </a:p>
        </p:txBody>
      </p:sp>
      <p:sp>
        <p:nvSpPr>
          <p:cNvPr id="25" name="Shape 23"/>
          <p:cNvSpPr/>
          <p:nvPr/>
        </p:nvSpPr>
        <p:spPr>
          <a:xfrm>
            <a:off x="4389120" y="2560320"/>
            <a:ext cx="3429000" cy="2103120"/>
          </a:xfrm>
          <a:prstGeom prst="roundRect">
            <a:avLst>
              <a:gd name="adj" fmla="val 3478"/>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6" name="Text 24"/>
          <p:cNvSpPr/>
          <p:nvPr/>
        </p:nvSpPr>
        <p:spPr>
          <a:xfrm>
            <a:off x="4553712" y="2688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27" name="Text 25"/>
          <p:cNvSpPr/>
          <p:nvPr/>
        </p:nvSpPr>
        <p:spPr>
          <a:xfrm>
            <a:off x="4937760" y="2706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움직임으로 검산</a:t>
            </a:r>
            <a:endParaRPr lang="en-US" sz="1500" dirty="0"/>
          </a:p>
        </p:txBody>
      </p:sp>
      <p:sp>
        <p:nvSpPr>
          <p:cNvPr id="28" name="Text 26"/>
          <p:cNvSpPr/>
          <p:nvPr/>
        </p:nvSpPr>
        <p:spPr>
          <a:xfrm>
            <a:off x="4572000" y="3090672"/>
            <a:ext cx="3063240" cy="14447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프로세스 이동, Page In, Packet 재전송처럼 정적인 그림으로 이해하기 어려운 개념은 HTML에서 상태 변화로 확인합니다.</a:t>
            </a:r>
            <a:endParaRPr lang="en-US" sz="1150" dirty="0"/>
          </a:p>
        </p:txBody>
      </p:sp>
      <p:sp>
        <p:nvSpPr>
          <p:cNvPr id="29" name="Shape 27"/>
          <p:cNvSpPr/>
          <p:nvPr/>
        </p:nvSpPr>
        <p:spPr>
          <a:xfrm>
            <a:off x="8119872" y="2560320"/>
            <a:ext cx="3429000" cy="2103120"/>
          </a:xfrm>
          <a:prstGeom prst="roundRect">
            <a:avLst>
              <a:gd name="adj" fmla="val 3478"/>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30" name="Text 28"/>
          <p:cNvSpPr/>
          <p:nvPr/>
        </p:nvSpPr>
        <p:spPr>
          <a:xfrm>
            <a:off x="8284464" y="2688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31" name="Text 29"/>
          <p:cNvSpPr/>
          <p:nvPr/>
        </p:nvSpPr>
        <p:spPr>
          <a:xfrm>
            <a:off x="8668512" y="2706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오답은 학습 증거</a:t>
            </a:r>
            <a:endParaRPr lang="en-US" sz="1500" dirty="0"/>
          </a:p>
        </p:txBody>
      </p:sp>
      <p:sp>
        <p:nvSpPr>
          <p:cNvPr id="32" name="Text 30"/>
          <p:cNvSpPr/>
          <p:nvPr/>
        </p:nvSpPr>
        <p:spPr>
          <a:xfrm>
            <a:off x="8302752" y="3090672"/>
            <a:ext cx="3063240" cy="14447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워크시트 채점 시 틀린 칸 옆에 정답이 표시되고 예측은 잠깁니다. 틀린 답을 지우지 않아 생각의 변화를 남깁니다.</a:t>
            </a:r>
            <a:endParaRPr lang="en-US" sz="1150" dirty="0"/>
          </a:p>
        </p:txBody>
      </p:sp>
      <p:sp>
        <p:nvSpPr>
          <p:cNvPr id="33" name="Text 31"/>
          <p:cNvSpPr/>
          <p:nvPr/>
        </p:nvSpPr>
        <p:spPr>
          <a:xfrm>
            <a:off x="685800" y="5074920"/>
            <a:ext cx="192024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배포 파일 권장 구성</a:t>
            </a:r>
            <a:endParaRPr lang="en-US" sz="1400" dirty="0"/>
          </a:p>
        </p:txBody>
      </p:sp>
      <p:sp>
        <p:nvSpPr>
          <p:cNvPr id="34" name="Text 32"/>
          <p:cNvSpPr/>
          <p:nvPr/>
        </p:nvSpPr>
        <p:spPr>
          <a:xfrm>
            <a:off x="2743200" y="5047488"/>
            <a:ext cx="8778240" cy="347472"/>
          </a:xfrm>
          <a:prstGeom prst="rect">
            <a:avLst/>
          </a:prstGeom>
          <a:noFill/>
          <a:ln/>
        </p:spPr>
        <p:txBody>
          <a:bodyPr wrap="square" lIns="0" tIns="0" rIns="0" bIns="0" rtlCol="0" anchor="ctr"/>
          <a:lstStyle/>
          <a:p>
            <a:pPr marL="0" indent="0">
              <a:buNone/>
            </a:pPr>
            <a:r>
              <a:rPr lang="en-US" sz="1350" dirty="0">
                <a:solidFill>
                  <a:srgbClr val="CADCFC"/>
                </a:solidFill>
                <a:latin typeface="Noto Sans CJK KR" pitchFamily="34" charset="0"/>
                <a:ea typeface="Noto Sans CJK KR" pitchFamily="34" charset="-122"/>
                <a:cs typeface="Noto Sans CJK KR" pitchFamily="34" charset="-120"/>
              </a:rPr>
              <a:t>PPTX + HTML 시뮬레이터 + HTML 디지털 워크시트를 같은 폴더에서 운영</a:t>
            </a:r>
            <a:endParaRPr lang="en-US" sz="1350" dirty="0"/>
          </a:p>
        </p:txBody>
      </p:sp>
      <p:sp>
        <p:nvSpPr>
          <p:cNvPr id="37"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a:t>
            </a:fld>
            <a:endParaRPr lang="en-US"/>
          </a:p>
        </p:txBody>
      </p:sp>
      <p:sp>
        <p:nvSpPr>
          <p:cNvPr id="35" name="Rounded Rectangle 34"/>
          <p:cNvSpPr/>
          <p:nvPr/>
        </p:nvSpPr>
        <p:spPr>
          <a:xfrm>
            <a:off x="8366760" y="5074920"/>
            <a:ext cx="2926080" cy="457200"/>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485632" y="5202936"/>
            <a:ext cx="2688336" cy="182880"/>
          </a:xfrm>
          <a:prstGeom prst="rect">
            <a:avLst/>
          </a:prstGeom>
          <a:noFill/>
        </p:spPr>
        <p:txBody>
          <a:bodyPr wrap="none" lIns="0" tIns="0" rIns="0" bIns="0" anchor="t">
            <a:spAutoFit/>
          </a:bodyPr>
          <a:lstStyle/>
          <a:p>
            <a:pPr algn="ctr"/>
            <a:r>
              <a:rPr sz="1050" b="1">
                <a:solidFill>
                  <a:srgbClr val="7BE0AD"/>
                </a:solidFill>
                <a:latin typeface="Noto Sans CJK KR"/>
              </a:rPr>
              <a:t>추가: 개념 → 워크플로우 → 애니메이션</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운영체제 활용 24H</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3일 × 8시간 전체 로드맵</a:t>
            </a:r>
            <a:endParaRPr lang="en-US" sz="2800" dirty="0"/>
          </a:p>
        </p:txBody>
      </p:sp>
      <p:sp>
        <p:nvSpPr>
          <p:cNvPr id="4" name="Shape 2"/>
          <p:cNvSpPr/>
          <p:nvPr/>
        </p:nvSpPr>
        <p:spPr>
          <a:xfrm>
            <a:off x="685800" y="1371600"/>
            <a:ext cx="3401568" cy="4160520"/>
          </a:xfrm>
          <a:prstGeom prst="roundRect">
            <a:avLst>
              <a:gd name="adj" fmla="val 2151"/>
            </a:avLst>
          </a:prstGeom>
          <a:solidFill>
            <a:srgbClr val="2A3578"/>
          </a:solidFill>
          <a:ln w="19050">
            <a:solidFill>
              <a:srgbClr val="5EC8FF"/>
            </a:solidFill>
            <a:prstDash val="solid"/>
          </a:ln>
        </p:spPr>
        <p:txBody>
          <a:bodyPr/>
          <a:lstStyle/>
          <a:p>
            <a:endParaRPr/>
          </a:p>
        </p:txBody>
      </p:sp>
      <p:sp>
        <p:nvSpPr>
          <p:cNvPr id="5" name="Text 3"/>
          <p:cNvSpPr/>
          <p:nvPr/>
        </p:nvSpPr>
        <p:spPr>
          <a:xfrm>
            <a:off x="914400" y="1645920"/>
            <a:ext cx="2926080" cy="457200"/>
          </a:xfrm>
          <a:prstGeom prst="rect">
            <a:avLst/>
          </a:prstGeom>
          <a:noFill/>
          <a:ln/>
        </p:spPr>
        <p:txBody>
          <a:bodyPr wrap="square" lIns="0" tIns="0" rIns="0" bIns="0" rtlCol="0" anchor="ctr"/>
          <a:lstStyle/>
          <a:p>
            <a:pPr marL="0" indent="0" algn="ctr">
              <a:buNone/>
            </a:pPr>
            <a:r>
              <a:rPr lang="en-US" sz="2600" b="1" dirty="0">
                <a:solidFill>
                  <a:srgbClr val="5EC8FF"/>
                </a:solidFill>
                <a:latin typeface="Noto Sans CJK KR" pitchFamily="34" charset="0"/>
                <a:ea typeface="Noto Sans CJK KR" pitchFamily="34" charset="-122"/>
                <a:cs typeface="Noto Sans CJK KR" pitchFamily="34" charset="-120"/>
              </a:rPr>
              <a:t>DAY 1</a:t>
            </a:r>
            <a:endParaRPr lang="en-US" sz="2600" dirty="0"/>
          </a:p>
        </p:txBody>
      </p:sp>
      <p:sp>
        <p:nvSpPr>
          <p:cNvPr id="6" name="Text 4"/>
          <p:cNvSpPr/>
          <p:nvPr/>
        </p:nvSpPr>
        <p:spPr>
          <a:xfrm>
            <a:off x="914400" y="2240280"/>
            <a:ext cx="29260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기본 구조와 실행</a:t>
            </a:r>
            <a:endParaRPr lang="en-US" sz="1400" dirty="0"/>
          </a:p>
        </p:txBody>
      </p:sp>
      <p:sp>
        <p:nvSpPr>
          <p:cNvPr id="7" name="Text 5"/>
          <p:cNvSpPr/>
          <p:nvPr/>
        </p:nvSpPr>
        <p:spPr>
          <a:xfrm>
            <a:off x="960120" y="2788920"/>
            <a:ext cx="2834640" cy="2057400"/>
          </a:xfrm>
          <a:prstGeom prst="rect">
            <a:avLst/>
          </a:prstGeom>
          <a:noFill/>
          <a:ln/>
        </p:spPr>
        <p:txBody>
          <a:bodyPr wrap="square" lIns="0" tIns="0" rIns="0" bIns="0" rtlCol="0" anchor="ctr">
            <a:normAutofit/>
          </a:bodyPr>
          <a:lstStyle/>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C01 운영체제 개요</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C02 Linux 운영환경</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C03 프로세스와 스레드</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C04 CPU 스케줄링</a:t>
            </a:r>
            <a:endParaRPr lang="en-US" sz="1420" dirty="0"/>
          </a:p>
        </p:txBody>
      </p:sp>
      <p:sp>
        <p:nvSpPr>
          <p:cNvPr id="8" name="Text 6"/>
          <p:cNvSpPr/>
          <p:nvPr/>
        </p:nvSpPr>
        <p:spPr>
          <a:xfrm>
            <a:off x="1234440" y="4983480"/>
            <a:ext cx="2286000" cy="274320"/>
          </a:xfrm>
          <a:prstGeom prst="rect">
            <a:avLst/>
          </a:prstGeom>
          <a:noFill/>
          <a:ln/>
        </p:spPr>
        <p:txBody>
          <a:bodyPr wrap="square" lIns="0" tIns="0" rIns="0" bIns="0" rtlCol="0" anchor="ctr"/>
          <a:lstStyle/>
          <a:p>
            <a:pPr marL="0" indent="0" algn="ctr">
              <a:buNone/>
            </a:pPr>
            <a:r>
              <a:rPr lang="en-US" sz="1200" b="1" dirty="0">
                <a:solidFill>
                  <a:srgbClr val="A8B9DE"/>
                </a:solidFill>
                <a:latin typeface="Noto Sans CJK KR" pitchFamily="34" charset="0"/>
                <a:ea typeface="Noto Sans CJK KR" pitchFamily="34" charset="-122"/>
                <a:cs typeface="Noto Sans CJK KR" pitchFamily="34" charset="-120"/>
              </a:rPr>
              <a:t>8 HOURS</a:t>
            </a:r>
            <a:endParaRPr lang="en-US" sz="1200" dirty="0"/>
          </a:p>
        </p:txBody>
      </p:sp>
      <p:sp>
        <p:nvSpPr>
          <p:cNvPr id="9" name="Shape 7"/>
          <p:cNvSpPr/>
          <p:nvPr/>
        </p:nvSpPr>
        <p:spPr>
          <a:xfrm>
            <a:off x="4434840" y="1371600"/>
            <a:ext cx="3401568" cy="4160520"/>
          </a:xfrm>
          <a:prstGeom prst="roundRect">
            <a:avLst>
              <a:gd name="adj" fmla="val 2151"/>
            </a:avLst>
          </a:prstGeom>
          <a:solidFill>
            <a:srgbClr val="2A3578"/>
          </a:solidFill>
          <a:ln w="19050">
            <a:solidFill>
              <a:srgbClr val="FFC24B"/>
            </a:solidFill>
            <a:prstDash val="solid"/>
          </a:ln>
        </p:spPr>
        <p:txBody>
          <a:bodyPr/>
          <a:lstStyle/>
          <a:p>
            <a:endParaRPr/>
          </a:p>
        </p:txBody>
      </p:sp>
      <p:sp>
        <p:nvSpPr>
          <p:cNvPr id="10" name="Text 8"/>
          <p:cNvSpPr/>
          <p:nvPr/>
        </p:nvSpPr>
        <p:spPr>
          <a:xfrm>
            <a:off x="4663440" y="1645920"/>
            <a:ext cx="2926080" cy="457200"/>
          </a:xfrm>
          <a:prstGeom prst="rect">
            <a:avLst/>
          </a:prstGeom>
          <a:noFill/>
          <a:ln/>
        </p:spPr>
        <p:txBody>
          <a:bodyPr wrap="square" lIns="0" tIns="0" rIns="0" bIns="0" rtlCol="0" anchor="ctr"/>
          <a:lstStyle/>
          <a:p>
            <a:pPr marL="0" indent="0" algn="ctr">
              <a:buNone/>
            </a:pPr>
            <a:r>
              <a:rPr lang="en-US" sz="2600" b="1" dirty="0">
                <a:solidFill>
                  <a:srgbClr val="FFC24B"/>
                </a:solidFill>
                <a:latin typeface="Noto Sans CJK KR" pitchFamily="34" charset="0"/>
                <a:ea typeface="Noto Sans CJK KR" pitchFamily="34" charset="-122"/>
                <a:cs typeface="Noto Sans CJK KR" pitchFamily="34" charset="-120"/>
              </a:rPr>
              <a:t>DAY 2</a:t>
            </a:r>
            <a:endParaRPr lang="en-US" sz="2600" dirty="0"/>
          </a:p>
        </p:txBody>
      </p:sp>
      <p:sp>
        <p:nvSpPr>
          <p:cNvPr id="11" name="Text 9"/>
          <p:cNvSpPr/>
          <p:nvPr/>
        </p:nvSpPr>
        <p:spPr>
          <a:xfrm>
            <a:off x="4663440" y="2240280"/>
            <a:ext cx="29260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메모리·파일·장치</a:t>
            </a:r>
            <a:endParaRPr lang="en-US" sz="1400" dirty="0"/>
          </a:p>
        </p:txBody>
      </p:sp>
      <p:sp>
        <p:nvSpPr>
          <p:cNvPr id="12" name="Text 10"/>
          <p:cNvSpPr/>
          <p:nvPr/>
        </p:nvSpPr>
        <p:spPr>
          <a:xfrm>
            <a:off x="4709160" y="2788920"/>
            <a:ext cx="2834640" cy="2057400"/>
          </a:xfrm>
          <a:prstGeom prst="rect">
            <a:avLst/>
          </a:prstGeom>
          <a:noFill/>
          <a:ln/>
        </p:spPr>
        <p:txBody>
          <a:bodyPr wrap="square" lIns="0" tIns="0" rIns="0" bIns="0" rtlCol="0" anchor="ctr">
            <a:normAutofit/>
          </a:bodyPr>
          <a:lstStyle/>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C05 메모리 관리</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C06 파일시스템</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C07 장치와 I/O</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C08 시스템 콜과 실행</a:t>
            </a:r>
            <a:endParaRPr lang="en-US" sz="1420" dirty="0"/>
          </a:p>
        </p:txBody>
      </p:sp>
      <p:sp>
        <p:nvSpPr>
          <p:cNvPr id="13" name="Text 11"/>
          <p:cNvSpPr/>
          <p:nvPr/>
        </p:nvSpPr>
        <p:spPr>
          <a:xfrm>
            <a:off x="4983480" y="4983480"/>
            <a:ext cx="2286000" cy="274320"/>
          </a:xfrm>
          <a:prstGeom prst="rect">
            <a:avLst/>
          </a:prstGeom>
          <a:noFill/>
          <a:ln/>
        </p:spPr>
        <p:txBody>
          <a:bodyPr wrap="square" lIns="0" tIns="0" rIns="0" bIns="0" rtlCol="0" anchor="ctr"/>
          <a:lstStyle/>
          <a:p>
            <a:pPr marL="0" indent="0" algn="ctr">
              <a:buNone/>
            </a:pPr>
            <a:r>
              <a:rPr lang="en-US" sz="1200" b="1" dirty="0">
                <a:solidFill>
                  <a:srgbClr val="A8B9DE"/>
                </a:solidFill>
                <a:latin typeface="Noto Sans CJK KR" pitchFamily="34" charset="0"/>
                <a:ea typeface="Noto Sans CJK KR" pitchFamily="34" charset="-122"/>
                <a:cs typeface="Noto Sans CJK KR" pitchFamily="34" charset="-120"/>
              </a:rPr>
              <a:t>8 HOURS</a:t>
            </a:r>
            <a:endParaRPr lang="en-US" sz="1200" dirty="0"/>
          </a:p>
        </p:txBody>
      </p:sp>
      <p:sp>
        <p:nvSpPr>
          <p:cNvPr id="14" name="Shape 12"/>
          <p:cNvSpPr/>
          <p:nvPr/>
        </p:nvSpPr>
        <p:spPr>
          <a:xfrm>
            <a:off x="8183880" y="1371600"/>
            <a:ext cx="3401568" cy="4160520"/>
          </a:xfrm>
          <a:prstGeom prst="roundRect">
            <a:avLst>
              <a:gd name="adj" fmla="val 2151"/>
            </a:avLst>
          </a:prstGeom>
          <a:solidFill>
            <a:srgbClr val="2A3578"/>
          </a:solidFill>
          <a:ln w="19050">
            <a:solidFill>
              <a:srgbClr val="7BE0AD"/>
            </a:solidFill>
            <a:prstDash val="solid"/>
          </a:ln>
        </p:spPr>
        <p:txBody>
          <a:bodyPr/>
          <a:lstStyle/>
          <a:p>
            <a:endParaRPr/>
          </a:p>
        </p:txBody>
      </p:sp>
      <p:sp>
        <p:nvSpPr>
          <p:cNvPr id="15" name="Text 13"/>
          <p:cNvSpPr/>
          <p:nvPr/>
        </p:nvSpPr>
        <p:spPr>
          <a:xfrm>
            <a:off x="8412480" y="1645920"/>
            <a:ext cx="2926080" cy="457200"/>
          </a:xfrm>
          <a:prstGeom prst="rect">
            <a:avLst/>
          </a:prstGeom>
          <a:noFill/>
          <a:ln/>
        </p:spPr>
        <p:txBody>
          <a:bodyPr wrap="square" lIns="0" tIns="0" rIns="0" bIns="0" rtlCol="0" anchor="ctr"/>
          <a:lstStyle/>
          <a:p>
            <a:pPr marL="0" indent="0" algn="ctr">
              <a:buNone/>
            </a:pPr>
            <a:r>
              <a:rPr lang="en-US" sz="2600" b="1" dirty="0">
                <a:solidFill>
                  <a:srgbClr val="7BE0AD"/>
                </a:solidFill>
                <a:latin typeface="Noto Sans CJK KR" pitchFamily="34" charset="0"/>
                <a:ea typeface="Noto Sans CJK KR" pitchFamily="34" charset="-122"/>
                <a:cs typeface="Noto Sans CJK KR" pitchFamily="34" charset="-120"/>
              </a:rPr>
              <a:t>DAY 3</a:t>
            </a:r>
            <a:endParaRPr lang="en-US" sz="2600" dirty="0"/>
          </a:p>
        </p:txBody>
      </p:sp>
      <p:sp>
        <p:nvSpPr>
          <p:cNvPr id="16" name="Text 14"/>
          <p:cNvSpPr/>
          <p:nvPr/>
        </p:nvSpPr>
        <p:spPr>
          <a:xfrm>
            <a:off x="8412480" y="2240280"/>
            <a:ext cx="292608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Noto Sans CJK KR" pitchFamily="34" charset="0"/>
                <a:ea typeface="Noto Sans CJK KR" pitchFamily="34" charset="-122"/>
                <a:cs typeface="Noto Sans CJK KR" pitchFamily="34" charset="-120"/>
              </a:rPr>
              <a:t>서비스·네트워크·AI·진단</a:t>
            </a:r>
            <a:endParaRPr lang="en-US" sz="1400" dirty="0"/>
          </a:p>
        </p:txBody>
      </p:sp>
      <p:sp>
        <p:nvSpPr>
          <p:cNvPr id="17" name="Text 15"/>
          <p:cNvSpPr/>
          <p:nvPr/>
        </p:nvSpPr>
        <p:spPr>
          <a:xfrm>
            <a:off x="8458200" y="2788920"/>
            <a:ext cx="2834640" cy="2057400"/>
          </a:xfrm>
          <a:prstGeom prst="rect">
            <a:avLst/>
          </a:prstGeom>
          <a:noFill/>
          <a:ln/>
        </p:spPr>
        <p:txBody>
          <a:bodyPr wrap="square" lIns="0" tIns="0" rIns="0" bIns="0" rtlCol="0" anchor="ctr">
            <a:normAutofit/>
          </a:bodyPr>
          <a:lstStyle/>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C09 부팅과 서비스</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C10 네트워크</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C11 온디바이스 AI 자원</a:t>
            </a:r>
            <a:endParaRPr lang="en-US" sz="1420" dirty="0"/>
          </a:p>
          <a:p>
            <a:pPr marL="0" indent="0" algn="ctr">
              <a:buNone/>
            </a:pPr>
            <a:r>
              <a:rPr lang="en-US" sz="1420" dirty="0">
                <a:solidFill>
                  <a:srgbClr val="CADCFC"/>
                </a:solidFill>
                <a:latin typeface="Noto Sans CJK KR" pitchFamily="34" charset="0"/>
                <a:ea typeface="Noto Sans CJK KR" pitchFamily="34" charset="-122"/>
                <a:cs typeface="Noto Sans CJK KR" pitchFamily="34" charset="-120"/>
              </a:rPr>
              <a:t>C12 종합 장애분석</a:t>
            </a:r>
            <a:endParaRPr lang="en-US" sz="1420" dirty="0"/>
          </a:p>
        </p:txBody>
      </p:sp>
      <p:sp>
        <p:nvSpPr>
          <p:cNvPr id="18" name="Text 16"/>
          <p:cNvSpPr/>
          <p:nvPr/>
        </p:nvSpPr>
        <p:spPr>
          <a:xfrm>
            <a:off x="8732520" y="4983480"/>
            <a:ext cx="2286000" cy="274320"/>
          </a:xfrm>
          <a:prstGeom prst="rect">
            <a:avLst/>
          </a:prstGeom>
          <a:noFill/>
          <a:ln/>
        </p:spPr>
        <p:txBody>
          <a:bodyPr wrap="square" lIns="0" tIns="0" rIns="0" bIns="0" rtlCol="0" anchor="ctr"/>
          <a:lstStyle/>
          <a:p>
            <a:pPr marL="0" indent="0" algn="ctr">
              <a:buNone/>
            </a:pPr>
            <a:r>
              <a:rPr lang="en-US" sz="1200" b="1" dirty="0">
                <a:solidFill>
                  <a:srgbClr val="A8B9DE"/>
                </a:solidFill>
                <a:latin typeface="Noto Sans CJK KR" pitchFamily="34" charset="0"/>
                <a:ea typeface="Noto Sans CJK KR" pitchFamily="34" charset="-122"/>
                <a:cs typeface="Noto Sans CJK KR" pitchFamily="34" charset="-120"/>
              </a:rPr>
              <a:t>8 HOURS</a:t>
            </a:r>
            <a:endParaRPr lang="en-US" sz="120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COURSE SCHEDULE</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실제 운영 일정 · 3일 24시간</a:t>
            </a:r>
            <a:endParaRPr lang="en-US" sz="2800" dirty="0"/>
          </a:p>
        </p:txBody>
      </p:sp>
      <p:sp>
        <p:nvSpPr>
          <p:cNvPr id="4" name="Shape 2"/>
          <p:cNvSpPr/>
          <p:nvPr/>
        </p:nvSpPr>
        <p:spPr>
          <a:xfrm>
            <a:off x="713232" y="1417320"/>
            <a:ext cx="10789920" cy="1024128"/>
          </a:xfrm>
          <a:prstGeom prst="roundRect">
            <a:avLst>
              <a:gd name="adj" fmla="val 5357"/>
            </a:avLst>
          </a:prstGeom>
          <a:solidFill>
            <a:srgbClr val="2A3578"/>
          </a:solidFill>
          <a:ln w="15875">
            <a:solidFill>
              <a:srgbClr val="5EC8FF"/>
            </a:solidFill>
            <a:prstDash val="solid"/>
          </a:ln>
        </p:spPr>
        <p:txBody>
          <a:bodyPr/>
          <a:lstStyle/>
          <a:p>
            <a:endParaRPr/>
          </a:p>
        </p:txBody>
      </p:sp>
      <p:sp>
        <p:nvSpPr>
          <p:cNvPr id="5" name="Text 3"/>
          <p:cNvSpPr/>
          <p:nvPr/>
        </p:nvSpPr>
        <p:spPr>
          <a:xfrm>
            <a:off x="932688" y="1664208"/>
            <a:ext cx="1005840" cy="274320"/>
          </a:xfrm>
          <a:prstGeom prst="rect">
            <a:avLst/>
          </a:prstGeom>
          <a:noFill/>
          <a:ln/>
        </p:spPr>
        <p:txBody>
          <a:bodyPr wrap="square" lIns="0" tIns="0" rIns="0" bIns="0" rtlCol="0" anchor="ctr"/>
          <a:lstStyle/>
          <a:p>
            <a:pPr marL="0" indent="0">
              <a:buNone/>
            </a:pPr>
            <a:r>
              <a:rPr lang="en-US" sz="1500" b="1" dirty="0">
                <a:solidFill>
                  <a:srgbClr val="5EC8FF"/>
                </a:solidFill>
                <a:latin typeface="Noto Sans CJK KR" pitchFamily="34" charset="0"/>
                <a:ea typeface="Noto Sans CJK KR" pitchFamily="34" charset="-122"/>
                <a:cs typeface="Noto Sans CJK KR" pitchFamily="34" charset="-120"/>
              </a:rPr>
              <a:t>DAY 1</a:t>
            </a:r>
            <a:endParaRPr lang="en-US" sz="1500" dirty="0"/>
          </a:p>
        </p:txBody>
      </p:sp>
      <p:sp>
        <p:nvSpPr>
          <p:cNvPr id="6" name="Text 4"/>
          <p:cNvSpPr/>
          <p:nvPr/>
        </p:nvSpPr>
        <p:spPr>
          <a:xfrm>
            <a:off x="2057400" y="1664208"/>
            <a:ext cx="182880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2026.08.28 (금)</a:t>
            </a:r>
            <a:endParaRPr lang="en-US" sz="1400" dirty="0"/>
          </a:p>
        </p:txBody>
      </p:sp>
      <p:sp>
        <p:nvSpPr>
          <p:cNvPr id="7" name="Text 5"/>
          <p:cNvSpPr/>
          <p:nvPr/>
        </p:nvSpPr>
        <p:spPr>
          <a:xfrm>
            <a:off x="4160520" y="1609344"/>
            <a:ext cx="6812280" cy="384048"/>
          </a:xfrm>
          <a:prstGeom prst="rect">
            <a:avLst/>
          </a:prstGeom>
          <a:noFill/>
          <a:ln/>
        </p:spPr>
        <p:txBody>
          <a:bodyPr wrap="square" lIns="0" tIns="0" rIns="0" bIns="0"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운영체제 개요 · Linux 환경 · Process/Thread · Scheduling</a:t>
            </a:r>
            <a:endParaRPr lang="en-US" sz="1330" dirty="0"/>
          </a:p>
        </p:txBody>
      </p:sp>
      <p:sp>
        <p:nvSpPr>
          <p:cNvPr id="8" name="Text 6"/>
          <p:cNvSpPr/>
          <p:nvPr/>
        </p:nvSpPr>
        <p:spPr>
          <a:xfrm>
            <a:off x="10808208" y="1673352"/>
            <a:ext cx="438912" cy="201168"/>
          </a:xfrm>
          <a:prstGeom prst="rect">
            <a:avLst/>
          </a:prstGeom>
          <a:noFill/>
          <a:ln/>
        </p:spPr>
        <p:txBody>
          <a:bodyPr wrap="square" lIns="0" tIns="0" rIns="0" bIns="0" rtlCol="0" anchor="ctr"/>
          <a:lstStyle/>
          <a:p>
            <a:pPr marL="0" indent="0" algn="r">
              <a:buNone/>
            </a:pPr>
            <a:r>
              <a:rPr lang="en-US" sz="1100" b="1" dirty="0">
                <a:solidFill>
                  <a:srgbClr val="A8B9DE"/>
                </a:solidFill>
                <a:latin typeface="Noto Sans CJK KR" pitchFamily="34" charset="0"/>
                <a:ea typeface="Noto Sans CJK KR" pitchFamily="34" charset="-122"/>
                <a:cs typeface="Noto Sans CJK KR" pitchFamily="34" charset="-120"/>
              </a:rPr>
              <a:t>8H</a:t>
            </a:r>
            <a:endParaRPr lang="en-US" sz="1100" dirty="0"/>
          </a:p>
        </p:txBody>
      </p:sp>
      <p:sp>
        <p:nvSpPr>
          <p:cNvPr id="9" name="Shape 7"/>
          <p:cNvSpPr/>
          <p:nvPr/>
        </p:nvSpPr>
        <p:spPr>
          <a:xfrm>
            <a:off x="713232" y="2743200"/>
            <a:ext cx="10789920" cy="1024128"/>
          </a:xfrm>
          <a:prstGeom prst="roundRect">
            <a:avLst>
              <a:gd name="adj" fmla="val 5357"/>
            </a:avLst>
          </a:prstGeom>
          <a:solidFill>
            <a:srgbClr val="2A3578"/>
          </a:solidFill>
          <a:ln w="15875">
            <a:solidFill>
              <a:srgbClr val="FFC24B"/>
            </a:solidFill>
            <a:prstDash val="solid"/>
          </a:ln>
        </p:spPr>
        <p:txBody>
          <a:bodyPr/>
          <a:lstStyle/>
          <a:p>
            <a:endParaRPr/>
          </a:p>
        </p:txBody>
      </p:sp>
      <p:sp>
        <p:nvSpPr>
          <p:cNvPr id="10" name="Text 8"/>
          <p:cNvSpPr/>
          <p:nvPr/>
        </p:nvSpPr>
        <p:spPr>
          <a:xfrm>
            <a:off x="932688" y="2990088"/>
            <a:ext cx="1005840" cy="274320"/>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DAY 2</a:t>
            </a:r>
            <a:endParaRPr lang="en-US" sz="1500" dirty="0"/>
          </a:p>
        </p:txBody>
      </p:sp>
      <p:sp>
        <p:nvSpPr>
          <p:cNvPr id="11" name="Text 9"/>
          <p:cNvSpPr/>
          <p:nvPr/>
        </p:nvSpPr>
        <p:spPr>
          <a:xfrm>
            <a:off x="2057400" y="2990088"/>
            <a:ext cx="182880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2026.08.31 (월)</a:t>
            </a:r>
            <a:endParaRPr lang="en-US" sz="1400" dirty="0"/>
          </a:p>
        </p:txBody>
      </p:sp>
      <p:sp>
        <p:nvSpPr>
          <p:cNvPr id="12" name="Text 10"/>
          <p:cNvSpPr/>
          <p:nvPr/>
        </p:nvSpPr>
        <p:spPr>
          <a:xfrm>
            <a:off x="4160520" y="2935224"/>
            <a:ext cx="6812280" cy="384048"/>
          </a:xfrm>
          <a:prstGeom prst="rect">
            <a:avLst/>
          </a:prstGeom>
          <a:noFill/>
          <a:ln/>
        </p:spPr>
        <p:txBody>
          <a:bodyPr wrap="square" lIns="0" tIns="0" rIns="0" bIns="0"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Memory · Filesystem · Device I/O · System Call</a:t>
            </a:r>
            <a:endParaRPr lang="en-US" sz="1330" dirty="0"/>
          </a:p>
        </p:txBody>
      </p:sp>
      <p:sp>
        <p:nvSpPr>
          <p:cNvPr id="13" name="Text 11"/>
          <p:cNvSpPr/>
          <p:nvPr/>
        </p:nvSpPr>
        <p:spPr>
          <a:xfrm>
            <a:off x="10808208" y="2999232"/>
            <a:ext cx="438912" cy="201168"/>
          </a:xfrm>
          <a:prstGeom prst="rect">
            <a:avLst/>
          </a:prstGeom>
          <a:noFill/>
          <a:ln/>
        </p:spPr>
        <p:txBody>
          <a:bodyPr wrap="square" lIns="0" tIns="0" rIns="0" bIns="0" rtlCol="0" anchor="ctr"/>
          <a:lstStyle/>
          <a:p>
            <a:pPr marL="0" indent="0" algn="r">
              <a:buNone/>
            </a:pPr>
            <a:r>
              <a:rPr lang="en-US" sz="1100" b="1" dirty="0">
                <a:solidFill>
                  <a:srgbClr val="A8B9DE"/>
                </a:solidFill>
                <a:latin typeface="Noto Sans CJK KR" pitchFamily="34" charset="0"/>
                <a:ea typeface="Noto Sans CJK KR" pitchFamily="34" charset="-122"/>
                <a:cs typeface="Noto Sans CJK KR" pitchFamily="34" charset="-120"/>
              </a:rPr>
              <a:t>8H</a:t>
            </a:r>
            <a:endParaRPr lang="en-US" sz="1100" dirty="0"/>
          </a:p>
        </p:txBody>
      </p:sp>
      <p:sp>
        <p:nvSpPr>
          <p:cNvPr id="14" name="Shape 12"/>
          <p:cNvSpPr/>
          <p:nvPr/>
        </p:nvSpPr>
        <p:spPr>
          <a:xfrm>
            <a:off x="713232" y="4069080"/>
            <a:ext cx="10789920" cy="1024128"/>
          </a:xfrm>
          <a:prstGeom prst="roundRect">
            <a:avLst>
              <a:gd name="adj" fmla="val 5357"/>
            </a:avLst>
          </a:prstGeom>
          <a:solidFill>
            <a:srgbClr val="2A3578"/>
          </a:solidFill>
          <a:ln w="15875">
            <a:solidFill>
              <a:srgbClr val="7BE0AD"/>
            </a:solidFill>
            <a:prstDash val="solid"/>
          </a:ln>
        </p:spPr>
        <p:txBody>
          <a:bodyPr/>
          <a:lstStyle/>
          <a:p>
            <a:endParaRPr/>
          </a:p>
        </p:txBody>
      </p:sp>
      <p:sp>
        <p:nvSpPr>
          <p:cNvPr id="15" name="Text 13"/>
          <p:cNvSpPr/>
          <p:nvPr/>
        </p:nvSpPr>
        <p:spPr>
          <a:xfrm>
            <a:off x="932688" y="4315968"/>
            <a:ext cx="1005840" cy="274320"/>
          </a:xfrm>
          <a:prstGeom prst="rect">
            <a:avLst/>
          </a:prstGeom>
          <a:noFill/>
          <a:ln/>
        </p:spPr>
        <p:txBody>
          <a:bodyPr wrap="square" lIns="0" tIns="0" rIns="0" bIns="0" rtlCol="0" anchor="ctr"/>
          <a:lstStyle/>
          <a:p>
            <a:pPr marL="0" indent="0">
              <a:buNone/>
            </a:pPr>
            <a:r>
              <a:rPr lang="en-US" sz="1500" b="1" dirty="0">
                <a:solidFill>
                  <a:srgbClr val="7BE0AD"/>
                </a:solidFill>
                <a:latin typeface="Noto Sans CJK KR" pitchFamily="34" charset="0"/>
                <a:ea typeface="Noto Sans CJK KR" pitchFamily="34" charset="-122"/>
                <a:cs typeface="Noto Sans CJK KR" pitchFamily="34" charset="-120"/>
              </a:rPr>
              <a:t>DAY 3</a:t>
            </a:r>
            <a:endParaRPr lang="en-US" sz="1500" dirty="0"/>
          </a:p>
        </p:txBody>
      </p:sp>
      <p:sp>
        <p:nvSpPr>
          <p:cNvPr id="16" name="Text 14"/>
          <p:cNvSpPr/>
          <p:nvPr/>
        </p:nvSpPr>
        <p:spPr>
          <a:xfrm>
            <a:off x="2057400" y="4315968"/>
            <a:ext cx="1828800" cy="274320"/>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2026.09.01 (화)</a:t>
            </a:r>
            <a:endParaRPr lang="en-US" sz="1400" dirty="0"/>
          </a:p>
        </p:txBody>
      </p:sp>
      <p:sp>
        <p:nvSpPr>
          <p:cNvPr id="17" name="Text 15"/>
          <p:cNvSpPr/>
          <p:nvPr/>
        </p:nvSpPr>
        <p:spPr>
          <a:xfrm>
            <a:off x="4160520" y="4261104"/>
            <a:ext cx="6812280" cy="384048"/>
          </a:xfrm>
          <a:prstGeom prst="rect">
            <a:avLst/>
          </a:prstGeom>
          <a:noFill/>
          <a:ln/>
        </p:spPr>
        <p:txBody>
          <a:bodyPr wrap="square" lIns="0" tIns="0" rIns="0" bIns="0"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Boot/Service · Network · On-device AI · Troubleshooting</a:t>
            </a:r>
            <a:endParaRPr lang="en-US" sz="1330" dirty="0"/>
          </a:p>
        </p:txBody>
      </p:sp>
      <p:sp>
        <p:nvSpPr>
          <p:cNvPr id="18" name="Text 16"/>
          <p:cNvSpPr/>
          <p:nvPr/>
        </p:nvSpPr>
        <p:spPr>
          <a:xfrm>
            <a:off x="10808208" y="4325112"/>
            <a:ext cx="438912" cy="201168"/>
          </a:xfrm>
          <a:prstGeom prst="rect">
            <a:avLst/>
          </a:prstGeom>
          <a:noFill/>
          <a:ln/>
        </p:spPr>
        <p:txBody>
          <a:bodyPr wrap="square" lIns="0" tIns="0" rIns="0" bIns="0" rtlCol="0" anchor="ctr"/>
          <a:lstStyle/>
          <a:p>
            <a:pPr marL="0" indent="0" algn="r">
              <a:buNone/>
            </a:pPr>
            <a:r>
              <a:rPr lang="en-US" sz="1100" b="1" dirty="0">
                <a:solidFill>
                  <a:srgbClr val="A8B9DE"/>
                </a:solidFill>
                <a:latin typeface="Noto Sans CJK KR" pitchFamily="34" charset="0"/>
                <a:ea typeface="Noto Sans CJK KR" pitchFamily="34" charset="-122"/>
                <a:cs typeface="Noto Sans CJK KR" pitchFamily="34" charset="-120"/>
              </a:rPr>
              <a:t>8H</a:t>
            </a:r>
            <a:endParaRPr lang="en-US" sz="1100" dirty="0"/>
          </a:p>
        </p:txBody>
      </p:sp>
      <p:sp>
        <p:nvSpPr>
          <p:cNvPr id="19" name="Text 17"/>
          <p:cNvSpPr/>
          <p:nvPr/>
        </p:nvSpPr>
        <p:spPr>
          <a:xfrm>
            <a:off x="822960" y="5669280"/>
            <a:ext cx="3840480" cy="256032"/>
          </a:xfrm>
          <a:prstGeom prst="rect">
            <a:avLst/>
          </a:prstGeom>
          <a:noFill/>
          <a:ln/>
        </p:spPr>
        <p:txBody>
          <a:bodyPr wrap="square" lIns="0" tIns="0" rIns="0" bIns="0" rtlCol="0" anchor="ctr"/>
          <a:lstStyle/>
          <a:p>
            <a:pPr marL="0" indent="0">
              <a:buNone/>
            </a:pPr>
            <a:r>
              <a:rPr lang="en-US" sz="1250" b="1" dirty="0">
                <a:solidFill>
                  <a:srgbClr val="FFFFFF"/>
                </a:solidFill>
                <a:latin typeface="Noto Sans CJK KR" pitchFamily="34" charset="0"/>
                <a:ea typeface="Noto Sans CJK KR" pitchFamily="34" charset="-122"/>
                <a:cs typeface="Noto Sans CJK KR" pitchFamily="34" charset="-120"/>
              </a:rPr>
              <a:t>주강사  홍길동   ·   보조강사  성춘향</a:t>
            </a:r>
            <a:endParaRPr lang="en-US" sz="1250" dirty="0"/>
          </a:p>
        </p:txBody>
      </p:sp>
      <p:sp>
        <p:nvSpPr>
          <p:cNvPr id="20" name="Text 18"/>
          <p:cNvSpPr/>
          <p:nvPr/>
        </p:nvSpPr>
        <p:spPr>
          <a:xfrm>
            <a:off x="6080760" y="5650992"/>
            <a:ext cx="5074920" cy="274320"/>
          </a:xfrm>
          <a:prstGeom prst="rect">
            <a:avLst/>
          </a:prstGeom>
          <a:noFill/>
          <a:ln/>
        </p:spPr>
        <p:txBody>
          <a:bodyPr wrap="square" lIns="0" tIns="0" rIns="0" bIns="0" rtlCol="0" anchor="ctr"/>
          <a:lstStyle/>
          <a:p>
            <a:pPr marL="0" indent="0" algn="r">
              <a:buNone/>
            </a:pPr>
            <a:r>
              <a:rPr lang="en-US" sz="1250" b="1" dirty="0">
                <a:solidFill>
                  <a:srgbClr val="FFC24B"/>
                </a:solidFill>
                <a:latin typeface="Noto Sans CJK KR" pitchFamily="34" charset="0"/>
                <a:ea typeface="Noto Sans CJK KR" pitchFamily="34" charset="-122"/>
                <a:cs typeface="Noto Sans CJK KR" pitchFamily="34" charset="-120"/>
              </a:rPr>
              <a:t>운영체제 활용 24H는 일정표상 3일 × 8시간으로 편성</a:t>
            </a:r>
            <a:endParaRPr lang="en-US" sz="12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COURSE MATERIALS</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교재 · 시뮬레이터 · 워크시트 구성</a:t>
            </a:r>
            <a:endParaRPr lang="en-US" sz="2800" dirty="0"/>
          </a:p>
        </p:txBody>
      </p:sp>
      <p:sp>
        <p:nvSpPr>
          <p:cNvPr id="4" name="Shape 2"/>
          <p:cNvSpPr/>
          <p:nvPr/>
        </p:nvSpPr>
        <p:spPr>
          <a:xfrm>
            <a:off x="658368" y="1417320"/>
            <a:ext cx="3429000" cy="1874520"/>
          </a:xfrm>
          <a:prstGeom prst="roundRect">
            <a:avLst>
              <a:gd name="adj" fmla="val 3902"/>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5" name="Text 3"/>
          <p:cNvSpPr/>
          <p:nvPr/>
        </p:nvSpPr>
        <p:spPr>
          <a:xfrm>
            <a:off x="822960" y="15453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6" name="Text 4"/>
          <p:cNvSpPr/>
          <p:nvPr/>
        </p:nvSpPr>
        <p:spPr>
          <a:xfrm>
            <a:off x="1207008"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참고 교재</a:t>
            </a:r>
            <a:endParaRPr lang="en-US" sz="1500" dirty="0"/>
          </a:p>
        </p:txBody>
      </p:sp>
      <p:sp>
        <p:nvSpPr>
          <p:cNvPr id="7" name="Text 5"/>
          <p:cNvSpPr/>
          <p:nvPr/>
        </p:nvSpPr>
        <p:spPr>
          <a:xfrm>
            <a:off x="841248" y="1947672"/>
            <a:ext cx="3063240" cy="12161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「엣지 AI 임베디드 시스템으로 현실 문제를 해결하는」</a:t>
            </a: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운영체제 개념을 온디바이스/임베디드 흐름과 연결할 때 참고</a:t>
            </a:r>
            <a:endParaRPr lang="en-US" sz="1150" dirty="0"/>
          </a:p>
        </p:txBody>
      </p:sp>
      <p:sp>
        <p:nvSpPr>
          <p:cNvPr id="8" name="Shape 6"/>
          <p:cNvSpPr/>
          <p:nvPr/>
        </p:nvSpPr>
        <p:spPr>
          <a:xfrm>
            <a:off x="4389120" y="1417320"/>
            <a:ext cx="3429000" cy="1874520"/>
          </a:xfrm>
          <a:prstGeom prst="roundRect">
            <a:avLst>
              <a:gd name="adj" fmla="val 3902"/>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553712" y="154533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a:t>
            </a:r>
            <a:endParaRPr lang="en-US" sz="1900" dirty="0"/>
          </a:p>
        </p:txBody>
      </p:sp>
      <p:sp>
        <p:nvSpPr>
          <p:cNvPr id="10" name="Text 8"/>
          <p:cNvSpPr/>
          <p:nvPr/>
        </p:nvSpPr>
        <p:spPr>
          <a:xfrm>
            <a:off x="4937760"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HTML 시뮬레이터</a:t>
            </a:r>
            <a:endParaRPr lang="en-US" sz="1500" dirty="0"/>
          </a:p>
        </p:txBody>
      </p:sp>
      <p:sp>
        <p:nvSpPr>
          <p:cNvPr id="11" name="Text 9"/>
          <p:cNvSpPr/>
          <p:nvPr/>
        </p:nvSpPr>
        <p:spPr>
          <a:xfrm>
            <a:off x="4572000" y="1947672"/>
            <a:ext cx="3063240" cy="12161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12개 챕터 핵심 개념을 직접 조작하고 상태 변화를 관찰</a:t>
            </a:r>
            <a:endParaRPr lang="en-US" sz="1150" dirty="0"/>
          </a:p>
        </p:txBody>
      </p:sp>
      <p:sp>
        <p:nvSpPr>
          <p:cNvPr id="12" name="Shape 10"/>
          <p:cNvSpPr/>
          <p:nvPr/>
        </p:nvSpPr>
        <p:spPr>
          <a:xfrm>
            <a:off x="8119872" y="1417320"/>
            <a:ext cx="3429000" cy="1874520"/>
          </a:xfrm>
          <a:prstGeom prst="roundRect">
            <a:avLst>
              <a:gd name="adj" fmla="val 3902"/>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8284464" y="15453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14" name="Text 12"/>
          <p:cNvSpPr/>
          <p:nvPr/>
        </p:nvSpPr>
        <p:spPr>
          <a:xfrm>
            <a:off x="8668512" y="156362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디지털 워크시트</a:t>
            </a:r>
            <a:endParaRPr lang="en-US" sz="1500" dirty="0"/>
          </a:p>
        </p:txBody>
      </p:sp>
      <p:sp>
        <p:nvSpPr>
          <p:cNvPr id="15" name="Text 13"/>
          <p:cNvSpPr/>
          <p:nvPr/>
        </p:nvSpPr>
        <p:spPr>
          <a:xfrm>
            <a:off x="8302752" y="1947672"/>
            <a:ext cx="3063240" cy="12161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os_24h_digital_worksheet.html</a:t>
            </a: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예측 → 채점 → 잠금 → 검산 → 완료 화면의 학습 기록</a:t>
            </a:r>
            <a:endParaRPr lang="en-US" sz="1150" dirty="0"/>
          </a:p>
        </p:txBody>
      </p:sp>
      <p:sp>
        <p:nvSpPr>
          <p:cNvPr id="16" name="Shape 14"/>
          <p:cNvSpPr/>
          <p:nvPr/>
        </p:nvSpPr>
        <p:spPr>
          <a:xfrm>
            <a:off x="658368" y="3657600"/>
            <a:ext cx="3429000" cy="1645920"/>
          </a:xfrm>
          <a:prstGeom prst="roundRect">
            <a:avLst>
              <a:gd name="adj" fmla="val 444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822960" y="3785616"/>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a:t>
            </a:r>
            <a:endParaRPr lang="en-US" sz="1900" dirty="0"/>
          </a:p>
        </p:txBody>
      </p:sp>
      <p:sp>
        <p:nvSpPr>
          <p:cNvPr id="18" name="Text 16"/>
          <p:cNvSpPr/>
          <p:nvPr/>
        </p:nvSpPr>
        <p:spPr>
          <a:xfrm>
            <a:off x="1207008" y="38039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Linux 실습 환경</a:t>
            </a:r>
            <a:endParaRPr lang="en-US" sz="1500" dirty="0"/>
          </a:p>
        </p:txBody>
      </p:sp>
      <p:sp>
        <p:nvSpPr>
          <p:cNvPr id="19" name="Text 17"/>
          <p:cNvSpPr/>
          <p:nvPr/>
        </p:nvSpPr>
        <p:spPr>
          <a:xfrm>
            <a:off x="841248" y="4187952"/>
            <a:ext cx="3063240" cy="9875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Shell 명령어 자체를 깊게 가르치기보다 OS 상태를 관찰하는 도구로 사용</a:t>
            </a:r>
            <a:endParaRPr lang="en-US" sz="1150" dirty="0"/>
          </a:p>
        </p:txBody>
      </p:sp>
      <p:sp>
        <p:nvSpPr>
          <p:cNvPr id="20" name="Shape 18"/>
          <p:cNvSpPr/>
          <p:nvPr/>
        </p:nvSpPr>
        <p:spPr>
          <a:xfrm>
            <a:off x="4389120" y="3657600"/>
            <a:ext cx="3429000" cy="1645920"/>
          </a:xfrm>
          <a:prstGeom prst="roundRect">
            <a:avLst>
              <a:gd name="adj" fmla="val 444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553712" y="378561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a:t>
            </a:r>
            <a:endParaRPr lang="en-US" sz="1900" dirty="0"/>
          </a:p>
        </p:txBody>
      </p:sp>
      <p:sp>
        <p:nvSpPr>
          <p:cNvPr id="22" name="Text 20"/>
          <p:cNvSpPr/>
          <p:nvPr/>
        </p:nvSpPr>
        <p:spPr>
          <a:xfrm>
            <a:off x="4937760" y="38039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PPT 발표자 노트</a:t>
            </a:r>
            <a:endParaRPr lang="en-US" sz="1500" dirty="0"/>
          </a:p>
        </p:txBody>
      </p:sp>
      <p:sp>
        <p:nvSpPr>
          <p:cNvPr id="23" name="Text 21"/>
          <p:cNvSpPr/>
          <p:nvPr/>
        </p:nvSpPr>
        <p:spPr>
          <a:xfrm>
            <a:off x="4572000" y="4187952"/>
            <a:ext cx="3063240" cy="9875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각 슬라이드별 강사 스크립트, 질문, 시연 순서, 주의 포인트를 포함</a:t>
            </a:r>
            <a:endParaRPr lang="en-US" sz="1150" dirty="0"/>
          </a:p>
        </p:txBody>
      </p:sp>
      <p:sp>
        <p:nvSpPr>
          <p:cNvPr id="24" name="Shape 22"/>
          <p:cNvSpPr/>
          <p:nvPr/>
        </p:nvSpPr>
        <p:spPr>
          <a:xfrm>
            <a:off x="8119872" y="3657600"/>
            <a:ext cx="3429000" cy="1645920"/>
          </a:xfrm>
          <a:prstGeom prst="roundRect">
            <a:avLst>
              <a:gd name="adj" fmla="val 444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5" name="Text 23"/>
          <p:cNvSpPr/>
          <p:nvPr/>
        </p:nvSpPr>
        <p:spPr>
          <a:xfrm>
            <a:off x="8284464" y="378561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6" name="Text 24"/>
          <p:cNvSpPr/>
          <p:nvPr/>
        </p:nvSpPr>
        <p:spPr>
          <a:xfrm>
            <a:off x="8668512" y="3803904"/>
            <a:ext cx="27157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학습 증거</a:t>
            </a:r>
            <a:endParaRPr lang="en-US" sz="1500" dirty="0"/>
          </a:p>
        </p:txBody>
      </p:sp>
      <p:sp>
        <p:nvSpPr>
          <p:cNvPr id="27" name="Text 25"/>
          <p:cNvSpPr/>
          <p:nvPr/>
        </p:nvSpPr>
        <p:spPr>
          <a:xfrm>
            <a:off x="8302752" y="4187952"/>
            <a:ext cx="3063240" cy="98755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워크시트 완료 화면, 실습 기록, 장애분석 근거를 수강생 산출물로 활용</a:t>
            </a:r>
            <a:endParaRPr lang="en-US" sz="11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COURSE GUIDE</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PPT에서 실습 수행 구간을 찾는 표식</a:t>
            </a:r>
          </a:p>
        </p:txBody>
      </p:sp>
      <p:sp>
        <p:nvSpPr>
          <p:cNvPr id="4" name="Rounded Rectangle 3"/>
          <p:cNvSpPr/>
          <p:nvPr/>
        </p:nvSpPr>
        <p:spPr>
          <a:xfrm>
            <a:off x="658368" y="1417320"/>
            <a:ext cx="5212080" cy="1828800"/>
          </a:xfrm>
          <a:prstGeom prst="roundRect">
            <a:avLst/>
          </a:prstGeom>
          <a:solidFill>
            <a:srgbClr val="2A3578"/>
          </a:solidFill>
          <a:ln w="1397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960120" y="1719072"/>
            <a:ext cx="3474720" cy="384048"/>
          </a:xfrm>
          <a:prstGeom prst="rect">
            <a:avLst/>
          </a:prstGeom>
          <a:noFill/>
        </p:spPr>
        <p:txBody>
          <a:bodyPr wrap="square" lIns="36576" tIns="36576" rIns="36576" bIns="36576">
            <a:spAutoFit/>
          </a:bodyPr>
          <a:lstStyle/>
          <a:p>
            <a:pPr algn="l"/>
            <a:r>
              <a:rPr sz="2200" b="1">
                <a:solidFill>
                  <a:srgbClr val="FFC24B"/>
                </a:solidFill>
                <a:latin typeface="Noto Sans CJK KR"/>
              </a:rPr>
              <a:t>▶ ANIMATION 수행</a:t>
            </a:r>
          </a:p>
        </p:txBody>
      </p:sp>
      <p:sp>
        <p:nvSpPr>
          <p:cNvPr id="6" name="TextBox 5"/>
          <p:cNvSpPr txBox="1"/>
          <p:nvPr/>
        </p:nvSpPr>
        <p:spPr>
          <a:xfrm>
            <a:off x="960120" y="2267712"/>
            <a:ext cx="4480560" cy="658368"/>
          </a:xfrm>
          <a:prstGeom prst="rect">
            <a:avLst/>
          </a:prstGeom>
          <a:noFill/>
        </p:spPr>
        <p:txBody>
          <a:bodyPr wrap="square" lIns="36576" tIns="36576" rIns="36576" bIns="36576">
            <a:spAutoFit/>
          </a:bodyPr>
          <a:lstStyle/>
          <a:p>
            <a:pPr algn="l"/>
            <a:r>
              <a:rPr sz="1400" b="0">
                <a:solidFill>
                  <a:srgbClr val="FFFFFF"/>
                </a:solidFill>
                <a:latin typeface="Noto Sans CJK KR"/>
              </a:rPr>
              <a:t>이 표식이 나오면 PPT 설명을 멈추고
PRO HTML 시뮬레이터에서 직접 조작합니다.</a:t>
            </a:r>
          </a:p>
        </p:txBody>
      </p:sp>
      <p:sp>
        <p:nvSpPr>
          <p:cNvPr id="7" name="Rounded Rectangle 6"/>
          <p:cNvSpPr/>
          <p:nvPr/>
        </p:nvSpPr>
        <p:spPr>
          <a:xfrm>
            <a:off x="6291072" y="1417320"/>
            <a:ext cx="5212080" cy="182880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601968" y="1719072"/>
            <a:ext cx="3566160" cy="384048"/>
          </a:xfrm>
          <a:prstGeom prst="rect">
            <a:avLst/>
          </a:prstGeom>
          <a:noFill/>
        </p:spPr>
        <p:txBody>
          <a:bodyPr wrap="square" lIns="36576" tIns="36576" rIns="36576" bIns="36576">
            <a:spAutoFit/>
          </a:bodyPr>
          <a:lstStyle/>
          <a:p>
            <a:pPr algn="l"/>
            <a:r>
              <a:rPr sz="2200" b="1">
                <a:solidFill>
                  <a:srgbClr val="7BE0AD"/>
                </a:solidFill>
                <a:latin typeface="Noto Sans CJK KR"/>
              </a:rPr>
              <a:t>✍ WORKSHEET 수행</a:t>
            </a:r>
          </a:p>
        </p:txBody>
      </p:sp>
      <p:sp>
        <p:nvSpPr>
          <p:cNvPr id="9" name="TextBox 8"/>
          <p:cNvSpPr txBox="1"/>
          <p:nvPr/>
        </p:nvSpPr>
        <p:spPr>
          <a:xfrm>
            <a:off x="6601968" y="2267712"/>
            <a:ext cx="4480560" cy="658368"/>
          </a:xfrm>
          <a:prstGeom prst="rect">
            <a:avLst/>
          </a:prstGeom>
          <a:noFill/>
        </p:spPr>
        <p:txBody>
          <a:bodyPr wrap="square" lIns="36576" tIns="36576" rIns="36576" bIns="36576">
            <a:spAutoFit/>
          </a:bodyPr>
          <a:lstStyle/>
          <a:p>
            <a:pPr algn="l"/>
            <a:r>
              <a:rPr sz="1400" b="0">
                <a:solidFill>
                  <a:srgbClr val="FFFFFF"/>
                </a:solidFill>
                <a:latin typeface="Noto Sans CJK KR"/>
              </a:rPr>
              <a:t>이 표식이 나오면 디지털 워크시트에서
예측 → 채점 → 검산 → 서술을 완료합니다.</a:t>
            </a:r>
          </a:p>
        </p:txBody>
      </p:sp>
      <p:sp>
        <p:nvSpPr>
          <p:cNvPr id="10" name="Rounded Rectangle 9"/>
          <p:cNvSpPr/>
          <p:nvPr/>
        </p:nvSpPr>
        <p:spPr>
          <a:xfrm>
            <a:off x="658368" y="3657600"/>
            <a:ext cx="10844784" cy="1481328"/>
          </a:xfrm>
          <a:prstGeom prst="roundRect">
            <a:avLst/>
          </a:prstGeom>
          <a:solidFill>
            <a:srgbClr val="0B1230"/>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0120" y="3931920"/>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강의 중 표식 사용 규칙</a:t>
            </a:r>
          </a:p>
        </p:txBody>
      </p:sp>
      <p:sp>
        <p:nvSpPr>
          <p:cNvPr id="12" name="TextBox 11"/>
          <p:cNvSpPr txBox="1"/>
          <p:nvPr/>
        </p:nvSpPr>
        <p:spPr>
          <a:xfrm>
            <a:off x="960120" y="4370832"/>
            <a:ext cx="9966960" cy="420624"/>
          </a:xfrm>
          <a:prstGeom prst="rect">
            <a:avLst/>
          </a:prstGeom>
          <a:noFill/>
        </p:spPr>
        <p:txBody>
          <a:bodyPr wrap="square" lIns="36576" tIns="36576" rIns="36576" bIns="36576">
            <a:spAutoFit/>
          </a:bodyPr>
          <a:lstStyle/>
          <a:p>
            <a:pPr algn="ctr"/>
            <a:r>
              <a:rPr sz="1500" b="1">
                <a:solidFill>
                  <a:srgbClr val="FFFFFF"/>
                </a:solidFill>
                <a:latin typeface="Noto Sans CJK KR"/>
              </a:rPr>
              <a:t>설명 슬라이드에서는 PPT만 사용  →  ANIMATION 표식에서 브라우저 전환  →  다시 PPT 복귀  →  WORKSHEET 표식에서 기록/채점</a:t>
            </a:r>
          </a:p>
        </p:txBody>
      </p:sp>
      <p:sp>
        <p:nvSpPr>
          <p:cNvPr id="13" name="TextBox 12"/>
          <p:cNvSpPr txBox="1"/>
          <p:nvPr/>
        </p:nvSpPr>
        <p:spPr>
          <a:xfrm>
            <a:off x="960120" y="5321808"/>
            <a:ext cx="9875520" cy="292608"/>
          </a:xfrm>
          <a:prstGeom prst="rect">
            <a:avLst/>
          </a:prstGeom>
          <a:noFill/>
        </p:spPr>
        <p:txBody>
          <a:bodyPr wrap="square" lIns="36576" tIns="36576" rIns="36576" bIns="36576">
            <a:spAutoFit/>
          </a:bodyPr>
          <a:lstStyle/>
          <a:p>
            <a:pPr algn="ctr"/>
            <a:r>
              <a:rPr sz="1200" b="1">
                <a:solidFill>
                  <a:srgbClr val="FFC24B"/>
                </a:solidFill>
                <a:latin typeface="Consolas"/>
              </a:rPr>
              <a:t>ANIMATION: os_24h_interactive_animations_PRO.html     |     WORKSHEET: os_24h_digital_worksheet.html</a:t>
            </a:r>
          </a:p>
        </p:txBody>
      </p:sp>
      <p:sp>
        <p:nvSpPr>
          <p:cNvPr id="14" name="TextBox 13"/>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COURSE GUIDE · ACTION LEGEND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0B1230"/>
        </a:solidFill>
        <a:effectLst/>
      </p:bgPr>
    </p:bg>
    <p:spTree>
      <p:nvGrpSpPr>
        <p:cNvPr id="1" name=""/>
        <p:cNvGrpSpPr/>
        <p:nvPr/>
      </p:nvGrpSpPr>
      <p:grpSpPr>
        <a:xfrm>
          <a:off x="0" y="0"/>
          <a:ext cx="0" cy="0"/>
          <a:chOff x="0" y="0"/>
          <a:chExt cx="0" cy="0"/>
        </a:xfrm>
      </p:grpSpPr>
      <p:pic>
        <p:nvPicPr>
          <p:cNvPr id="2" name="Image 0" descr="/mnt/data/a_wide_dark_navy_blue_tech_illustration_wallpaper_batch_2.png"/>
          <p:cNvPicPr>
            <a:picLocks noChangeAspect="1"/>
          </p:cNvPicPr>
          <p:nvPr/>
        </p:nvPicPr>
        <p:blipFill>
          <a:blip r:embed="rId3"/>
          <a:srcRect t="25" b="25"/>
          <a:stretch/>
        </p:blipFill>
        <p:spPr>
          <a:xfrm>
            <a:off x="0" y="0"/>
            <a:ext cx="12191695" cy="6858000"/>
          </a:xfrm>
          <a:prstGeom prst="rect">
            <a:avLst/>
          </a:prstGeom>
        </p:spPr>
      </p:pic>
      <p:sp>
        <p:nvSpPr>
          <p:cNvPr id="3" name="Shape 0"/>
          <p:cNvSpPr/>
          <p:nvPr/>
        </p:nvSpPr>
        <p:spPr>
          <a:xfrm>
            <a:off x="0" y="0"/>
            <a:ext cx="6492240" cy="6858000"/>
          </a:xfrm>
          <a:prstGeom prst="rect">
            <a:avLst/>
          </a:prstGeom>
          <a:solidFill>
            <a:srgbClr val="0B1230">
              <a:alpha val="78000"/>
            </a:srgbClr>
          </a:solidFill>
          <a:ln w="12700">
            <a:solidFill>
              <a:srgbClr val="0B1230">
                <a:alpha val="0"/>
              </a:srgbClr>
            </a:solidFill>
            <a:prstDash val="solid"/>
          </a:ln>
        </p:spPr>
        <p:txBody>
          <a:bodyPr/>
          <a:lstStyle/>
          <a:p>
            <a:endParaRPr/>
          </a:p>
        </p:txBody>
      </p:sp>
      <p:sp>
        <p:nvSpPr>
          <p:cNvPr id="4" name="Text 1"/>
          <p:cNvSpPr/>
          <p:nvPr/>
        </p:nvSpPr>
        <p:spPr>
          <a:xfrm>
            <a:off x="658368" y="1051560"/>
            <a:ext cx="2926080" cy="566928"/>
          </a:xfrm>
          <a:prstGeom prst="rect">
            <a:avLst/>
          </a:prstGeom>
          <a:noFill/>
          <a:ln/>
        </p:spPr>
        <p:txBody>
          <a:bodyPr wrap="square" lIns="0" tIns="0" rIns="0" bIns="0" rtlCol="0" anchor="ctr"/>
          <a:lstStyle/>
          <a:p>
            <a:pPr marL="0" indent="0">
              <a:buNone/>
            </a:pPr>
            <a:r>
              <a:rPr lang="en-US" sz="3400" b="1" dirty="0">
                <a:solidFill>
                  <a:srgbClr val="FFC24B"/>
                </a:solidFill>
                <a:latin typeface="Noto Sans CJK KR" pitchFamily="34" charset="0"/>
                <a:ea typeface="Noto Sans CJK KR" pitchFamily="34" charset="-122"/>
                <a:cs typeface="Noto Sans CJK KR" pitchFamily="34" charset="-120"/>
              </a:rPr>
              <a:t>DAY 1</a:t>
            </a:r>
            <a:endParaRPr lang="en-US" sz="3400" dirty="0"/>
          </a:p>
        </p:txBody>
      </p:sp>
      <p:sp>
        <p:nvSpPr>
          <p:cNvPr id="5" name="Text 2"/>
          <p:cNvSpPr/>
          <p:nvPr/>
        </p:nvSpPr>
        <p:spPr>
          <a:xfrm>
            <a:off x="658368" y="1828800"/>
            <a:ext cx="5166360" cy="713232"/>
          </a:xfrm>
          <a:prstGeom prst="rect">
            <a:avLst/>
          </a:prstGeom>
          <a:noFill/>
          <a:ln/>
        </p:spPr>
        <p:txBody>
          <a:bodyPr wrap="square" lIns="0" tIns="0" rIns="0" bIns="0" rtlCol="0" anchor="ctr">
            <a:normAutofit/>
          </a:bodyPr>
          <a:lstStyle/>
          <a:p>
            <a:pPr marL="0" indent="0">
              <a:buNone/>
            </a:pPr>
            <a:r>
              <a:rPr lang="en-US" sz="3100" b="1" dirty="0">
                <a:solidFill>
                  <a:srgbClr val="FFFFFF"/>
                </a:solidFill>
                <a:latin typeface="Noto Sans CJK KR" pitchFamily="34" charset="0"/>
                <a:ea typeface="Noto Sans CJK KR" pitchFamily="34" charset="-122"/>
                <a:cs typeface="Noto Sans CJK KR" pitchFamily="34" charset="-120"/>
              </a:rPr>
              <a:t>기본 구조와 실행</a:t>
            </a:r>
            <a:endParaRPr lang="en-US" sz="3100" dirty="0"/>
          </a:p>
        </p:txBody>
      </p:sp>
      <p:sp>
        <p:nvSpPr>
          <p:cNvPr id="6" name="Text 3"/>
          <p:cNvSpPr/>
          <p:nvPr/>
        </p:nvSpPr>
        <p:spPr>
          <a:xfrm>
            <a:off x="658368" y="2697480"/>
            <a:ext cx="5074920" cy="685800"/>
          </a:xfrm>
          <a:prstGeom prst="rect">
            <a:avLst/>
          </a:prstGeom>
          <a:noFill/>
          <a:ln/>
        </p:spPr>
        <p:txBody>
          <a:bodyPr wrap="square" lIns="0" tIns="0" rIns="0" bIns="0" rtlCol="0" anchor="ctr">
            <a:normAutofit/>
          </a:bodyPr>
          <a:lstStyle/>
          <a:p>
            <a:pPr marL="0" indent="0">
              <a:buNone/>
            </a:pPr>
            <a:r>
              <a:rPr lang="en-US" sz="1650" dirty="0">
                <a:solidFill>
                  <a:srgbClr val="CADCFC"/>
                </a:solidFill>
                <a:latin typeface="Noto Sans CJK KR" pitchFamily="34" charset="0"/>
                <a:ea typeface="Noto Sans CJK KR" pitchFamily="34" charset="-122"/>
                <a:cs typeface="Noto Sans CJK KR" pitchFamily="34" charset="-120"/>
              </a:rPr>
              <a:t>프로그램이 “실행된다”는 말 속의 OS 동작을 추적합니다.</a:t>
            </a:r>
            <a:endParaRPr lang="en-US" sz="1650" dirty="0"/>
          </a:p>
        </p:txBody>
      </p:sp>
      <p:sp>
        <p:nvSpPr>
          <p:cNvPr id="7" name="Shape 4"/>
          <p:cNvSpPr/>
          <p:nvPr/>
        </p:nvSpPr>
        <p:spPr>
          <a:xfrm>
            <a:off x="658368" y="3685032"/>
            <a:ext cx="3977640" cy="0"/>
          </a:xfrm>
          <a:prstGeom prst="line">
            <a:avLst/>
          </a:prstGeom>
          <a:noFill/>
          <a:ln w="25400">
            <a:solidFill>
              <a:srgbClr val="5EC8FF"/>
            </a:solidFill>
            <a:prstDash val="solid"/>
          </a:ln>
        </p:spPr>
        <p:txBody>
          <a:bodyPr/>
          <a:lstStyle/>
          <a:p>
            <a:endParaRPr/>
          </a:p>
        </p:txBody>
      </p:sp>
      <p:sp>
        <p:nvSpPr>
          <p:cNvPr id="8" name="Text 5"/>
          <p:cNvSpPr/>
          <p:nvPr/>
        </p:nvSpPr>
        <p:spPr>
          <a:xfrm>
            <a:off x="658368" y="3977640"/>
            <a:ext cx="5074920" cy="1325880"/>
          </a:xfrm>
          <a:prstGeom prst="rect">
            <a:avLst/>
          </a:prstGeom>
          <a:noFill/>
          <a:ln/>
        </p:spPr>
        <p:txBody>
          <a:bodyPr wrap="square" lIns="0" tIns="0" rIns="0" bIns="0" rtlCol="0" anchor="ctr">
            <a:normAutofit/>
          </a:bodyPr>
          <a:lstStyle/>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C01 운영체제 개요</a:t>
            </a:r>
            <a:endParaRPr lang="en-US" sz="1520" dirty="0"/>
          </a:p>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C02 Linux 운영환경</a:t>
            </a:r>
            <a:endParaRPr lang="en-US" sz="1520" dirty="0"/>
          </a:p>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C03 프로세스와 스레드</a:t>
            </a:r>
            <a:endParaRPr lang="en-US" sz="1520" dirty="0"/>
          </a:p>
          <a:p>
            <a:pPr marL="0" indent="0">
              <a:buNone/>
            </a:pPr>
            <a:r>
              <a:rPr lang="en-US" sz="1520" dirty="0">
                <a:solidFill>
                  <a:srgbClr val="FFFFFF"/>
                </a:solidFill>
                <a:latin typeface="Noto Sans CJK KR" pitchFamily="34" charset="0"/>
                <a:ea typeface="Noto Sans CJK KR" pitchFamily="34" charset="-122"/>
                <a:cs typeface="Noto Sans CJK KR" pitchFamily="34" charset="-120"/>
              </a:rPr>
              <a:t>C04 CPU 스케줄링</a:t>
            </a:r>
            <a:endParaRPr lang="en-US" sz="15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01. 운영체제 개요</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OS 구조 · User/Kernel Space · 자원 중재 · RTOS</a:t>
            </a:r>
            <a:endParaRPr lang="en-US" sz="1600" dirty="0"/>
          </a:p>
        </p:txBody>
      </p:sp>
      <p:pic>
        <p:nvPicPr>
          <p:cNvPr id="5" name="Image 0" descr="/mnt/data/a_clean_modern_educational_infographic_slide_abou_batch_1.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운영체제를 하드웨어와 애플리케이션 사이의 자원 관리자 관점으로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User Space와 Kernel Space 분리의 이유를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온디바이스 AI 실행 흐름에서 OS의 역할을 찾는다.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User Space와 Kernel Space를 왜 나누는가?</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운영체제 개요 · 그림 전체 보기</a:t>
            </a:r>
            <a:endParaRPr lang="en-US" sz="2800" dirty="0"/>
          </a:p>
        </p:txBody>
      </p:sp>
      <p:pic>
        <p:nvPicPr>
          <p:cNvPr id="4" name="Image 0" descr="/mnt/data/a_clean_modern_educational_infographic_slide_abou_batch_1.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운영체제의 위치</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보호 경계</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자원 관리자</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범용 OS vs RTOS</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운영체제 개요 · 단계별 그림 해설 ①</a:t>
            </a:r>
            <a:endParaRPr lang="en-US" sz="2800" dirty="0"/>
          </a:p>
        </p:txBody>
      </p:sp>
      <p:pic>
        <p:nvPicPr>
          <p:cNvPr id="4" name="Image 0" descr="/mnt/data/a_clean_modern_educational_infographic_slide_abou_batch_1.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운영체제의 위치</a:t>
            </a:r>
            <a:endParaRPr lang="en-US" sz="1500" dirty="0"/>
          </a:p>
        </p:txBody>
      </p:sp>
      <p:sp>
        <p:nvSpPr>
          <p:cNvPr id="10" name="Text 7"/>
          <p:cNvSpPr/>
          <p:nvPr/>
        </p:nvSpPr>
        <p:spPr>
          <a:xfrm>
            <a:off x="7973568" y="2322576"/>
            <a:ext cx="3291840" cy="283464"/>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Application과 Hardware 사이에서 CPU·Memory·File·Device를 추상화하고 중재</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보호 경계</a:t>
            </a:r>
            <a:endParaRPr lang="en-US" sz="1500" dirty="0"/>
          </a:p>
        </p:txBody>
      </p:sp>
      <p:sp>
        <p:nvSpPr>
          <p:cNvPr id="14" name="Text 11"/>
          <p:cNvSpPr/>
          <p:nvPr/>
        </p:nvSpPr>
        <p:spPr>
          <a:xfrm>
            <a:off x="7973568" y="3200400"/>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User Space에서 보호된 자원 접근 시 System Call을 통해 Kernel로 진입</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운영체제의 위치가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보호 경계가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운영체제 개요 · 단계별 그림 해설 ②</a:t>
            </a:r>
            <a:endParaRPr lang="en-US" sz="2800" dirty="0"/>
          </a:p>
        </p:txBody>
      </p:sp>
      <p:pic>
        <p:nvPicPr>
          <p:cNvPr id="4" name="Image 0" descr="/mnt/data/a_clean_modern_educational_infographic_slide_abou_batch_1.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자원 관리자</a:t>
            </a:r>
            <a:endParaRPr lang="en-US" sz="1500" dirty="0"/>
          </a:p>
        </p:txBody>
      </p:sp>
      <p:sp>
        <p:nvSpPr>
          <p:cNvPr id="10" name="Text 7"/>
          <p:cNvSpPr/>
          <p:nvPr/>
        </p:nvSpPr>
        <p:spPr>
          <a:xfrm>
            <a:off x="7973568" y="2322576"/>
            <a:ext cx="3291840" cy="292608"/>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여러 프로세스가 한정된 CPU/RAM/장치를 공유하도록 정책과 순서를 결정</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범용 OS vs RTOS</a:t>
            </a:r>
            <a:endParaRPr lang="en-US" sz="1500" dirty="0"/>
          </a:p>
        </p:txBody>
      </p:sp>
      <p:sp>
        <p:nvSpPr>
          <p:cNvPr id="14" name="Text 11"/>
          <p:cNvSpPr/>
          <p:nvPr/>
        </p:nvSpPr>
        <p:spPr>
          <a:xfrm>
            <a:off x="7973568" y="3200400"/>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평균 처리량·편의성 중심과 예측 가능한 응답시간 중심의 차이</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자원 관리자와 범용 OS vs RTOS는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복잡한 그림 세부 해설 1</a:t>
            </a:r>
          </a:p>
        </p:txBody>
      </p:sp>
      <p:pic>
        <p:nvPicPr>
          <p:cNvPr id="5" name="Picture 4" descr="ch01_full.jpg"/>
          <p:cNvPicPr>
            <a:picLocks noChangeAspect="1"/>
          </p:cNvPicPr>
          <p:nvPr/>
        </p:nvPicPr>
        <p:blipFill>
          <a:blip r:embed="rId3"/>
          <a:stretch>
            <a:fillRect/>
          </a:stretch>
        </p:blipFill>
        <p:spPr>
          <a:xfrm>
            <a:off x="438911" y="1271016"/>
            <a:ext cx="6997485" cy="3931920"/>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운영체제의 위치</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Application과 Hardware 사이에서 CPU·Memory·File·Device를 추상화하고 중재합니다.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DIAGRAM ZOOM 1</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복잡한 그림 세부 해설 2</a:t>
            </a:r>
          </a:p>
        </p:txBody>
      </p:sp>
      <p:pic>
        <p:nvPicPr>
          <p:cNvPr id="5" name="Picture 4" descr="ch01_full.jpg"/>
          <p:cNvPicPr>
            <a:picLocks noChangeAspect="1"/>
          </p:cNvPicPr>
          <p:nvPr/>
        </p:nvPicPr>
        <p:blipFill>
          <a:blip r:embed="rId3"/>
          <a:stretch>
            <a:fillRect/>
          </a:stretch>
        </p:blipFill>
        <p:spPr>
          <a:xfrm>
            <a:off x="438911" y="1275588"/>
            <a:ext cx="6924255" cy="38907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보호 경계</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User Space는 제한된 권한으로 실행되고 보호 자원 접근은 System Call을 통해 Kernel로 넘어갑니다.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DIAGRAM ZOOM 2</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복잡한 그림 세부 해설 3</a:t>
            </a:r>
          </a:p>
        </p:txBody>
      </p:sp>
      <p:pic>
        <p:nvPicPr>
          <p:cNvPr id="5" name="Picture 4" descr="ch01_full.jpg"/>
          <p:cNvPicPr>
            <a:picLocks noChangeAspect="1"/>
          </p:cNvPicPr>
          <p:nvPr/>
        </p:nvPicPr>
        <p:blipFill>
          <a:blip r:embed="rId3"/>
          <a:stretch>
            <a:fillRect/>
          </a:stretch>
        </p:blipFill>
        <p:spPr>
          <a:xfrm>
            <a:off x="496513" y="1347663"/>
            <a:ext cx="6639474" cy="373075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자원 관리자</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여러 프로세스가 CPU/RAM/장치를 공유하도록 순서와 정책을 결정합니다.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범용 OS vs RTOS</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평균 처리량과 편의성 중심의 범용 OS와 예측 가능한 Deadline 중심의 RTOS를 구분합니다.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DIAGRAM ZOOM 3</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01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운영체제 개요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사용자 요청</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사용자가 파일·카메라·AI 작업을 요청</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Application</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User Space에서 요청 구성</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System Call</a:t>
            </a:r>
          </a:p>
        </p:txBody>
      </p:sp>
      <p:sp>
        <p:nvSpPr>
          <p:cNvPr id="23" name="TextBox 22"/>
          <p:cNvSpPr txBox="1"/>
          <p:nvPr/>
        </p:nvSpPr>
        <p:spPr>
          <a:xfrm>
            <a:off x="4340351"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보호 자원 접근을 Kernel에 위임</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Kernel 정책</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CPU·RAM·Device 정책 적용</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Driver / Hardware</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장치별 Driver가 실제 HW 제어</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결과 반환</a:t>
            </a:r>
          </a:p>
        </p:txBody>
      </p:sp>
      <p:sp>
        <p:nvSpPr>
          <p:cNvPr id="41" name="TextBox 40"/>
          <p:cNvSpPr txBox="1"/>
          <p:nvPr/>
        </p:nvSpPr>
        <p:spPr>
          <a:xfrm>
            <a:off x="997305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결과가 다시 User Space로 복귀</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User↔Kernel 경계를 지나는 순간</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요청 종류에 따라 CPU/RAM/I/O 비중이 달라짐</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범용 OS와 RTOS는 응답시간 정책이 다름</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4136653"/>
            <a:ext cx="3063240" cy="523220"/>
          </a:xfrm>
          <a:prstGeom prst="rect">
            <a:avLst/>
          </a:prstGeom>
          <a:noFill/>
        </p:spPr>
        <p:txBody>
          <a:bodyPr wrap="square" lIns="0" tIns="0" rIns="0" bIns="0" anchor="ctr">
            <a:spAutoFit/>
          </a:bodyPr>
          <a:lstStyle/>
          <a:p>
            <a:pPr algn="ctr"/>
            <a:r>
              <a:rPr sz="1700" b="1">
                <a:solidFill>
                  <a:srgbClr val="FFFFFF"/>
                </a:solidFill>
                <a:latin typeface="Noto Sans CJK KR"/>
              </a:rPr>
              <a:t>어디서 User Mode가 Kernel Mode로 바뀌는가?</a:t>
            </a:r>
          </a:p>
        </p:txBody>
      </p:sp>
      <p:sp>
        <p:nvSpPr>
          <p:cNvPr id="56" name="TextBox 55"/>
          <p:cNvSpPr txBox="1"/>
          <p:nvPr/>
        </p:nvSpPr>
        <p:spPr>
          <a:xfrm>
            <a:off x="8183879" y="5010912"/>
            <a:ext cx="3063240" cy="365760"/>
          </a:xfrm>
          <a:prstGeom prst="rect">
            <a:avLst/>
          </a:prstGeom>
          <a:noFill/>
        </p:spPr>
        <p:txBody>
          <a:bodyPr wrap="non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User App 요청</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System Call 진입</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Kernel 정책 적용</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User App 요청</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System Call 진입</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Kernel 정책 적용</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WORKFLOW 전반부</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01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운영체제 개요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Driver 호출</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Hardware 실행</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결과 반환</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Driver 호출</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Hardware 실행</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결과 반환</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WORKFLOW 후반부</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AI 앱이 카메라와 CPU를 동시에 많이 사용한다면?</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AI 앱이 카메라와 CPU를 동시에 많이 사용한다면?</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앱은 카메라 레지스터를 직접 만지지 않고 Driver를 통해 접근한다.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CPU를 독점하면 Scheduler가 다른 프로세스의 실행 기회를 조정한다.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메모리·파일·네트워크 접근도 각각 Kernel 서비스를 통해 보호된다.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결국 OS는 “실행 환경”이 아니라 “자원 충돌을 관리하는 정책 계층”이다.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01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운영체제 개요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정상 흐름</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파일 읽기 실행</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494704"/>
            <a:ext cx="2411628" cy="332399"/>
          </a:xfrm>
          <a:prstGeom prst="rect">
            <a:avLst/>
          </a:prstGeom>
          <a:noFill/>
        </p:spPr>
        <p:txBody>
          <a:bodyPr wrap="square" lIns="0" tIns="0" rIns="0" bIns="0" anchor="ctr">
            <a:spAutoFit/>
          </a:bodyPr>
          <a:lstStyle/>
          <a:p>
            <a:pPr algn="ctr"/>
            <a:r>
              <a:rPr sz="1080" b="0">
                <a:solidFill>
                  <a:srgbClr val="CADCFC"/>
                </a:solidFill>
                <a:latin typeface="Noto Sans CJK KR"/>
              </a:rPr>
              <a:t>요청 토큰이 App→Kernel→Driver→Storage로 이동</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496243"/>
            <a:ext cx="1414990" cy="329321"/>
          </a:xfrm>
          <a:prstGeom prst="rect">
            <a:avLst/>
          </a:prstGeom>
          <a:noFill/>
        </p:spPr>
        <p:txBody>
          <a:bodyPr wrap="square" lIns="0" tIns="0" rIns="0" bIns="0" anchor="ctr">
            <a:spAutoFit/>
          </a:bodyPr>
          <a:lstStyle/>
          <a:p>
            <a:pPr algn="ctr"/>
            <a:r>
              <a:rPr sz="1070" b="1">
                <a:solidFill>
                  <a:srgbClr val="FFC24B"/>
                </a:solidFill>
                <a:latin typeface="Noto Sans CJK KR"/>
              </a:rPr>
              <a:t>Device I/O 상승, CPU는 중간 수준</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497827"/>
            <a:ext cx="2062467" cy="317010"/>
          </a:xfrm>
          <a:prstGeom prst="rect">
            <a:avLst/>
          </a:prstGeom>
          <a:noFill/>
        </p:spPr>
        <p:txBody>
          <a:bodyPr wrap="square" lIns="0" tIns="0" rIns="0" bIns="0" anchor="ctr">
            <a:spAutoFit/>
          </a:bodyPr>
          <a:lstStyle/>
          <a:p>
            <a:pPr algn="ctr"/>
            <a:r>
              <a:rPr sz="1030" b="1">
                <a:solidFill>
                  <a:srgbClr val="FFFFFF"/>
                </a:solidFill>
                <a:latin typeface="Noto Sans CJK KR"/>
              </a:rPr>
              <a:t>어디서 User Mode가 Kernel Mode로 바뀌는가?</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자원 경쟁</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AI 추론 실행</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665136"/>
            <a:ext cx="2254375" cy="332399"/>
          </a:xfrm>
          <a:prstGeom prst="rect">
            <a:avLst/>
          </a:prstGeom>
          <a:noFill/>
        </p:spPr>
        <p:txBody>
          <a:bodyPr wrap="square" lIns="0" tIns="0" rIns="0" bIns="0" anchor="ctr">
            <a:spAutoFit/>
          </a:bodyPr>
          <a:lstStyle/>
          <a:p>
            <a:pPr algn="ctr"/>
            <a:r>
              <a:rPr sz="1080" b="0">
                <a:solidFill>
                  <a:srgbClr val="CADCFC"/>
                </a:solidFill>
                <a:latin typeface="Noto Sans CJK KR"/>
              </a:rPr>
              <a:t>CPU/RAM 게이지가 동시에 증가하고 OS가 자원 중재</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529584"/>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CPU·RAM 사용률, 응답 지연</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465576"/>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OS가 없다면 두 앱의 충돌을 누가 조정할까?</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실시간성 비교</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RTOS 지터 조절</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835568"/>
            <a:ext cx="2335913" cy="332399"/>
          </a:xfrm>
          <a:prstGeom prst="rect">
            <a:avLst/>
          </a:prstGeom>
          <a:noFill/>
        </p:spPr>
        <p:txBody>
          <a:bodyPr wrap="square" lIns="0" tIns="0" rIns="0" bIns="0" anchor="ctr">
            <a:spAutoFit/>
          </a:bodyPr>
          <a:lstStyle/>
          <a:p>
            <a:pPr algn="ctr"/>
            <a:r>
              <a:rPr sz="1080" b="0">
                <a:solidFill>
                  <a:srgbClr val="CADCFC"/>
                </a:solidFill>
                <a:latin typeface="Noto Sans CJK KR"/>
              </a:rPr>
              <a:t>범용 OS 응답 막대는 흔들리고 RTOS는 일정하게 유지</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지터, Deadline miss</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838690"/>
            <a:ext cx="1934335" cy="317010"/>
          </a:xfrm>
          <a:prstGeom prst="rect">
            <a:avLst/>
          </a:prstGeom>
          <a:noFill/>
        </p:spPr>
        <p:txBody>
          <a:bodyPr wrap="square" lIns="0" tIns="0" rIns="0" bIns="0" anchor="ctr">
            <a:spAutoFit/>
          </a:bodyPr>
          <a:lstStyle/>
          <a:p>
            <a:pPr algn="ctr"/>
            <a:r>
              <a:rPr sz="1030" b="1">
                <a:solidFill>
                  <a:srgbClr val="FFFFFF"/>
                </a:solidFill>
                <a:latin typeface="Noto Sans CJK KR"/>
              </a:rPr>
              <a:t>평균 속도와 예측 가능한 응답 중 무엇이 더 중요한가?</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01 · 운영체제 개요</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os_24h_interactive_animations_PRO.html?ch=1</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ACTION · ANIMATION</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DEMO</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OS 요청·자원 중재 시뮬레이터</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OS 요청·자원 중재 시뮬레이터</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시뮬레이터에서 “파일 읽기”를 선택하고 요청 흐름을 관찰</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“카메라 프레임”으로 바꾸고 Device I/O 사용량 변화를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“AI 추론”을 선택해 CPU/RAM 부하가 함께 증가하는지 확인</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RTOS 비교 화면에서 지터를 올려 Deadline 안정성 차이를 토론</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23</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01 · 운영체제 개요</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파일 읽기와 AI 추론의 자원 게이지 비교</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RTOS Deadline 시나리오에서 지터 관찰</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User↔Kernel 경계를 한 문장으로 설명</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01 · ACTION · WORKSHEET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1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01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01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워크시트 C01의 예측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 후 오답을 수정하지 말고 시뮬레이터로 원인을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마지막 서술: “OS는 자원 관리자다”를 한 문장으로 작성</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User Space와 Kernel Space를 왜 나누는가?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Driver는 어느 계층에서 어떤 문제를 해결하는가?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온디바이스 AI에서 OS가 없다면 어떤 문제가 생길까?</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01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25</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1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02. Linux 운영환경 이해</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디렉터리 · 권한 · PATH · /proc · /sys · /dev</a:t>
            </a:r>
            <a:endParaRPr lang="en-US" sz="1600" dirty="0"/>
          </a:p>
        </p:txBody>
      </p:sp>
      <p:pic>
        <p:nvPicPr>
          <p:cNvPr id="5" name="Image 0" descr="/mnt/data/a_clean_infographic_slide_diagram_in_a_dark_blue_batch_2.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Linux 디렉터리 구조에서 시스템 정보의 위치를 찾는다.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rwx 권한과 PATH 검색 흐름을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/proc·/sys·/dev를 이용해 프로세스와 장치 상태를 탐색한다.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755에서 7,5,5는 각각 무엇을 의미하는가?</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Linux 운영환경 이해 · 그림 전체 보기</a:t>
            </a:r>
            <a:endParaRPr lang="en-US" sz="2800" dirty="0"/>
          </a:p>
        </p:txBody>
      </p:sp>
      <p:pic>
        <p:nvPicPr>
          <p:cNvPr id="4" name="Image 0" descr="/mnt/data/a_clean_infographic_slide_diagram_in_a_dark_blue_batch_2.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디렉터리 의미</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권한 모델</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PATH</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가상 파일시스템</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1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Linux 운영환경 이해 · 단계별 그림 해설 ①</a:t>
            </a:r>
            <a:endParaRPr lang="en-US" sz="2800" dirty="0"/>
          </a:p>
        </p:txBody>
      </p:sp>
      <p:pic>
        <p:nvPicPr>
          <p:cNvPr id="4" name="Image 0" descr="/mnt/data/a_clean_infographic_slide_diagram_in_a_dark_blue_batch_2.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디렉터리 의미</a:t>
            </a:r>
            <a:endParaRPr lang="en-US" sz="1500" dirty="0"/>
          </a:p>
        </p:txBody>
      </p:sp>
      <p:sp>
        <p:nvSpPr>
          <p:cNvPr id="10" name="Text 7"/>
          <p:cNvSpPr/>
          <p:nvPr/>
        </p:nvSpPr>
        <p:spPr>
          <a:xfrm>
            <a:off x="8029597" y="2276856"/>
            <a:ext cx="3179782" cy="393192"/>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/home 사용자 데이터, /etc 설정, /proc 프로세스/커널 정보, /sys 장치/커널 객체, /dev 장치 노드</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권한 모델</a:t>
            </a:r>
            <a:endParaRPr lang="en-US" sz="1500" dirty="0"/>
          </a:p>
        </p:txBody>
      </p:sp>
      <p:sp>
        <p:nvSpPr>
          <p:cNvPr id="14" name="Text 11"/>
          <p:cNvSpPr/>
          <p:nvPr/>
        </p:nvSpPr>
        <p:spPr>
          <a:xfrm>
            <a:off x="8029597" y="3090672"/>
            <a:ext cx="3291840" cy="320040"/>
          </a:xfrm>
          <a:prstGeom prst="rect">
            <a:avLst/>
          </a:prstGeom>
          <a:noFill/>
          <a:ln/>
        </p:spPr>
        <p:txBody>
          <a:bodyPr wrap="square" lIns="254" tIns="254" rIns="254" bIns="254" rtlCol="0" anchor="t">
            <a:normAutofit fontScale="925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Owner/Group/Others에 대해 read/write/execute를 독립적으로 부여</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디렉터리 의미가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권한 모델가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1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Linux 운영환경 이해 · 단계별 그림 해설 ②</a:t>
            </a:r>
            <a:endParaRPr lang="en-US" sz="2800" dirty="0"/>
          </a:p>
        </p:txBody>
      </p:sp>
      <p:pic>
        <p:nvPicPr>
          <p:cNvPr id="4" name="Image 0" descr="/mnt/data/a_clean_infographic_slide_diagram_in_a_dark_blue_batch_2.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PATH</a:t>
            </a:r>
            <a:endParaRPr lang="en-US" sz="1500" dirty="0"/>
          </a:p>
        </p:txBody>
      </p:sp>
      <p:sp>
        <p:nvSpPr>
          <p:cNvPr id="10" name="Text 7"/>
          <p:cNvSpPr/>
          <p:nvPr/>
        </p:nvSpPr>
        <p:spPr>
          <a:xfrm>
            <a:off x="7973568" y="2340864"/>
            <a:ext cx="3291840" cy="237744"/>
          </a:xfrm>
          <a:prstGeom prst="rect">
            <a:avLst/>
          </a:prstGeom>
          <a:noFill/>
          <a:ln/>
        </p:spPr>
        <p:txBody>
          <a:bodyPr wrap="square" lIns="254" tIns="254" rIns="254" bIns="254" rtlCol="0" anchor="t">
            <a:normAutofit fontScale="850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명령 이름만 입력했을 때 실행 파일을 찾는 검색 경로 목록</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가상 파일시스템</a:t>
            </a:r>
            <a:endParaRPr lang="en-US" sz="1500" dirty="0"/>
          </a:p>
        </p:txBody>
      </p:sp>
      <p:sp>
        <p:nvSpPr>
          <p:cNvPr id="14" name="Text 11"/>
          <p:cNvSpPr/>
          <p:nvPr/>
        </p:nvSpPr>
        <p:spPr>
          <a:xfrm>
            <a:off x="7973568" y="3200400"/>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/proc와 /sys는 디스크 파일이 아니라 Kernel 상태를 파일 형태로 노출</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PATH와 가상 파일시스템는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복잡한 그림 세부 해설 1</a:t>
            </a:r>
          </a:p>
        </p:txBody>
      </p:sp>
      <p:pic>
        <p:nvPicPr>
          <p:cNvPr id="5" name="Picture 4" descr="ch02_full.jpg"/>
          <p:cNvPicPr>
            <a:picLocks noChangeAspect="1"/>
          </p:cNvPicPr>
          <p:nvPr/>
        </p:nvPicPr>
        <p:blipFill>
          <a:blip r:embed="rId3"/>
          <a:stretch>
            <a:fillRect/>
          </a:stretch>
        </p:blipFill>
        <p:spPr>
          <a:xfrm>
            <a:off x="548931" y="1275588"/>
            <a:ext cx="6924255" cy="38907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디렉터리 구조</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/home·/etc·/proc·/sys·/dev의 역할을 위치가 아니라 정보 종류로 구분합니다.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DIAGRAM ZOOM 1</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복잡한 그림 세부 해설 2</a:t>
            </a:r>
          </a:p>
        </p:txBody>
      </p:sp>
      <p:pic>
        <p:nvPicPr>
          <p:cNvPr id="5" name="Picture 4" descr="ch02_full.jpg"/>
          <p:cNvPicPr>
            <a:picLocks noChangeAspect="1"/>
          </p:cNvPicPr>
          <p:nvPr/>
        </p:nvPicPr>
        <p:blipFill>
          <a:blip r:embed="rId3"/>
          <a:stretch>
            <a:fillRect/>
          </a:stretch>
        </p:blipFill>
        <p:spPr>
          <a:xfrm>
            <a:off x="508161" y="1417320"/>
            <a:ext cx="6672020" cy="3749040"/>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권한 rwx</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Owner/Group/Others의 read·write·execute를 숫자 권한과 연결합니다.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DIAGRAM ZOOM 2</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복잡한 그림 세부 해설 3</a:t>
            </a:r>
          </a:p>
        </p:txBody>
      </p:sp>
      <p:pic>
        <p:nvPicPr>
          <p:cNvPr id="5" name="Picture 4" descr="ch02_full.jpg"/>
          <p:cNvPicPr>
            <a:picLocks noChangeAspect="1"/>
          </p:cNvPicPr>
          <p:nvPr/>
        </p:nvPicPr>
        <p:blipFill>
          <a:blip r:embed="rId3"/>
          <a:stretch>
            <a:fillRect/>
          </a:stretch>
        </p:blipFill>
        <p:spPr>
          <a:xfrm>
            <a:off x="438912" y="1289303"/>
            <a:ext cx="6851024" cy="3849623"/>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PATH 검색</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명령 이름을 입력하면 PATH 목록을 순차 검색해 실행 파일을 찾습니다.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/proc·/sys·/dev</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프로세스·커널·장치 상태가 파일/노드 형태로 노출됩니다.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DIAGRAM ZOOM 3</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02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Linux 운영환경 이해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명령 입력</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Shell에 명령 또는 실행 파일 요청</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PATH 검색</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PATH 디렉터리를 순서대로 탐색</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권한 검사</a:t>
            </a:r>
          </a:p>
        </p:txBody>
      </p:sp>
      <p:sp>
        <p:nvSpPr>
          <p:cNvPr id="23" name="TextBox 22"/>
          <p:cNvSpPr txBox="1"/>
          <p:nvPr/>
        </p:nvSpPr>
        <p:spPr>
          <a:xfrm>
            <a:off x="4340351" y="2463142"/>
            <a:ext cx="1437259" cy="267509"/>
          </a:xfrm>
          <a:prstGeom prst="rect">
            <a:avLst/>
          </a:prstGeom>
          <a:noFill/>
        </p:spPr>
        <p:txBody>
          <a:bodyPr wrap="square" lIns="0" tIns="0" rIns="0" bIns="0" anchor="ctr">
            <a:spAutoFit/>
          </a:bodyPr>
          <a:lstStyle/>
          <a:p>
            <a:pPr algn="ctr"/>
            <a:r>
              <a:rPr sz="869" b="0">
                <a:solidFill>
                  <a:srgbClr val="CADCFC"/>
                </a:solidFill>
                <a:latin typeface="Noto Sans CJK KR"/>
              </a:rPr>
              <a:t>r/w/x 권한으로 실행 가능 여부 판단</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프로세스 실행</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실행되면 PID를 가진 Process 생성</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/proc 생성</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/proc/PID에서 상태가 보임</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/sys · /dev 확인</a:t>
            </a:r>
          </a:p>
        </p:txBody>
      </p:sp>
      <p:sp>
        <p:nvSpPr>
          <p:cNvPr id="41" name="TextBox 40"/>
          <p:cNvSpPr txBox="1"/>
          <p:nvPr/>
        </p:nvSpPr>
        <p:spPr>
          <a:xfrm>
            <a:off x="9973056" y="2463142"/>
            <a:ext cx="1389966" cy="267509"/>
          </a:xfrm>
          <a:prstGeom prst="rect">
            <a:avLst/>
          </a:prstGeom>
          <a:noFill/>
        </p:spPr>
        <p:txBody>
          <a:bodyPr wrap="square" lIns="0" tIns="0" rIns="0" bIns="0" anchor="ctr">
            <a:spAutoFit/>
          </a:bodyPr>
          <a:lstStyle/>
          <a:p>
            <a:pPr algn="ctr"/>
            <a:r>
              <a:rPr sz="869" b="0">
                <a:solidFill>
                  <a:srgbClr val="CADCFC"/>
                </a:solidFill>
                <a:latin typeface="Noto Sans CJK KR"/>
              </a:rPr>
              <a:t>장치가 연결되면 /sys 정보와 /dev 노드 확인</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경로·권한·프로세스·장치가 서로 다른 문제임</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/proc와 /sys는 Kernel 상태를 파일처럼 보여줌</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/dev 노드의 존재는 장치 접근 가능성의 중요한 단서</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3977639"/>
            <a:ext cx="3127248" cy="841248"/>
          </a:xfrm>
          <a:prstGeom prst="rect">
            <a:avLst/>
          </a:prstGeom>
          <a:noFill/>
        </p:spPr>
        <p:txBody>
          <a:bodyPr wrap="none" lIns="0" tIns="0" rIns="0" bIns="0" anchor="ctr">
            <a:spAutoFit/>
          </a:bodyPr>
          <a:lstStyle/>
          <a:p>
            <a:pPr algn="ctr"/>
            <a:r>
              <a:rPr sz="1700" b="1">
                <a:solidFill>
                  <a:srgbClr val="FFFFFF"/>
                </a:solidFill>
                <a:latin typeface="Noto Sans CJK KR"/>
              </a:rPr>
              <a:t>명령 이름만 쳤는데 실행되는 이유는?</a:t>
            </a:r>
          </a:p>
        </p:txBody>
      </p:sp>
      <p:sp>
        <p:nvSpPr>
          <p:cNvPr id="56" name="TextBox 55"/>
          <p:cNvSpPr txBox="1"/>
          <p:nvPr/>
        </p:nvSpPr>
        <p:spPr>
          <a:xfrm>
            <a:off x="8183879" y="5010912"/>
            <a:ext cx="3063240" cy="365760"/>
          </a:xfrm>
          <a:prstGeom prst="rect">
            <a:avLst/>
          </a:prstGeom>
          <a:noFill/>
        </p:spPr>
        <p:txBody>
          <a:bodyPr wrap="non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명령 입력</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PATH 검색</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권한 확인</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명령 입력</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PATH 검색</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권한 확인</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WORKFLOW 전반부</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02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Linux 운영환경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프로세스 생성</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/proc 생성</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/sys·/dev 장치 확인</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프로세스 생성</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/proc 생성</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/sys·/dev 장치 확인</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WORKFLOW 후반부</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2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camera_app은 있는데 실행도, 카메라 접근도 안 된다</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camera_app은 있는데 실행도, 카메라 접근도 안 된다</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먼저 현재 위치와 파일 존재 여부를 확인한다.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실행 권한(x)이 없으면 Permission denied가 발생한다.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프로세스가 실행되면 /proc/PID가 생기고 fd에서 장치 연결을 볼 수 있다.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카메라가 연결되면 /sys와 /dev에 관련 노드가 나타나는지 확인한다.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02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Linux 운영환경 이해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경로 탐색</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PATH 검색 실행</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494704"/>
            <a:ext cx="2330089" cy="332399"/>
          </a:xfrm>
          <a:prstGeom prst="rect">
            <a:avLst/>
          </a:prstGeom>
          <a:noFill/>
        </p:spPr>
        <p:txBody>
          <a:bodyPr wrap="square" lIns="0" tIns="0" rIns="0" bIns="0" anchor="ctr">
            <a:spAutoFit/>
          </a:bodyPr>
          <a:lstStyle/>
          <a:p>
            <a:pPr algn="ctr"/>
            <a:r>
              <a:rPr sz="1080" b="0">
                <a:solidFill>
                  <a:srgbClr val="CADCFC"/>
                </a:solidFill>
                <a:latin typeface="Noto Sans CJK KR"/>
              </a:rPr>
              <a:t>후보 디렉터리가 차례로 강조되고 실행 파일에서 멈춤</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359152"/>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검색 순서, 발견 위치</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295144"/>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명령 이름만 쳤는데 실행되는 이유는?</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권한 오류</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x 권한 OFF 후 접근</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493008"/>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파일까지 도달하지만 실행 단계에서 차단</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666675"/>
            <a:ext cx="1432463" cy="329321"/>
          </a:xfrm>
          <a:prstGeom prst="rect">
            <a:avLst/>
          </a:prstGeom>
          <a:noFill/>
        </p:spPr>
        <p:txBody>
          <a:bodyPr wrap="square" lIns="0" tIns="0" rIns="0" bIns="0" anchor="ctr">
            <a:spAutoFit/>
          </a:bodyPr>
          <a:lstStyle/>
          <a:p>
            <a:pPr algn="ctr"/>
            <a:r>
              <a:rPr sz="1070" b="1">
                <a:solidFill>
                  <a:srgbClr val="FFC24B"/>
                </a:solidFill>
                <a:latin typeface="Noto Sans CJK KR"/>
              </a:rPr>
              <a:t>권한 숫자, Permission denied</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465576"/>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chmod 777이 왜 좋은 기본 해결책이 아닌가?</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장치 이벤트</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Camera 연결/해제</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663440"/>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/sys와 /dev 노드가 생성·제거됨</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/sys/class, /dev/video0</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838690"/>
            <a:ext cx="2126533" cy="317010"/>
          </a:xfrm>
          <a:prstGeom prst="rect">
            <a:avLst/>
          </a:prstGeom>
          <a:noFill/>
        </p:spPr>
        <p:txBody>
          <a:bodyPr wrap="square" lIns="0" tIns="0" rIns="0" bIns="0" anchor="ctr">
            <a:spAutoFit/>
          </a:bodyPr>
          <a:lstStyle/>
          <a:p>
            <a:pPr algn="ctr"/>
            <a:r>
              <a:rPr sz="1030" b="1">
                <a:solidFill>
                  <a:srgbClr val="FFFFFF"/>
                </a:solidFill>
                <a:latin typeface="Noto Sans CJK KR"/>
              </a:rPr>
              <a:t>프로세스가 살아 있는데 카메라가 안 될 때 무엇을 먼저 볼까?</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02 · Linux 운영환경</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os_24h_interactive_animations_PRO.html?ch=2</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ACTION · ANIMATION</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2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DEMO</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Linux 경로·권한 + /proc·/sys 관찰</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Linux 경로·권한 + /proc·/sys 관찰</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디렉터리 탐색 화면에서 / → /home → /proc → /sys → /dev 이동</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r/w/x 조합을 바꾸고 접근 성공/실패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Process 생성 버튼으로 /proc/PID 생성 확인</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Camera 연결/해제로 /sys와 /dev 노드 변화 확인</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39</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02 · Linux 운영환경</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PATH 미등록과 실행권한 없음 시나리오 비교</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Camera Hot Plug로 /sys·/dev 변화 관찰</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755 권한을 말로 해석</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02 · ACTION · WORKSHEET</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2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02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02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755·644·700 권한을 말로 해석</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PATH가 명령을 찾는 순서를 그림으로 설명</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/proc·/sys·/dev 중 어떤 정보를 어디서 볼지 사례별 선택</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755에서 7,5,5는 각각 무엇을 의미하는가?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/proc와 /sys는 왜 “가상” 파일시스템인가?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/dev/video0가 없다는 것은 어떤 단서를 주는가?</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02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41</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2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03</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03. 프로세스와 스레드</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상태 전이 · fork/exec · Thread 공유 · Race/Mutex</a:t>
            </a:r>
            <a:endParaRPr lang="en-US" sz="1600" dirty="0"/>
          </a:p>
        </p:txBody>
      </p:sp>
      <p:pic>
        <p:nvPicPr>
          <p:cNvPr id="5" name="Image 0" descr="/mnt/data/a_single_infographic_slide_style_image_dark_navy_batch_3.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프로세스의 Ready/Running/Waiting 상태 전이를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fork와 exec의 차이를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Thread 공유 자원과 Race Condition을 이해하고 Mutex 필요성을 판단한다.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Waiting과 Ready의 차이는 무엇인가?</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프로세스와 스레드 · 그림 전체 보기</a:t>
            </a:r>
            <a:endParaRPr lang="en-US" sz="2800" dirty="0"/>
          </a:p>
        </p:txBody>
      </p:sp>
      <p:pic>
        <p:nvPicPr>
          <p:cNvPr id="4" name="Image 0" descr="/mnt/data/a_single_infographic_slide_style_image_dark_navy_batch_3.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프로세스</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상태 전이</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fork / exec</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Thread</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2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프로세스와 스레드 · 단계별 그림 해설 ①</a:t>
            </a:r>
            <a:endParaRPr lang="en-US" sz="2800" dirty="0"/>
          </a:p>
        </p:txBody>
      </p:sp>
      <p:pic>
        <p:nvPicPr>
          <p:cNvPr id="4" name="Image 0" descr="/mnt/data/a_single_infographic_slide_style_image_dark_navy_batch_3.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프로세스</a:t>
            </a:r>
            <a:endParaRPr lang="en-US" sz="1500" dirty="0"/>
          </a:p>
        </p:txBody>
      </p:sp>
      <p:sp>
        <p:nvSpPr>
          <p:cNvPr id="10" name="Text 7"/>
          <p:cNvSpPr/>
          <p:nvPr/>
        </p:nvSpPr>
        <p:spPr>
          <a:xfrm>
            <a:off x="7973568" y="2313432"/>
            <a:ext cx="3291840" cy="320040"/>
          </a:xfrm>
          <a:prstGeom prst="rect">
            <a:avLst/>
          </a:prstGeom>
          <a:noFill/>
          <a:ln/>
        </p:spPr>
        <p:txBody>
          <a:bodyPr wrap="square" lIns="254" tIns="254" rIns="254" bIns="254" rtlCol="0" anchor="t">
            <a:normAutofit fontScale="925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실행 중인 프로그램의 인스턴스이며 PID와 독립 주소 공간을 가짐</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상태 전이</a:t>
            </a:r>
            <a:endParaRPr lang="en-US" sz="1500" dirty="0"/>
          </a:p>
        </p:txBody>
      </p:sp>
      <p:sp>
        <p:nvSpPr>
          <p:cNvPr id="14" name="Text 11"/>
          <p:cNvSpPr/>
          <p:nvPr/>
        </p:nvSpPr>
        <p:spPr>
          <a:xfrm>
            <a:off x="8001000" y="3083188"/>
            <a:ext cx="3291840" cy="309236"/>
          </a:xfrm>
          <a:prstGeom prst="rect">
            <a:avLst/>
          </a:prstGeom>
          <a:noFill/>
          <a:ln/>
        </p:spPr>
        <p:txBody>
          <a:bodyPr wrap="square" lIns="254" tIns="254" rIns="254" bIns="254" rtlCol="0" anchor="t">
            <a:normAutofit fontScale="92500"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Ready는 CPU 대기, Running은 실행, Waiting은 I/O·이벤트 대기</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프로세스가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상태 전이가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2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프로세스와 스레드 · 단계별 그림 해설 ②</a:t>
            </a:r>
            <a:endParaRPr lang="en-US" sz="2800" dirty="0"/>
          </a:p>
        </p:txBody>
      </p:sp>
      <p:pic>
        <p:nvPicPr>
          <p:cNvPr id="4" name="Image 0" descr="/mnt/data/a_single_infographic_slide_style_image_dark_navy_batch_3.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fork / exec</a:t>
            </a:r>
            <a:endParaRPr lang="en-US" sz="1500" dirty="0"/>
          </a:p>
        </p:txBody>
      </p:sp>
      <p:sp>
        <p:nvSpPr>
          <p:cNvPr id="10" name="Text 7"/>
          <p:cNvSpPr/>
          <p:nvPr/>
        </p:nvSpPr>
        <p:spPr>
          <a:xfrm>
            <a:off x="7973568" y="2313432"/>
            <a:ext cx="3291840" cy="292608"/>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fork는 새 프로세스 생성, exec는 같은 PID에서 실행 이미지를 교체</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Thread</a:t>
            </a:r>
            <a:endParaRPr lang="en-US" sz="1500" dirty="0"/>
          </a:p>
        </p:txBody>
      </p:sp>
      <p:sp>
        <p:nvSpPr>
          <p:cNvPr id="14" name="Text 11"/>
          <p:cNvSpPr/>
          <p:nvPr/>
        </p:nvSpPr>
        <p:spPr>
          <a:xfrm>
            <a:off x="7973568" y="3108960"/>
            <a:ext cx="3291840" cy="338328"/>
          </a:xfrm>
          <a:prstGeom prst="rect">
            <a:avLst/>
          </a:prstGeom>
          <a:noFill/>
          <a:ln/>
        </p:spPr>
        <p:txBody>
          <a:bodyPr wrap="square" lIns="254" tIns="254" rIns="254" bIns="254" rtlCol="0" anchor="t">
            <a:normAutofit lnSpcReduction="1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Code/Data/Heap은 공유하고 각 Thread가 Stack을 별도로 가짐</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fork / exec와 Thread는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복잡한 그림 세부 해설 1</a:t>
            </a:r>
          </a:p>
        </p:txBody>
      </p:sp>
      <p:pic>
        <p:nvPicPr>
          <p:cNvPr id="5" name="Picture 4" descr="ch03_full.jpg"/>
          <p:cNvPicPr>
            <a:picLocks noChangeAspect="1"/>
          </p:cNvPicPr>
          <p:nvPr/>
        </p:nvPicPr>
        <p:blipFill>
          <a:blip r:embed="rId3"/>
          <a:stretch>
            <a:fillRect/>
          </a:stretch>
        </p:blipFill>
        <p:spPr>
          <a:xfrm>
            <a:off x="438912" y="1161287"/>
            <a:ext cx="7023502" cy="3946539"/>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프로세스 상태</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New·Ready·Running·Waiting·Terminated가 사건에 따라 이동합니다.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DIAGRAM ZOOM 1</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복잡한 그림 세부 해설 2</a:t>
            </a:r>
          </a:p>
        </p:txBody>
      </p:sp>
      <p:pic>
        <p:nvPicPr>
          <p:cNvPr id="5" name="Picture 4" descr="ch03_full.jpg"/>
          <p:cNvPicPr>
            <a:picLocks noChangeAspect="1"/>
          </p:cNvPicPr>
          <p:nvPr/>
        </p:nvPicPr>
        <p:blipFill>
          <a:blip r:embed="rId3"/>
          <a:stretch>
            <a:fillRect/>
          </a:stretch>
        </p:blipFill>
        <p:spPr>
          <a:xfrm>
            <a:off x="438911" y="1060704"/>
            <a:ext cx="6881187" cy="38665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fork / exec</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fork는 프로세스를 만들고 exec는 현재 실행 이미지를 교체합니다.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DIAGRAM ZOOM 2</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복잡한 그림 세부 해설 3</a:t>
            </a:r>
          </a:p>
        </p:txBody>
      </p:sp>
      <p:pic>
        <p:nvPicPr>
          <p:cNvPr id="5" name="Picture 4" descr="ch03_full.jpg"/>
          <p:cNvPicPr>
            <a:picLocks noChangeAspect="1"/>
          </p:cNvPicPr>
          <p:nvPr/>
        </p:nvPicPr>
        <p:blipFill>
          <a:blip r:embed="rId3"/>
          <a:stretch>
            <a:fillRect/>
          </a:stretch>
        </p:blipFill>
        <p:spPr>
          <a:xfrm>
            <a:off x="368380" y="1161288"/>
            <a:ext cx="6899119" cy="3876648"/>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Thread 공유</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Code/Data/Heap은 공유하고 Thread별 Stack은 분리됩니다.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Race / Mutex</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공유 데이터의 비원자적 연산은 Race를 만들며 Mutex로 임계영역을 보호합니다.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DIAGRAM ZOOM 3</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03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프로세스와 스레드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New</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프로그램 실행으로 Process 생성</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Ready</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CPU를 기다리는 Ready Queue 진입</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Running</a:t>
            </a:r>
          </a:p>
        </p:txBody>
      </p:sp>
      <p:sp>
        <p:nvSpPr>
          <p:cNvPr id="23" name="TextBox 22"/>
          <p:cNvSpPr txBox="1"/>
          <p:nvPr/>
        </p:nvSpPr>
        <p:spPr>
          <a:xfrm>
            <a:off x="4340351"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Scheduler가 선택하면 Running</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Waiting</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I/O 요청 시 Waiting으로 이동</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Ready 복귀</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이벤트 완료 후 다시 Ready</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Terminate / fork / exec</a:t>
            </a:r>
          </a:p>
        </p:txBody>
      </p:sp>
      <p:sp>
        <p:nvSpPr>
          <p:cNvPr id="41" name="TextBox 40"/>
          <p:cNvSpPr txBox="1"/>
          <p:nvPr/>
        </p:nvSpPr>
        <p:spPr>
          <a:xfrm>
            <a:off x="9973056" y="2463142"/>
            <a:ext cx="1483153" cy="267509"/>
          </a:xfrm>
          <a:prstGeom prst="rect">
            <a:avLst/>
          </a:prstGeom>
          <a:noFill/>
        </p:spPr>
        <p:txBody>
          <a:bodyPr wrap="square" lIns="0" tIns="0" rIns="0" bIns="0" anchor="ctr">
            <a:spAutoFit/>
          </a:bodyPr>
          <a:lstStyle/>
          <a:p>
            <a:pPr algn="ctr"/>
            <a:r>
              <a:rPr sz="869" b="0">
                <a:solidFill>
                  <a:srgbClr val="CADCFC"/>
                </a:solidFill>
                <a:latin typeface="Noto Sans CJK KR"/>
              </a:rPr>
              <a:t>종료하거나 fork/exec로 실행 구조 변화</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Ready와 Waiting은 “기다린다”는 점은 같지만 이유가 다름</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fork는 Process를 만들고 exec는 실행 이미지를 교체</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Thread는 공유 자원과 개별 Stack을 동시에 가짐</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4136653"/>
            <a:ext cx="2951999" cy="523220"/>
          </a:xfrm>
          <a:prstGeom prst="rect">
            <a:avLst/>
          </a:prstGeom>
          <a:noFill/>
        </p:spPr>
        <p:txBody>
          <a:bodyPr wrap="square" lIns="0" tIns="0" rIns="0" bIns="0" anchor="ctr">
            <a:spAutoFit/>
          </a:bodyPr>
          <a:lstStyle/>
          <a:p>
            <a:pPr algn="ctr"/>
            <a:r>
              <a:rPr sz="1700" b="1">
                <a:solidFill>
                  <a:srgbClr val="FFFFFF"/>
                </a:solidFill>
                <a:latin typeface="Noto Sans CJK KR"/>
              </a:rPr>
              <a:t>Waiting과 Ready를 구분하는 핵심 조건은?</a:t>
            </a:r>
          </a:p>
        </p:txBody>
      </p:sp>
      <p:sp>
        <p:nvSpPr>
          <p:cNvPr id="56" name="TextBox 55"/>
          <p:cNvSpPr txBox="1"/>
          <p:nvPr/>
        </p:nvSpPr>
        <p:spPr>
          <a:xfrm>
            <a:off x="8183879" y="5010912"/>
            <a:ext cx="2864636" cy="323165"/>
          </a:xfrm>
          <a:prstGeom prst="rect">
            <a:avLst/>
          </a:prstGeom>
          <a:noFill/>
        </p:spPr>
        <p:txBody>
          <a:bodyPr wrap="squar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New 생성</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Ready Queue</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CPU Running</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New 생성</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Ready Queue</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CPU Running</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WORKFLOW 전반부</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03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프로세스와 스레드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I/O Waiting</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Ready 복귀</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종료/회수</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I/O Waiting</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Ready 복귀</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종료/회수</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WORKFLOW 후반부</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27">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두 스레드가 counter++ 했는데 결과가 기대값보다 작다</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두 스레드가 counter++ 했는데 결과가 기대값보다 작다</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counter++는 읽기-증가-쓰기의 여러 단계로 나뉜다.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두 Thread가 같은 값을 읽으면 한 번의 증가가 사라질 수 있다.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Mutex는 임계 구역에 한 Thread만 들어가도록 직렬화한다.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동기화는 정확성을 주지만 대기와 오버헤드를 만들 수 있다.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03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프로세스와 스레드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상태 전이</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상태 진행 버튼</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411605"/>
            <a:ext cx="2306792" cy="498598"/>
          </a:xfrm>
          <a:prstGeom prst="rect">
            <a:avLst/>
          </a:prstGeom>
          <a:noFill/>
        </p:spPr>
        <p:txBody>
          <a:bodyPr wrap="square" lIns="0" tIns="0" rIns="0" bIns="0" anchor="ctr">
            <a:spAutoFit/>
          </a:bodyPr>
          <a:lstStyle/>
          <a:p>
            <a:pPr algn="ctr"/>
            <a:r>
              <a:rPr sz="1080" b="0">
                <a:solidFill>
                  <a:srgbClr val="CADCFC"/>
                </a:solidFill>
                <a:latin typeface="Noto Sans CJK KR"/>
              </a:rPr>
              <a:t>Process 카드가 Ready→Running→Waiting→Ready로 이동</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359152"/>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현재 상태, Queue 위치</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295144"/>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Waiting과 Ready를 구분하는 핵심 조건은?</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fork / exec</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fork 후 exec 실행</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665136"/>
            <a:ext cx="2359210" cy="332399"/>
          </a:xfrm>
          <a:prstGeom prst="rect">
            <a:avLst/>
          </a:prstGeom>
          <a:noFill/>
        </p:spPr>
        <p:txBody>
          <a:bodyPr wrap="square" lIns="0" tIns="0" rIns="0" bIns="0" anchor="ctr">
            <a:spAutoFit/>
          </a:bodyPr>
          <a:lstStyle/>
          <a:p>
            <a:pPr algn="ctr"/>
            <a:r>
              <a:rPr sz="1080" b="0">
                <a:solidFill>
                  <a:srgbClr val="CADCFC"/>
                </a:solidFill>
                <a:latin typeface="Noto Sans CJK KR"/>
              </a:rPr>
              <a:t>자식 Process가 생기고 exec에서 실행 이미지가 교체</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529584"/>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PID 수, 실행 이미지</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465576"/>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fork와 exec를 같이 쓰는 이유는?</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Race / Mutex</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Mutex OFF/ON 비교</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663440"/>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두 Thread가 동시에 접근하거나 한쪽이 대기</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기대 counter vs 실제 counter</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636007"/>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정확성을 얻는 대신 Mutex가 만드는 비용은?</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03 · 프로세스와 스레드</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os_24h_interactive_animations_PRO.html?ch=3</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ACTION · ANIMATION</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28">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DEMO</a:t>
            </a:r>
            <a:endParaRPr lang="en-US" sz="1000" dirty="0"/>
          </a:p>
        </p:txBody>
      </p:sp>
      <p:sp>
        <p:nvSpPr>
          <p:cNvPr id="3" name="Text 1"/>
          <p:cNvSpPr/>
          <p:nvPr/>
        </p:nvSpPr>
        <p:spPr>
          <a:xfrm>
            <a:off x="438912" y="566928"/>
            <a:ext cx="10991088"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프로세스 생명주기 + Thread Race 시뮬레이터</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프로세스 생명주기 + Thread Race 시뮬레이터</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상태 진행 버튼으로 Ready→Running→Waiting→Ready 흐름 확인</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fork()로 자식 생성 후 exec()로 이미지 교체</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Mutex OFF로 반복 실행하여 실제값과 기대값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Mutex ON으로 다시 실행하여 정확성 회복 확인</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55</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03 · 프로세스와 스레드</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I/O 요청 상태 전이 추적</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fork→exec 흐름 실행</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Race와 Mutex 결과 Counter 비교</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03 · ACTION · WORKSHEET</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03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03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상태 전이를 사건과 연결해 표 완성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Process vs Thread를 메모리 관점에서 비교</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Race Condition 사례를 설명하고 Mutex 적용 위치 표시</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Waiting과 Ready의 차이는 무엇인가?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fork 후 부모와 자식은 무엇이 같은가/다른가?</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Mutex를 아무 곳에나 크게 잡으면 어떤 문제가 생길까?</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03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57</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30">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DAY 1 · CHAPTER 04</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Chapter 04. CPU와 스케줄링</a:t>
            </a:r>
            <a:endParaRPr lang="en-US" sz="2800" dirty="0"/>
          </a:p>
        </p:txBody>
      </p:sp>
      <p:sp>
        <p:nvSpPr>
          <p:cNvPr id="4" name="Text 2"/>
          <p:cNvSpPr/>
          <p:nvPr/>
        </p:nvSpPr>
        <p:spPr>
          <a:xfrm>
            <a:off x="475488" y="1078992"/>
            <a:ext cx="5577840" cy="384048"/>
          </a:xfrm>
          <a:prstGeom prst="rect">
            <a:avLst/>
          </a:prstGeom>
          <a:noFill/>
          <a:ln/>
        </p:spPr>
        <p:txBody>
          <a:bodyPr wrap="square" lIns="0" tIns="0" rIns="0" bIns="0" rtlCol="0" anchor="ctr">
            <a:normAutofit/>
          </a:bodyP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FCFS · SJF · Priority · Round Robin · Context Switch · Multi-Core</a:t>
            </a:r>
            <a:endParaRPr lang="en-US" sz="1600" dirty="0"/>
          </a:p>
        </p:txBody>
      </p:sp>
      <p:pic>
        <p:nvPicPr>
          <p:cNvPr id="5" name="Image 0" descr="/mnt/data/a_clean_educational_infographic_slide_style_imag_batch_4.png"/>
          <p:cNvPicPr>
            <a:picLocks noChangeAspect="1"/>
          </p:cNvPicPr>
          <p:nvPr/>
        </p:nvPicPr>
        <p:blipFill>
          <a:blip r:embed="rId3"/>
          <a:srcRect/>
          <a:stretch/>
        </p:blipFill>
        <p:spPr>
          <a:xfrm>
            <a:off x="5961888" y="1733934"/>
            <a:ext cx="5715000" cy="3216397"/>
          </a:xfrm>
          <a:prstGeom prst="rect">
            <a:avLst/>
          </a:prstGeom>
        </p:spPr>
      </p:pic>
      <p:sp>
        <p:nvSpPr>
          <p:cNvPr id="6" name="Shape 3"/>
          <p:cNvSpPr/>
          <p:nvPr/>
        </p:nvSpPr>
        <p:spPr>
          <a:xfrm>
            <a:off x="530352" y="1691640"/>
            <a:ext cx="4983480" cy="3886200"/>
          </a:xfrm>
          <a:prstGeom prst="roundRect">
            <a:avLst>
              <a:gd name="adj" fmla="val 1647"/>
            </a:avLst>
          </a:prstGeom>
          <a:solidFill>
            <a:srgbClr val="2A3578">
              <a:alpha val="97000"/>
            </a:srgbClr>
          </a:solidFill>
          <a:ln w="12700">
            <a:solidFill>
              <a:srgbClr val="36429A"/>
            </a:solidFill>
            <a:prstDash val="solid"/>
          </a:ln>
        </p:spPr>
        <p:txBody>
          <a:bodyPr/>
          <a:lstStyle/>
          <a:p>
            <a:endParaRPr/>
          </a:p>
        </p:txBody>
      </p:sp>
      <p:sp>
        <p:nvSpPr>
          <p:cNvPr id="7" name="Text 4"/>
          <p:cNvSpPr/>
          <p:nvPr/>
        </p:nvSpPr>
        <p:spPr>
          <a:xfrm>
            <a:off x="804672" y="1965960"/>
            <a:ext cx="1371600" cy="310896"/>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학습 목표</a:t>
            </a:r>
            <a:endParaRPr lang="en-US" sz="1600" dirty="0"/>
          </a:p>
        </p:txBody>
      </p:sp>
      <p:sp>
        <p:nvSpPr>
          <p:cNvPr id="8" name="Text 5"/>
          <p:cNvSpPr/>
          <p:nvPr/>
        </p:nvSpPr>
        <p:spPr>
          <a:xfrm>
            <a:off x="822960" y="2468880"/>
            <a:ext cx="4434840" cy="160020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대표 스케줄링 알고리즘의 선택 기준과 결과를 비교한다.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Time Quantum과 Context Switch의 관계를 설명한다.</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멀티코어와 CPU Affinity가 실행에 미치는 영향을 설명한다.</a:t>
            </a:r>
            <a:endParaRPr lang="en-US" sz="1400" dirty="0"/>
          </a:p>
        </p:txBody>
      </p:sp>
      <p:sp>
        <p:nvSpPr>
          <p:cNvPr id="9" name="Text 6"/>
          <p:cNvSpPr/>
          <p:nvPr/>
        </p:nvSpPr>
        <p:spPr>
          <a:xfrm>
            <a:off x="804672" y="4297680"/>
            <a:ext cx="1371600" cy="274320"/>
          </a:xfrm>
          <a:prstGeom prst="rect">
            <a:avLst/>
          </a:prstGeom>
          <a:noFill/>
          <a:ln/>
        </p:spPr>
        <p:txBody>
          <a:bodyPr wrap="square" lIns="0" tIns="0" rIns="0" bIns="0" rtlCol="0" anchor="ctr"/>
          <a:lstStyle/>
          <a:p>
            <a:pPr marL="0" indent="0">
              <a:buNone/>
            </a:pPr>
            <a:r>
              <a:rPr lang="en-US" sz="1400" b="1" dirty="0">
                <a:solidFill>
                  <a:srgbClr val="FFC24B"/>
                </a:solidFill>
                <a:latin typeface="Noto Sans CJK KR" pitchFamily="34" charset="0"/>
                <a:ea typeface="Noto Sans CJK KR" pitchFamily="34" charset="-122"/>
                <a:cs typeface="Noto Sans CJK KR" pitchFamily="34" charset="-120"/>
              </a:rPr>
              <a:t>시작 질문</a:t>
            </a:r>
            <a:endParaRPr lang="en-US" sz="1400" dirty="0"/>
          </a:p>
        </p:txBody>
      </p:sp>
      <p:sp>
        <p:nvSpPr>
          <p:cNvPr id="10" name="Text 7"/>
          <p:cNvSpPr/>
          <p:nvPr/>
        </p:nvSpPr>
        <p:spPr>
          <a:xfrm>
            <a:off x="822960" y="4681728"/>
            <a:ext cx="4480560" cy="530352"/>
          </a:xfrm>
          <a:prstGeom prst="rect">
            <a:avLst/>
          </a:prstGeom>
          <a:noFill/>
          <a:ln/>
        </p:spPr>
        <p:txBody>
          <a:bodyPr wrap="square" lIns="254" tIns="254" rIns="254" bIns="254" rtlCol="0" anchor="ctr">
            <a:normAutofit/>
          </a:bodyPr>
          <a:lstStyle/>
          <a:p>
            <a:pPr marL="0" indent="0">
              <a:buNone/>
            </a:pPr>
            <a:r>
              <a:rPr lang="en-US" sz="1420" i="1" dirty="0">
                <a:solidFill>
                  <a:srgbClr val="CADCFC"/>
                </a:solidFill>
                <a:latin typeface="Noto Sans CJK KR" pitchFamily="34" charset="0"/>
                <a:ea typeface="Noto Sans CJK KR" pitchFamily="34" charset="-122"/>
                <a:cs typeface="Noto Sans CJK KR" pitchFamily="34" charset="-120"/>
              </a:rPr>
              <a:t>SJF가 평균 대기시간에 유리한 이유는?</a:t>
            </a:r>
            <a:endParaRPr lang="en-US" sz="1420" dirty="0"/>
          </a:p>
        </p:txBody>
      </p:sp>
      <p:sp>
        <p:nvSpPr>
          <p:cNvPr id="11" name="Text 8"/>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도입</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58</a:t>
            </a:fld>
            <a:endParaRPr lang="en-US"/>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31">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그림 개요</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CPU와 스케줄링 · 그림 전체 보기</a:t>
            </a:r>
            <a:endParaRPr lang="en-US" sz="2800" dirty="0"/>
          </a:p>
        </p:txBody>
      </p:sp>
      <p:pic>
        <p:nvPicPr>
          <p:cNvPr id="4" name="Image 0" descr="/mnt/data/a_clean_educational_infographic_slide_style_imag_batch_4.png"/>
          <p:cNvPicPr>
            <a:picLocks noChangeAspect="1"/>
          </p:cNvPicPr>
          <p:nvPr/>
        </p:nvPicPr>
        <p:blipFill>
          <a:blip r:embed="rId3"/>
          <a:stretch>
            <a:fillRect/>
          </a:stretch>
        </p:blipFill>
        <p:spPr>
          <a:xfrm>
            <a:off x="621792" y="1697669"/>
            <a:ext cx="7452360" cy="4194181"/>
          </a:xfrm>
          <a:prstGeom prst="rect">
            <a:avLst/>
          </a:prstGeom>
        </p:spPr>
      </p:pic>
      <p:sp>
        <p:nvSpPr>
          <p:cNvPr id="5" name="Shape 2"/>
          <p:cNvSpPr/>
          <p:nvPr/>
        </p:nvSpPr>
        <p:spPr>
          <a:xfrm>
            <a:off x="8211312" y="1280160"/>
            <a:ext cx="3401568" cy="5010912"/>
          </a:xfrm>
          <a:prstGeom prst="roundRect">
            <a:avLst>
              <a:gd name="adj" fmla="val 2151"/>
            </a:avLst>
          </a:prstGeom>
          <a:solidFill>
            <a:srgbClr val="2A3578"/>
          </a:solidFill>
          <a:ln w="13970">
            <a:solidFill>
              <a:srgbClr val="36429A"/>
            </a:solidFill>
            <a:prstDash val="solid"/>
          </a:ln>
        </p:spPr>
        <p:txBody>
          <a:bodyPr/>
          <a:lstStyle/>
          <a:p>
            <a:endParaRPr/>
          </a:p>
        </p:txBody>
      </p:sp>
      <p:sp>
        <p:nvSpPr>
          <p:cNvPr id="6" name="Text 3"/>
          <p:cNvSpPr/>
          <p:nvPr/>
        </p:nvSpPr>
        <p:spPr>
          <a:xfrm>
            <a:off x="8485632" y="1572768"/>
            <a:ext cx="1645920" cy="274320"/>
          </a:xfrm>
          <a:prstGeom prst="rect">
            <a:avLst/>
          </a:prstGeom>
          <a:noFill/>
          <a:ln/>
        </p:spPr>
        <p:txBody>
          <a:bodyPr wrap="square" lIns="0" tIns="0" rIns="0" bIns="0" rtlCol="0" anchor="ctr"/>
          <a:lstStyle/>
          <a:p>
            <a:pPr marL="0" indent="0">
              <a:buNone/>
            </a:pPr>
            <a:r>
              <a:rPr lang="en-US" sz="1550" b="1" dirty="0">
                <a:solidFill>
                  <a:srgbClr val="FFC24B"/>
                </a:solidFill>
                <a:latin typeface="Noto Sans CJK KR" pitchFamily="34" charset="0"/>
                <a:ea typeface="Noto Sans CJK KR" pitchFamily="34" charset="-122"/>
                <a:cs typeface="Noto Sans CJK KR" pitchFamily="34" charset="-120"/>
              </a:rPr>
              <a:t>그림 읽는 순서</a:t>
            </a:r>
            <a:endParaRPr lang="en-US" sz="1550" dirty="0"/>
          </a:p>
        </p:txBody>
      </p:sp>
      <p:sp>
        <p:nvSpPr>
          <p:cNvPr id="7" name="Text 4"/>
          <p:cNvSpPr/>
          <p:nvPr/>
        </p:nvSpPr>
        <p:spPr>
          <a:xfrm>
            <a:off x="8485632" y="1965960"/>
            <a:ext cx="2743200" cy="1234440"/>
          </a:xfrm>
          <a:prstGeom prst="rect">
            <a:avLst/>
          </a:prstGeom>
          <a:noFill/>
          <a:ln/>
        </p:spPr>
        <p:txBody>
          <a:bodyPr wrap="square" lIns="254" tIns="254" rIns="254" bIns="254" rtlCol="0" anchor="ctr">
            <a:normAutofit/>
          </a:bodyPr>
          <a:lstStyle/>
          <a:p>
            <a:pPr marL="0" indent="0">
              <a:buNone/>
            </a:pPr>
            <a:r>
              <a:rPr lang="en-US" sz="1330" dirty="0">
                <a:solidFill>
                  <a:srgbClr val="CADCFC"/>
                </a:solidFill>
                <a:latin typeface="Noto Sans CJK KR" pitchFamily="34" charset="0"/>
                <a:ea typeface="Noto Sans CJK KR" pitchFamily="34" charset="-122"/>
                <a:cs typeface="Noto Sans CJK KR" pitchFamily="34" charset="-120"/>
              </a:rPr>
              <a:t>1. 그림 전체에서 무엇이 흐르는지 본다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2. 어디가 OS 경계인지 찾는다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3. 입력·처리·결과의 순서를 잡는다</a:t>
            </a:r>
            <a:endParaRPr lang="en-US" sz="1330" dirty="0"/>
          </a:p>
          <a:p>
            <a:pPr marL="0" indent="0">
              <a:buNone/>
            </a:pPr>
            <a:r>
              <a:rPr lang="en-US" sz="1330" dirty="0">
                <a:solidFill>
                  <a:srgbClr val="CADCFC"/>
                </a:solidFill>
                <a:latin typeface="Noto Sans CJK KR" pitchFamily="34" charset="0"/>
                <a:ea typeface="Noto Sans CJK KR" pitchFamily="34" charset="-122"/>
                <a:cs typeface="Noto Sans CJK KR" pitchFamily="34" charset="-120"/>
              </a:rPr>
              <a:t>4. 마지막에 세부 개념을 붙인다</a:t>
            </a:r>
            <a:endParaRPr lang="en-US" sz="1330" dirty="0"/>
          </a:p>
        </p:txBody>
      </p:sp>
      <p:sp>
        <p:nvSpPr>
          <p:cNvPr id="8" name="Text 5"/>
          <p:cNvSpPr/>
          <p:nvPr/>
        </p:nvSpPr>
        <p:spPr>
          <a:xfrm>
            <a:off x="8485632" y="3456432"/>
            <a:ext cx="1645920" cy="256032"/>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이번 슬라이드의 목적</a:t>
            </a:r>
            <a:endParaRPr lang="en-US" sz="1400" dirty="0"/>
          </a:p>
        </p:txBody>
      </p:sp>
      <p:sp>
        <p:nvSpPr>
          <p:cNvPr id="9" name="Text 6"/>
          <p:cNvSpPr/>
          <p:nvPr/>
        </p:nvSpPr>
        <p:spPr>
          <a:xfrm>
            <a:off x="8485632" y="3822192"/>
            <a:ext cx="2743200" cy="1143000"/>
          </a:xfrm>
          <a:prstGeom prst="rect">
            <a:avLst/>
          </a:prstGeom>
          <a:noFill/>
          <a:ln/>
        </p:spPr>
        <p:txBody>
          <a:bodyPr wrap="square" lIns="254" tIns="254" rIns="254" bIns="254" rtlCol="0" anchor="ctr">
            <a:normAutofit/>
          </a:bodyPr>
          <a:lstStyle/>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설명을 그림 위에 겹치지 않고, 먼저 전체 구조를 보이게 합니다.</a:t>
            </a:r>
            <a:endParaRPr lang="en-US" sz="1320" dirty="0"/>
          </a:p>
          <a:p>
            <a:pPr marL="0" indent="0">
              <a:buNone/>
            </a:pPr>
            <a:endParaRPr lang="en-US" sz="1320" dirty="0"/>
          </a:p>
          <a:p>
            <a:pPr marL="0" indent="0">
              <a:buNone/>
            </a:pPr>
            <a:r>
              <a:rPr lang="en-US" sz="1320" dirty="0">
                <a:solidFill>
                  <a:srgbClr val="FFFFFF"/>
                </a:solidFill>
                <a:latin typeface="Noto Sans CJK KR" pitchFamily="34" charset="0"/>
                <a:ea typeface="Noto Sans CJK KR" pitchFamily="34" charset="-122"/>
                <a:cs typeface="Noto Sans CJK KR" pitchFamily="34" charset="-120"/>
              </a:rPr>
              <a:t>세부 설명은 다음 2장의 “단계별 해설”에서 나눠 진행합니다.</a:t>
            </a:r>
            <a:endParaRPr lang="en-US" sz="1320" dirty="0"/>
          </a:p>
        </p:txBody>
      </p:sp>
      <p:sp>
        <p:nvSpPr>
          <p:cNvPr id="10" name="Text 7"/>
          <p:cNvSpPr/>
          <p:nvPr/>
        </p:nvSpPr>
        <p:spPr>
          <a:xfrm>
            <a:off x="8485632" y="5212080"/>
            <a:ext cx="1463040" cy="237744"/>
          </a:xfrm>
          <a:prstGeom prst="rect">
            <a:avLst/>
          </a:prstGeom>
          <a:noFill/>
          <a:ln/>
        </p:spPr>
        <p:txBody>
          <a:bodyPr wrap="square" lIns="0" tIns="0" rIns="0" bIns="0" rtlCol="0" anchor="ctr"/>
          <a:lstStyle/>
          <a:p>
            <a:pPr marL="0" indent="0">
              <a:buNone/>
            </a:pPr>
            <a:r>
              <a:rPr lang="en-US" sz="1350" b="1" dirty="0">
                <a:solidFill>
                  <a:srgbClr val="7BE0AD"/>
                </a:solidFill>
                <a:latin typeface="Noto Sans CJK KR" pitchFamily="34" charset="0"/>
                <a:ea typeface="Noto Sans CJK KR" pitchFamily="34" charset="-122"/>
                <a:cs typeface="Noto Sans CJK KR" pitchFamily="34" charset="-120"/>
              </a:rPr>
              <a:t>핵심 개념 4가지</a:t>
            </a:r>
            <a:endParaRPr lang="en-US" sz="1350" dirty="0"/>
          </a:p>
        </p:txBody>
      </p:sp>
      <p:sp>
        <p:nvSpPr>
          <p:cNvPr id="11" name="Text 8"/>
          <p:cNvSpPr/>
          <p:nvPr/>
        </p:nvSpPr>
        <p:spPr>
          <a:xfrm>
            <a:off x="8485632" y="5504688"/>
            <a:ext cx="2743200" cy="585216"/>
          </a:xfrm>
          <a:prstGeom prst="rect">
            <a:avLst/>
          </a:prstGeom>
          <a:noFill/>
          <a:ln/>
        </p:spPr>
        <p:txBody>
          <a:bodyPr wrap="square" lIns="127" tIns="127" rIns="127" bIns="127" rtlCol="0" anchor="ctr">
            <a:normAutofit/>
          </a:bodyPr>
          <a:lstStyle/>
          <a:p>
            <a:pPr marL="0" indent="0">
              <a:buNone/>
            </a:pPr>
            <a:r>
              <a:rPr lang="en-US" sz="1210" dirty="0">
                <a:solidFill>
                  <a:srgbClr val="CADCFC"/>
                </a:solidFill>
                <a:latin typeface="Noto Sans CJK KR" pitchFamily="34" charset="0"/>
                <a:ea typeface="Noto Sans CJK KR" pitchFamily="34" charset="-122"/>
                <a:cs typeface="Noto Sans CJK KR" pitchFamily="34" charset="-120"/>
              </a:rPr>
              <a:t>1) FCFS</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2) SJF</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3) Priority</a:t>
            </a:r>
            <a:endParaRPr lang="en-US" sz="1210" dirty="0"/>
          </a:p>
          <a:p>
            <a:pPr marL="0" indent="0">
              <a:buNone/>
            </a:pPr>
            <a:r>
              <a:rPr lang="en-US" sz="1210" dirty="0">
                <a:solidFill>
                  <a:srgbClr val="CADCFC"/>
                </a:solidFill>
                <a:latin typeface="Noto Sans CJK KR" pitchFamily="34" charset="0"/>
                <a:ea typeface="Noto Sans CJK KR" pitchFamily="34" charset="-122"/>
                <a:cs typeface="Noto Sans CJK KR" pitchFamily="34" charset="-120"/>
              </a:rPr>
              <a:t>4) Round Robin</a:t>
            </a:r>
            <a:endParaRPr lang="en-US" sz="1210" dirty="0"/>
          </a:p>
        </p:txBody>
      </p:sp>
      <p:sp>
        <p:nvSpPr>
          <p:cNvPr id="12" name="Text 9"/>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그림 개요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32">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그림 해설 1</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CPU와 스케줄링 · 단계별 그림 해설 ①</a:t>
            </a:r>
            <a:endParaRPr lang="en-US" sz="2800" dirty="0"/>
          </a:p>
        </p:txBody>
      </p:sp>
      <p:pic>
        <p:nvPicPr>
          <p:cNvPr id="4" name="Image 0" descr="/mnt/data/a_clean_educational_infographic_slide_style_imag_batch_4.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5EC8FF"/>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1단계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①</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FCFS</a:t>
            </a:r>
            <a:endParaRPr lang="en-US" sz="1500" dirty="0"/>
          </a:p>
        </p:txBody>
      </p:sp>
      <p:sp>
        <p:nvSpPr>
          <p:cNvPr id="10" name="Text 7"/>
          <p:cNvSpPr/>
          <p:nvPr/>
        </p:nvSpPr>
        <p:spPr>
          <a:xfrm>
            <a:off x="7973568" y="2313432"/>
            <a:ext cx="3291840" cy="292608"/>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도착 순서대로 처리: 단순하지만 긴 작업이 앞에 있으면 Convoy Effect</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②</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SJF</a:t>
            </a:r>
            <a:endParaRPr lang="en-US" sz="1500" dirty="0"/>
          </a:p>
        </p:txBody>
      </p:sp>
      <p:sp>
        <p:nvSpPr>
          <p:cNvPr id="14" name="Text 11"/>
          <p:cNvSpPr/>
          <p:nvPr/>
        </p:nvSpPr>
        <p:spPr>
          <a:xfrm>
            <a:off x="7991856" y="3131820"/>
            <a:ext cx="3291840" cy="54864"/>
          </a:xfrm>
          <a:prstGeom prst="rect">
            <a:avLst/>
          </a:prstGeom>
          <a:noFill/>
          <a:ln/>
        </p:spPr>
        <p:txBody>
          <a:bodyPr wrap="square" lIns="254" tIns="254" rIns="254" bIns="254" rtlCol="0" anchor="t">
            <a:normAutofit fontScale="3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짧은 작업 우선: 평균 대기시간을 줄일 수 있지만 실행시간 예측이 필요</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설명 포인트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80" dirty="0">
                <a:solidFill>
                  <a:srgbClr val="CADCFC"/>
                </a:solidFill>
                <a:latin typeface="Noto Sans CJK KR" pitchFamily="34" charset="0"/>
                <a:ea typeface="Noto Sans CJK KR" pitchFamily="34" charset="-122"/>
                <a:cs typeface="Noto Sans CJK KR" pitchFamily="34" charset="-120"/>
              </a:rPr>
              <a:t>• FCFS가 그림에서 어디에 해당하는지 먼저 찾습니다.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이어서 SJF가 왜 필요한지 연결합니다.</a:t>
            </a:r>
            <a:endParaRPr lang="en-US" sz="1280" dirty="0"/>
          </a:p>
          <a:p>
            <a:pPr marL="0" indent="0">
              <a:buNone/>
            </a:pPr>
            <a:r>
              <a:rPr lang="en-US" sz="1280" dirty="0">
                <a:solidFill>
                  <a:srgbClr val="CADCFC"/>
                </a:solidFill>
                <a:latin typeface="Noto Sans CJK KR" pitchFamily="34" charset="0"/>
                <a:ea typeface="Noto Sans CJK KR" pitchFamily="34" charset="-122"/>
                <a:cs typeface="Noto Sans CJK KR" pitchFamily="34" charset="-120"/>
              </a:rPr>
              <a:t>• 수강생이 그림을 보며 “무엇이 어디를 지나가는가”를 말하게 합니다.</a:t>
            </a:r>
            <a:endParaRPr lang="en-US" sz="128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그림 해설 1</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60</a:t>
            </a:fld>
            <a:endParaRPr lang="en-US"/>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33">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그림 해설 2</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CPU와 스케줄링 · 단계별 그림 해설 ②</a:t>
            </a:r>
            <a:endParaRPr lang="en-US" sz="2800" dirty="0"/>
          </a:p>
        </p:txBody>
      </p:sp>
      <p:pic>
        <p:nvPicPr>
          <p:cNvPr id="4" name="Image 0" descr="/mnt/data/a_clean_educational_infographic_slide_style_imag_batch_4.png"/>
          <p:cNvPicPr>
            <a:picLocks noChangeAspect="1"/>
          </p:cNvPicPr>
          <p:nvPr/>
        </p:nvPicPr>
        <p:blipFill>
          <a:blip r:embed="rId3"/>
          <a:stretch>
            <a:fillRect/>
          </a:stretch>
        </p:blipFill>
        <p:spPr>
          <a:xfrm>
            <a:off x="621792" y="1854928"/>
            <a:ext cx="6812280" cy="3833945"/>
          </a:xfrm>
          <a:prstGeom prst="rect">
            <a:avLst/>
          </a:prstGeom>
        </p:spPr>
      </p:pic>
      <p:sp>
        <p:nvSpPr>
          <p:cNvPr id="5" name="Shape 2"/>
          <p:cNvSpPr/>
          <p:nvPr/>
        </p:nvSpPr>
        <p:spPr>
          <a:xfrm>
            <a:off x="7571232" y="1280160"/>
            <a:ext cx="4023360" cy="2267712"/>
          </a:xfrm>
          <a:prstGeom prst="roundRect">
            <a:avLst>
              <a:gd name="adj" fmla="val 3226"/>
            </a:avLst>
          </a:prstGeom>
          <a:solidFill>
            <a:srgbClr val="2A3578"/>
          </a:solidFill>
          <a:ln w="15240">
            <a:solidFill>
              <a:srgbClr val="7BE0AD"/>
            </a:solidFill>
            <a:prstDash val="solid"/>
          </a:ln>
        </p:spPr>
        <p:txBody>
          <a:bodyPr/>
          <a:lstStyle/>
          <a:p>
            <a:endParaRPr/>
          </a:p>
        </p:txBody>
      </p:sp>
      <p:sp>
        <p:nvSpPr>
          <p:cNvPr id="6" name="Text 3"/>
          <p:cNvSpPr/>
          <p:nvPr/>
        </p:nvSpPr>
        <p:spPr>
          <a:xfrm>
            <a:off x="7845552" y="1554480"/>
            <a:ext cx="1463040" cy="25603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2단계 해설</a:t>
            </a:r>
            <a:endParaRPr lang="en-US" sz="1500" dirty="0"/>
          </a:p>
        </p:txBody>
      </p:sp>
      <p:sp>
        <p:nvSpPr>
          <p:cNvPr id="7" name="Shape 4"/>
          <p:cNvSpPr/>
          <p:nvPr/>
        </p:nvSpPr>
        <p:spPr>
          <a:xfrm>
            <a:off x="7790688" y="1874520"/>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8" name="Text 5"/>
          <p:cNvSpPr/>
          <p:nvPr/>
        </p:nvSpPr>
        <p:spPr>
          <a:xfrm>
            <a:off x="7955280" y="2002536"/>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③</a:t>
            </a:r>
            <a:endParaRPr lang="en-US" sz="1900" dirty="0"/>
          </a:p>
        </p:txBody>
      </p:sp>
      <p:sp>
        <p:nvSpPr>
          <p:cNvPr id="9" name="Text 6"/>
          <p:cNvSpPr/>
          <p:nvPr/>
        </p:nvSpPr>
        <p:spPr>
          <a:xfrm>
            <a:off x="8339328" y="2020824"/>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Priority</a:t>
            </a:r>
            <a:endParaRPr lang="en-US" sz="1500" dirty="0"/>
          </a:p>
        </p:txBody>
      </p:sp>
      <p:sp>
        <p:nvSpPr>
          <p:cNvPr id="10" name="Text 7"/>
          <p:cNvSpPr/>
          <p:nvPr/>
        </p:nvSpPr>
        <p:spPr>
          <a:xfrm>
            <a:off x="7973568" y="2404872"/>
            <a:ext cx="3291840" cy="548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중요도 기반 실행: 낮은 우선순위의 Starvation 가능</a:t>
            </a:r>
            <a:endParaRPr lang="en-US" sz="1150" dirty="0"/>
          </a:p>
        </p:txBody>
      </p:sp>
      <p:sp>
        <p:nvSpPr>
          <p:cNvPr id="11" name="Shape 8"/>
          <p:cNvSpPr/>
          <p:nvPr/>
        </p:nvSpPr>
        <p:spPr>
          <a:xfrm>
            <a:off x="7790688" y="2670048"/>
            <a:ext cx="3657600" cy="713232"/>
          </a:xfrm>
          <a:prstGeom prst="roundRect">
            <a:avLst>
              <a:gd name="adj" fmla="val 10256"/>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2" name="Text 9"/>
          <p:cNvSpPr/>
          <p:nvPr/>
        </p:nvSpPr>
        <p:spPr>
          <a:xfrm>
            <a:off x="7955280" y="2798064"/>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④</a:t>
            </a:r>
            <a:endParaRPr lang="en-US" sz="1900" dirty="0"/>
          </a:p>
        </p:txBody>
      </p:sp>
      <p:sp>
        <p:nvSpPr>
          <p:cNvPr id="13" name="Text 10"/>
          <p:cNvSpPr/>
          <p:nvPr/>
        </p:nvSpPr>
        <p:spPr>
          <a:xfrm>
            <a:off x="8339328" y="2816352"/>
            <a:ext cx="294436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Round Robin</a:t>
            </a:r>
            <a:endParaRPr lang="en-US" sz="1500" dirty="0"/>
          </a:p>
        </p:txBody>
      </p:sp>
      <p:sp>
        <p:nvSpPr>
          <p:cNvPr id="14" name="Text 11"/>
          <p:cNvSpPr/>
          <p:nvPr/>
        </p:nvSpPr>
        <p:spPr>
          <a:xfrm>
            <a:off x="7973568" y="3108960"/>
            <a:ext cx="3291840" cy="283464"/>
          </a:xfrm>
          <a:prstGeom prst="rect">
            <a:avLst/>
          </a:prstGeom>
          <a:noFill/>
          <a:ln/>
        </p:spPr>
        <p:txBody>
          <a:bodyPr wrap="square" lIns="254" tIns="254" rIns="254" bIns="254" rtlCol="0" anchor="t">
            <a:normAutofit fontScale="92500" lnSpcReduction="20000"/>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Quantum 단위 선점: 반응성이 좋지만 Quantum이 작으면 전환 오버헤드 증가</a:t>
            </a:r>
            <a:endParaRPr lang="en-US" sz="1150" dirty="0"/>
          </a:p>
        </p:txBody>
      </p:sp>
      <p:sp>
        <p:nvSpPr>
          <p:cNvPr id="15" name="Shape 12"/>
          <p:cNvSpPr/>
          <p:nvPr/>
        </p:nvSpPr>
        <p:spPr>
          <a:xfrm>
            <a:off x="7571232" y="3794760"/>
            <a:ext cx="4023360" cy="1783080"/>
          </a:xfrm>
          <a:prstGeom prst="roundRect">
            <a:avLst>
              <a:gd name="adj" fmla="val 4103"/>
            </a:avLst>
          </a:prstGeom>
          <a:solidFill>
            <a:srgbClr val="0B1230"/>
          </a:solidFill>
          <a:ln w="13970">
            <a:solidFill>
              <a:srgbClr val="36429A"/>
            </a:solidFill>
            <a:prstDash val="solid"/>
          </a:ln>
        </p:spPr>
        <p:txBody>
          <a:bodyPr/>
          <a:lstStyle/>
          <a:p>
            <a:endParaRPr/>
          </a:p>
        </p:txBody>
      </p:sp>
      <p:sp>
        <p:nvSpPr>
          <p:cNvPr id="16" name="Text 13"/>
          <p:cNvSpPr/>
          <p:nvPr/>
        </p:nvSpPr>
        <p:spPr>
          <a:xfrm>
            <a:off x="7863840" y="4069080"/>
            <a:ext cx="1371600" cy="237744"/>
          </a:xfrm>
          <a:prstGeom prst="rect">
            <a:avLst/>
          </a:prstGeom>
          <a:noFill/>
          <a:ln/>
        </p:spPr>
        <p:txBody>
          <a:bodyPr wrap="square" lIns="0" tIns="0" rIns="0" bIns="0" rtlCol="0" anchor="ctr"/>
          <a:lstStyle/>
          <a:p>
            <a:pPr marL="0" indent="0">
              <a:buNone/>
            </a:pPr>
            <a:r>
              <a:rPr lang="en-US" sz="1400" b="1" dirty="0">
                <a:solidFill>
                  <a:srgbClr val="FFFFFF"/>
                </a:solidFill>
                <a:latin typeface="Noto Sans CJK KR" pitchFamily="34" charset="0"/>
                <a:ea typeface="Noto Sans CJK KR" pitchFamily="34" charset="-122"/>
                <a:cs typeface="Noto Sans CJK KR" pitchFamily="34" charset="-120"/>
              </a:rPr>
              <a:t>연결 질문</a:t>
            </a:r>
            <a:endParaRPr lang="en-US" sz="1400" dirty="0"/>
          </a:p>
        </p:txBody>
      </p:sp>
      <p:sp>
        <p:nvSpPr>
          <p:cNvPr id="17" name="Text 14"/>
          <p:cNvSpPr/>
          <p:nvPr/>
        </p:nvSpPr>
        <p:spPr>
          <a:xfrm>
            <a:off x="7863840" y="4407408"/>
            <a:ext cx="3429000" cy="960120"/>
          </a:xfrm>
          <a:prstGeom prst="rect">
            <a:avLst/>
          </a:prstGeom>
          <a:noFill/>
          <a:ln/>
        </p:spPr>
        <p:txBody>
          <a:bodyPr wrap="square" lIns="127" tIns="127" rIns="127" bIns="127" rtlCol="0" anchor="ctr">
            <a:normAutofit/>
          </a:bodyPr>
          <a:lstStyle/>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앞 단계와 비교해 어디서 병목이나 충돌이 생길 수 있나요?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Priority와 Round Robin는 실제 문제 상황에서 어떻게 드러날까요?</a:t>
            </a:r>
            <a:endParaRPr lang="en-US" sz="1260" dirty="0"/>
          </a:p>
          <a:p>
            <a:pPr marL="0" indent="0">
              <a:buNone/>
            </a:pPr>
            <a:r>
              <a:rPr lang="en-US" sz="1260" dirty="0">
                <a:solidFill>
                  <a:srgbClr val="CADCFC"/>
                </a:solidFill>
                <a:latin typeface="Noto Sans CJK KR" pitchFamily="34" charset="0"/>
                <a:ea typeface="Noto Sans CJK KR" pitchFamily="34" charset="-122"/>
                <a:cs typeface="Noto Sans CJK KR" pitchFamily="34" charset="-120"/>
              </a:rPr>
              <a:t>• 이제 그림 전체를 한 문장으로 요약하게 합니다.</a:t>
            </a:r>
            <a:endParaRPr lang="en-US" sz="1260" dirty="0"/>
          </a:p>
        </p:txBody>
      </p:sp>
      <p:sp>
        <p:nvSpPr>
          <p:cNvPr id="18" name="Text 15"/>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그림 해설 2</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61</a:t>
            </a:fld>
            <a:endParaRPr lang="en-US"/>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DIAGRAM ZOOM 1</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복잡한 그림 세부 해설 1</a:t>
            </a:r>
          </a:p>
        </p:txBody>
      </p:sp>
      <p:pic>
        <p:nvPicPr>
          <p:cNvPr id="5" name="Picture 4" descr="ch04_full.jpg"/>
          <p:cNvPicPr>
            <a:picLocks noChangeAspect="1"/>
          </p:cNvPicPr>
          <p:nvPr/>
        </p:nvPicPr>
        <p:blipFill>
          <a:blip r:embed="rId3"/>
          <a:stretch>
            <a:fillRect/>
          </a:stretch>
        </p:blipFill>
        <p:spPr>
          <a:xfrm>
            <a:off x="438911" y="1239012"/>
            <a:ext cx="7054441" cy="3963924"/>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1. Ready Queue</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실행 가능한 프로세스가 CPU 할당을 기다리는 곳입니다.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DIAGRAM ZOOM 1</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DIAGRAM ZOOM 2</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복잡한 그림 세부 해설 2</a:t>
            </a:r>
          </a:p>
        </p:txBody>
      </p:sp>
      <p:pic>
        <p:nvPicPr>
          <p:cNvPr id="5" name="Picture 4" descr="ch04_full.jpg"/>
          <p:cNvPicPr>
            <a:picLocks noChangeAspect="1"/>
          </p:cNvPicPr>
          <p:nvPr/>
        </p:nvPicPr>
        <p:blipFill>
          <a:blip r:embed="rId3"/>
          <a:stretch>
            <a:fillRect/>
          </a:stretch>
        </p:blipFill>
        <p:spPr>
          <a:xfrm>
            <a:off x="217591" y="1283596"/>
            <a:ext cx="7127671" cy="4005072"/>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2. 스케줄링 정책</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FCFS·SJF·Priority·RR은 서로 다른 목표와 Trade-off를 갖습니다.</a:t>
            </a:r>
          </a:p>
        </p:txBody>
      </p:sp>
      <p:sp>
        <p:nvSpPr>
          <p:cNvPr id="10" name="TextBox 9"/>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1" name="TextBox 10"/>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2" name="TextBox 11"/>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DIAGRAM ZOOM 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DIAGRAM ZOOM 3</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복잡한 그림 세부 해설 3</a:t>
            </a:r>
          </a:p>
        </p:txBody>
      </p:sp>
      <p:pic>
        <p:nvPicPr>
          <p:cNvPr id="5" name="Picture 4" descr="ch04_full.jpg"/>
          <p:cNvPicPr>
            <a:picLocks noChangeAspect="1"/>
          </p:cNvPicPr>
          <p:nvPr/>
        </p:nvPicPr>
        <p:blipFill>
          <a:blip r:embed="rId3"/>
          <a:stretch>
            <a:fillRect/>
          </a:stretch>
        </p:blipFill>
        <p:spPr>
          <a:xfrm>
            <a:off x="315963" y="1257299"/>
            <a:ext cx="7163586" cy="4025253"/>
          </a:xfrm>
          <a:prstGeom prst="rect">
            <a:avLst/>
          </a:prstGeom>
        </p:spPr>
      </p:pic>
      <p:sp>
        <p:nvSpPr>
          <p:cNvPr id="6" name="TextBox 5"/>
          <p:cNvSpPr txBox="1"/>
          <p:nvPr/>
        </p:nvSpPr>
        <p:spPr>
          <a:xfrm>
            <a:off x="7571231" y="3593592"/>
            <a:ext cx="1828800" cy="256032"/>
          </a:xfrm>
          <a:prstGeom prst="rect">
            <a:avLst/>
          </a:prstGeom>
          <a:noFill/>
        </p:spPr>
        <p:txBody>
          <a:bodyPr wrap="square" lIns="36576" tIns="36576" rIns="36576" bIns="36576">
            <a:spAutoFit/>
          </a:bodyPr>
          <a:lstStyle/>
          <a:p>
            <a:pPr algn="l"/>
            <a:r>
              <a:rPr sz="1400" b="1">
                <a:solidFill>
                  <a:srgbClr val="FFC24B"/>
                </a:solidFill>
                <a:latin typeface="Noto Sans CJK KR"/>
              </a:rPr>
              <a:t>확대해서 볼 부분</a:t>
            </a:r>
          </a:p>
        </p:txBody>
      </p:sp>
      <p:sp>
        <p:nvSpPr>
          <p:cNvPr id="7" name="Rounded Rectangle 6"/>
          <p:cNvSpPr/>
          <p:nvPr/>
        </p:nvSpPr>
        <p:spPr>
          <a:xfrm>
            <a:off x="7543800" y="3931920"/>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54112" y="4041648"/>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3. Context Switch</a:t>
            </a:r>
          </a:p>
        </p:txBody>
      </p:sp>
      <p:sp>
        <p:nvSpPr>
          <p:cNvPr id="9" name="TextBox 8"/>
          <p:cNvSpPr txBox="1"/>
          <p:nvPr/>
        </p:nvSpPr>
        <p:spPr>
          <a:xfrm>
            <a:off x="7754112" y="4288536"/>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PCB 저장·복원과 캐시 영향 때문에 전환은 비용을 가집니다.</a:t>
            </a:r>
          </a:p>
        </p:txBody>
      </p:sp>
      <p:sp>
        <p:nvSpPr>
          <p:cNvPr id="10" name="Rounded Rectangle 9"/>
          <p:cNvSpPr/>
          <p:nvPr/>
        </p:nvSpPr>
        <p:spPr>
          <a:xfrm>
            <a:off x="7543800" y="4782312"/>
            <a:ext cx="3886200" cy="758952"/>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754112" y="4892040"/>
            <a:ext cx="3337560" cy="228600"/>
          </a:xfrm>
          <a:prstGeom prst="rect">
            <a:avLst/>
          </a:prstGeom>
          <a:noFill/>
        </p:spPr>
        <p:txBody>
          <a:bodyPr wrap="square" lIns="36576" tIns="36576" rIns="36576" bIns="36576">
            <a:spAutoFit/>
          </a:bodyPr>
          <a:lstStyle/>
          <a:p>
            <a:pPr algn="l"/>
            <a:r>
              <a:rPr sz="1320" b="1">
                <a:solidFill>
                  <a:srgbClr val="FFFFFF"/>
                </a:solidFill>
                <a:latin typeface="Noto Sans CJK KR"/>
              </a:rPr>
              <a:t>4. Multi-Core / Affinity</a:t>
            </a:r>
          </a:p>
        </p:txBody>
      </p:sp>
      <p:sp>
        <p:nvSpPr>
          <p:cNvPr id="12" name="TextBox 11"/>
          <p:cNvSpPr txBox="1"/>
          <p:nvPr/>
        </p:nvSpPr>
        <p:spPr>
          <a:xfrm>
            <a:off x="7754112" y="5138927"/>
            <a:ext cx="3337560" cy="301752"/>
          </a:xfrm>
          <a:prstGeom prst="rect">
            <a:avLst/>
          </a:prstGeom>
          <a:noFill/>
        </p:spPr>
        <p:txBody>
          <a:bodyPr wrap="square" lIns="36576" tIns="36576" rIns="36576" bIns="36576">
            <a:spAutoFit/>
          </a:bodyPr>
          <a:lstStyle/>
          <a:p>
            <a:pPr algn="l"/>
            <a:r>
              <a:rPr sz="969" b="0">
                <a:solidFill>
                  <a:srgbClr val="CADCFC"/>
                </a:solidFill>
                <a:latin typeface="Noto Sans CJK KR"/>
              </a:rPr>
              <a:t>여러 코어에 부하를 나누고 필요하면 특정 코어에 프로세스를 고정합니다.</a:t>
            </a:r>
          </a:p>
        </p:txBody>
      </p:sp>
      <p:sp>
        <p:nvSpPr>
          <p:cNvPr id="13" name="TextBox 12"/>
          <p:cNvSpPr txBox="1"/>
          <p:nvPr/>
        </p:nvSpPr>
        <p:spPr>
          <a:xfrm>
            <a:off x="713232" y="5806440"/>
            <a:ext cx="1143000" cy="228600"/>
          </a:xfrm>
          <a:prstGeom prst="rect">
            <a:avLst/>
          </a:prstGeom>
          <a:noFill/>
        </p:spPr>
        <p:txBody>
          <a:bodyPr wrap="square" lIns="36576" tIns="36576" rIns="36576" bIns="36576">
            <a:spAutoFit/>
          </a:bodyPr>
          <a:lstStyle/>
          <a:p>
            <a:pPr algn="l"/>
            <a:r>
              <a:rPr sz="1250" b="1">
                <a:solidFill>
                  <a:srgbClr val="5EC8FF"/>
                </a:solidFill>
                <a:latin typeface="Noto Sans CJK KR"/>
              </a:rPr>
              <a:t>강사 포인트</a:t>
            </a:r>
          </a:p>
        </p:txBody>
      </p:sp>
      <p:sp>
        <p:nvSpPr>
          <p:cNvPr id="14" name="TextBox 13"/>
          <p:cNvSpPr txBox="1"/>
          <p:nvPr/>
        </p:nvSpPr>
        <p:spPr>
          <a:xfrm>
            <a:off x="1874519" y="5769864"/>
            <a:ext cx="9509760" cy="411480"/>
          </a:xfrm>
          <a:prstGeom prst="rect">
            <a:avLst/>
          </a:prstGeom>
          <a:noFill/>
        </p:spPr>
        <p:txBody>
          <a:bodyPr wrap="square" lIns="36576" tIns="36576" rIns="36576" bIns="36576">
            <a:spAutoFit/>
          </a:bodyPr>
          <a:lstStyle/>
          <a:p>
            <a:pPr algn="l"/>
            <a:r>
              <a:rPr sz="1140" b="0">
                <a:solidFill>
                  <a:srgbClr val="CADCFC"/>
                </a:solidFill>
                <a:latin typeface="Noto Sans CJK KR"/>
              </a:rPr>
              <a:t>그림을 다시 축소해서 전체를 보여주기 전에, 확대 영역에서 “무엇이 입력이고 무엇이 상태/자원인가?”를 수강생이 직접 가리키게 합니다.</a:t>
            </a:r>
          </a:p>
        </p:txBody>
      </p:sp>
      <p:sp>
        <p:nvSpPr>
          <p:cNvPr id="15" name="TextBox 14"/>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DIAGRAM ZOOM 3</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04 · WORKFLOW</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CPU와 스케줄링 · 동작 워크플로우</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8046720" cy="292608"/>
          </a:xfrm>
          <a:prstGeom prst="rect">
            <a:avLst/>
          </a:prstGeom>
          <a:noFill/>
        </p:spPr>
        <p:txBody>
          <a:bodyPr wrap="none" lIns="0" tIns="0" rIns="0" bIns="0" anchor="t">
            <a:spAutoFit/>
          </a:bodyPr>
          <a:lstStyle/>
          <a:p>
            <a:pPr algn="l"/>
            <a:r>
              <a:rPr sz="1350" b="1">
                <a:solidFill>
                  <a:srgbClr val="FFC24B"/>
                </a:solidFill>
                <a:latin typeface="Noto Sans CJK KR"/>
              </a:rPr>
              <a:t>개념을 “정의”가 아니라 실제 시스템에서 발생하는 순서로 연결합니다.</a:t>
            </a:r>
          </a:p>
        </p:txBody>
      </p:sp>
      <p:sp>
        <p:nvSpPr>
          <p:cNvPr id="7" name="Rounded Rectangle 6"/>
          <p:cNvSpPr/>
          <p:nvPr/>
        </p:nvSpPr>
        <p:spPr>
          <a:xfrm>
            <a:off x="50292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Oval 7"/>
          <p:cNvSpPr/>
          <p:nvPr/>
        </p:nvSpPr>
        <p:spPr>
          <a:xfrm>
            <a:off x="576072"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7607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1</a:t>
            </a:r>
          </a:p>
        </p:txBody>
      </p:sp>
      <p:sp>
        <p:nvSpPr>
          <p:cNvPr id="10" name="TextBox 9"/>
          <p:cNvSpPr txBox="1"/>
          <p:nvPr/>
        </p:nvSpPr>
        <p:spPr>
          <a:xfrm>
            <a:off x="57607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Process 도착</a:t>
            </a:r>
          </a:p>
        </p:txBody>
      </p:sp>
      <p:sp>
        <p:nvSpPr>
          <p:cNvPr id="11" name="TextBox 10"/>
          <p:cNvSpPr txBox="1"/>
          <p:nvPr/>
        </p:nvSpPr>
        <p:spPr>
          <a:xfrm>
            <a:off x="58521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실행할 Process들이 도착</a:t>
            </a:r>
          </a:p>
        </p:txBody>
      </p:sp>
      <p:sp>
        <p:nvSpPr>
          <p:cNvPr id="12" name="TextBox 11"/>
          <p:cNvSpPr txBox="1"/>
          <p:nvPr/>
        </p:nvSpPr>
        <p:spPr>
          <a:xfrm>
            <a:off x="2252472"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3" name="Rounded Rectangle 12"/>
          <p:cNvSpPr/>
          <p:nvPr/>
        </p:nvSpPr>
        <p:spPr>
          <a:xfrm>
            <a:off x="2380488"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Oval 13"/>
          <p:cNvSpPr/>
          <p:nvPr/>
        </p:nvSpPr>
        <p:spPr>
          <a:xfrm>
            <a:off x="2453640"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453640"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2</a:t>
            </a:r>
          </a:p>
        </p:txBody>
      </p:sp>
      <p:sp>
        <p:nvSpPr>
          <p:cNvPr id="16" name="TextBox 15"/>
          <p:cNvSpPr txBox="1"/>
          <p:nvPr/>
        </p:nvSpPr>
        <p:spPr>
          <a:xfrm>
            <a:off x="2453640"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Ready Queue</a:t>
            </a:r>
          </a:p>
        </p:txBody>
      </p:sp>
      <p:sp>
        <p:nvSpPr>
          <p:cNvPr id="17" name="TextBox 16"/>
          <p:cNvSpPr txBox="1"/>
          <p:nvPr/>
        </p:nvSpPr>
        <p:spPr>
          <a:xfrm>
            <a:off x="2462784"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CPU 앞에서 대기</a:t>
            </a:r>
          </a:p>
        </p:txBody>
      </p:sp>
      <p:sp>
        <p:nvSpPr>
          <p:cNvPr id="18" name="TextBox 17"/>
          <p:cNvSpPr txBox="1"/>
          <p:nvPr/>
        </p:nvSpPr>
        <p:spPr>
          <a:xfrm>
            <a:off x="4130040"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19" name="Rounded Rectangle 18"/>
          <p:cNvSpPr/>
          <p:nvPr/>
        </p:nvSpPr>
        <p:spPr>
          <a:xfrm>
            <a:off x="4258056"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Oval 19"/>
          <p:cNvSpPr/>
          <p:nvPr/>
        </p:nvSpPr>
        <p:spPr>
          <a:xfrm>
            <a:off x="4331208" y="1764792"/>
            <a:ext cx="301752" cy="301752"/>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331208"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3</a:t>
            </a:r>
          </a:p>
        </p:txBody>
      </p:sp>
      <p:sp>
        <p:nvSpPr>
          <p:cNvPr id="22" name="TextBox 21"/>
          <p:cNvSpPr txBox="1"/>
          <p:nvPr/>
        </p:nvSpPr>
        <p:spPr>
          <a:xfrm>
            <a:off x="4331208"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정책 선택</a:t>
            </a:r>
          </a:p>
        </p:txBody>
      </p:sp>
      <p:sp>
        <p:nvSpPr>
          <p:cNvPr id="23" name="TextBox 22"/>
          <p:cNvSpPr txBox="1"/>
          <p:nvPr/>
        </p:nvSpPr>
        <p:spPr>
          <a:xfrm>
            <a:off x="4340351"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FCFS/SJF/Priority/RR 정책 적용</a:t>
            </a:r>
          </a:p>
        </p:txBody>
      </p:sp>
      <p:sp>
        <p:nvSpPr>
          <p:cNvPr id="24" name="TextBox 23"/>
          <p:cNvSpPr txBox="1"/>
          <p:nvPr/>
        </p:nvSpPr>
        <p:spPr>
          <a:xfrm>
            <a:off x="6007608"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25" name="Rounded Rectangle 24"/>
          <p:cNvSpPr/>
          <p:nvPr/>
        </p:nvSpPr>
        <p:spPr>
          <a:xfrm>
            <a:off x="6135624"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Oval 25"/>
          <p:cNvSpPr/>
          <p:nvPr/>
        </p:nvSpPr>
        <p:spPr>
          <a:xfrm>
            <a:off x="6208776" y="1764792"/>
            <a:ext cx="301752" cy="301752"/>
          </a:xfrm>
          <a:prstGeom prst="ellipse">
            <a:avLst/>
          </a:prstGeom>
          <a:solidFill>
            <a:srgbClr val="FF8B8B"/>
          </a:solidFill>
          <a:ln>
            <a:solidFill>
              <a:srgbClr val="FF8B8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208776"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4</a:t>
            </a:r>
          </a:p>
        </p:txBody>
      </p:sp>
      <p:sp>
        <p:nvSpPr>
          <p:cNvPr id="28" name="TextBox 27"/>
          <p:cNvSpPr txBox="1"/>
          <p:nvPr/>
        </p:nvSpPr>
        <p:spPr>
          <a:xfrm>
            <a:off x="6208776"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Dispatch</a:t>
            </a:r>
          </a:p>
        </p:txBody>
      </p:sp>
      <p:sp>
        <p:nvSpPr>
          <p:cNvPr id="29" name="TextBox 28"/>
          <p:cNvSpPr txBox="1"/>
          <p:nvPr/>
        </p:nvSpPr>
        <p:spPr>
          <a:xfrm>
            <a:off x="6217920"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선택된 Process를 CPU에 올림</a:t>
            </a:r>
          </a:p>
        </p:txBody>
      </p:sp>
      <p:sp>
        <p:nvSpPr>
          <p:cNvPr id="30" name="TextBox 29"/>
          <p:cNvSpPr txBox="1"/>
          <p:nvPr/>
        </p:nvSpPr>
        <p:spPr>
          <a:xfrm>
            <a:off x="7885176"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1" name="Rounded Rectangle 30"/>
          <p:cNvSpPr/>
          <p:nvPr/>
        </p:nvSpPr>
        <p:spPr>
          <a:xfrm>
            <a:off x="8013192" y="1691640"/>
            <a:ext cx="1767840" cy="1097280"/>
          </a:xfrm>
          <a:prstGeom prst="roundRect">
            <a:avLst/>
          </a:prstGeom>
          <a:solidFill>
            <a:srgbClr val="27316C"/>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Oval 31"/>
          <p:cNvSpPr/>
          <p:nvPr/>
        </p:nvSpPr>
        <p:spPr>
          <a:xfrm>
            <a:off x="8086344" y="1764792"/>
            <a:ext cx="301752" cy="301752"/>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8086344"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5</a:t>
            </a:r>
          </a:p>
        </p:txBody>
      </p:sp>
      <p:sp>
        <p:nvSpPr>
          <p:cNvPr id="34" name="TextBox 33"/>
          <p:cNvSpPr txBox="1"/>
          <p:nvPr/>
        </p:nvSpPr>
        <p:spPr>
          <a:xfrm>
            <a:off x="8086344"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Burst / Quantum 실행</a:t>
            </a:r>
          </a:p>
        </p:txBody>
      </p:sp>
      <p:sp>
        <p:nvSpPr>
          <p:cNvPr id="35" name="TextBox 34"/>
          <p:cNvSpPr txBox="1"/>
          <p:nvPr/>
        </p:nvSpPr>
        <p:spPr>
          <a:xfrm>
            <a:off x="8095488"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Burst 또는 Quantum만큼 실행</a:t>
            </a:r>
          </a:p>
        </p:txBody>
      </p:sp>
      <p:sp>
        <p:nvSpPr>
          <p:cNvPr id="36" name="TextBox 35"/>
          <p:cNvSpPr txBox="1"/>
          <p:nvPr/>
        </p:nvSpPr>
        <p:spPr>
          <a:xfrm>
            <a:off x="9762744" y="2121408"/>
            <a:ext cx="164592" cy="274320"/>
          </a:xfrm>
          <a:prstGeom prst="rect">
            <a:avLst/>
          </a:prstGeom>
          <a:noFill/>
        </p:spPr>
        <p:txBody>
          <a:bodyPr wrap="none" lIns="0" tIns="0" rIns="0" bIns="0" anchor="t">
            <a:spAutoFit/>
          </a:bodyPr>
          <a:lstStyle/>
          <a:p>
            <a:pPr algn="ctr"/>
            <a:r>
              <a:rPr sz="1600" b="1">
                <a:solidFill>
                  <a:srgbClr val="5EC8FF"/>
                </a:solidFill>
                <a:latin typeface="Noto Sans CJK KR"/>
              </a:rPr>
              <a:t>→</a:t>
            </a:r>
          </a:p>
        </p:txBody>
      </p:sp>
      <p:sp>
        <p:nvSpPr>
          <p:cNvPr id="37" name="Rounded Rectangle 36"/>
          <p:cNvSpPr/>
          <p:nvPr/>
        </p:nvSpPr>
        <p:spPr>
          <a:xfrm>
            <a:off x="9890760" y="1691640"/>
            <a:ext cx="1767840" cy="1097280"/>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Oval 37"/>
          <p:cNvSpPr/>
          <p:nvPr/>
        </p:nvSpPr>
        <p:spPr>
          <a:xfrm>
            <a:off x="9963912" y="1764792"/>
            <a:ext cx="301752" cy="301752"/>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9963912" y="1805940"/>
            <a:ext cx="301752" cy="164592"/>
          </a:xfrm>
          <a:prstGeom prst="rect">
            <a:avLst/>
          </a:prstGeom>
          <a:noFill/>
        </p:spPr>
        <p:txBody>
          <a:bodyPr wrap="none" lIns="0" tIns="0" rIns="0" bIns="0" anchor="t">
            <a:spAutoFit/>
          </a:bodyPr>
          <a:lstStyle/>
          <a:p>
            <a:pPr algn="ctr"/>
            <a:r>
              <a:rPr sz="900" b="1">
                <a:solidFill>
                  <a:srgbClr val="1E2761"/>
                </a:solidFill>
                <a:latin typeface="Noto Sans CJK KR"/>
              </a:rPr>
              <a:t>6</a:t>
            </a:r>
          </a:p>
        </p:txBody>
      </p:sp>
      <p:sp>
        <p:nvSpPr>
          <p:cNvPr id="40" name="TextBox 39"/>
          <p:cNvSpPr txBox="1"/>
          <p:nvPr/>
        </p:nvSpPr>
        <p:spPr>
          <a:xfrm>
            <a:off x="9963912" y="2130552"/>
            <a:ext cx="1621536" cy="292608"/>
          </a:xfrm>
          <a:prstGeom prst="rect">
            <a:avLst/>
          </a:prstGeom>
          <a:noFill/>
        </p:spPr>
        <p:txBody>
          <a:bodyPr wrap="none" lIns="0" tIns="0" rIns="0" bIns="0" anchor="ctr">
            <a:spAutoFit/>
          </a:bodyPr>
          <a:lstStyle/>
          <a:p>
            <a:pPr algn="ctr"/>
            <a:r>
              <a:rPr sz="1300" b="1">
                <a:solidFill>
                  <a:srgbClr val="FFFFFF"/>
                </a:solidFill>
                <a:latin typeface="Noto Sans CJK KR"/>
              </a:rPr>
              <a:t>Switch / Complete</a:t>
            </a:r>
          </a:p>
        </p:txBody>
      </p:sp>
      <p:sp>
        <p:nvSpPr>
          <p:cNvPr id="41" name="TextBox 40"/>
          <p:cNvSpPr txBox="1"/>
          <p:nvPr/>
        </p:nvSpPr>
        <p:spPr>
          <a:xfrm>
            <a:off x="9973056" y="2478024"/>
            <a:ext cx="1603248" cy="237744"/>
          </a:xfrm>
          <a:prstGeom prst="rect">
            <a:avLst/>
          </a:prstGeom>
          <a:noFill/>
        </p:spPr>
        <p:txBody>
          <a:bodyPr wrap="none" lIns="0" tIns="0" rIns="0" bIns="0" anchor="ctr">
            <a:spAutoFit/>
          </a:bodyPr>
          <a:lstStyle/>
          <a:p>
            <a:pPr algn="ctr"/>
            <a:r>
              <a:rPr sz="869" b="0">
                <a:solidFill>
                  <a:srgbClr val="CADCFC"/>
                </a:solidFill>
                <a:latin typeface="Noto Sans CJK KR"/>
              </a:rPr>
              <a:t>종료하거나 Context Switch 후 다시 Queue</a:t>
            </a:r>
          </a:p>
        </p:txBody>
      </p:sp>
      <p:sp>
        <p:nvSpPr>
          <p:cNvPr id="42" name="Rounded Rectangle 41"/>
          <p:cNvSpPr/>
          <p:nvPr/>
        </p:nvSpPr>
        <p:spPr>
          <a:xfrm>
            <a:off x="658368" y="3182112"/>
            <a:ext cx="6995160" cy="2395728"/>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3438144"/>
            <a:ext cx="4114800" cy="310896"/>
          </a:xfrm>
          <a:prstGeom prst="rect">
            <a:avLst/>
          </a:prstGeom>
          <a:noFill/>
        </p:spPr>
        <p:txBody>
          <a:bodyPr wrap="none" lIns="0" tIns="0" rIns="0" bIns="0" anchor="t">
            <a:spAutoFit/>
          </a:bodyPr>
          <a:lstStyle/>
          <a:p>
            <a:pPr algn="l"/>
            <a:r>
              <a:rPr sz="1600" b="1">
                <a:solidFill>
                  <a:srgbClr val="FFFFFF"/>
                </a:solidFill>
                <a:latin typeface="Noto Sans CJK KR"/>
              </a:rPr>
              <a:t>이 워크플로우에서 반드시 관찰할 3가지</a:t>
            </a:r>
          </a:p>
        </p:txBody>
      </p:sp>
      <p:sp>
        <p:nvSpPr>
          <p:cNvPr id="44" name="TextBox 43"/>
          <p:cNvSpPr txBox="1"/>
          <p:nvPr/>
        </p:nvSpPr>
        <p:spPr>
          <a:xfrm>
            <a:off x="932688" y="3913632"/>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1</a:t>
            </a:r>
          </a:p>
        </p:txBody>
      </p:sp>
      <p:sp>
        <p:nvSpPr>
          <p:cNvPr id="45" name="Oval 44"/>
          <p:cNvSpPr/>
          <p:nvPr/>
        </p:nvSpPr>
        <p:spPr>
          <a:xfrm>
            <a:off x="905256" y="3858768"/>
            <a:ext cx="320040" cy="320040"/>
          </a:xfrm>
          <a:prstGeom prst="ellipse">
            <a:avLst/>
          </a:prstGeom>
          <a:solidFill>
            <a:srgbClr val="5EC8FF"/>
          </a:solidFill>
          <a:ln>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1353312" y="3840480"/>
            <a:ext cx="5806440" cy="384048"/>
          </a:xfrm>
          <a:prstGeom prst="rect">
            <a:avLst/>
          </a:prstGeom>
          <a:noFill/>
        </p:spPr>
        <p:txBody>
          <a:bodyPr wrap="none" lIns="0" tIns="0" rIns="0" bIns="0" anchor="t">
            <a:spAutoFit/>
          </a:bodyPr>
          <a:lstStyle/>
          <a:p>
            <a:pPr algn="l"/>
            <a:r>
              <a:rPr sz="1250" b="0">
                <a:solidFill>
                  <a:srgbClr val="CADCFC"/>
                </a:solidFill>
                <a:latin typeface="Noto Sans CJK KR"/>
              </a:rPr>
              <a:t>알고리즘이 같아도 입력 조건에 따라 결과가 달라짐</a:t>
            </a:r>
          </a:p>
        </p:txBody>
      </p:sp>
      <p:sp>
        <p:nvSpPr>
          <p:cNvPr id="47" name="TextBox 46"/>
          <p:cNvSpPr txBox="1"/>
          <p:nvPr/>
        </p:nvSpPr>
        <p:spPr>
          <a:xfrm>
            <a:off x="932688" y="4389120"/>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2</a:t>
            </a:r>
          </a:p>
        </p:txBody>
      </p:sp>
      <p:sp>
        <p:nvSpPr>
          <p:cNvPr id="48" name="Oval 47"/>
          <p:cNvSpPr/>
          <p:nvPr/>
        </p:nvSpPr>
        <p:spPr>
          <a:xfrm>
            <a:off x="905256" y="4334256"/>
            <a:ext cx="320040" cy="320040"/>
          </a:xfrm>
          <a:prstGeom prst="ellipse">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8"/>
          <p:cNvSpPr txBox="1"/>
          <p:nvPr/>
        </p:nvSpPr>
        <p:spPr>
          <a:xfrm>
            <a:off x="1353312" y="4315968"/>
            <a:ext cx="5806440" cy="384048"/>
          </a:xfrm>
          <a:prstGeom prst="rect">
            <a:avLst/>
          </a:prstGeom>
          <a:noFill/>
        </p:spPr>
        <p:txBody>
          <a:bodyPr wrap="none" lIns="0" tIns="0" rIns="0" bIns="0" anchor="t">
            <a:spAutoFit/>
          </a:bodyPr>
          <a:lstStyle/>
          <a:p>
            <a:pPr algn="l"/>
            <a:r>
              <a:rPr sz="1250" b="0">
                <a:solidFill>
                  <a:srgbClr val="CADCFC"/>
                </a:solidFill>
                <a:latin typeface="Noto Sans CJK KR"/>
              </a:rPr>
              <a:t>Quantum이 작을수록 반응성은 좋아질 수 있지만 Switch가 증가</a:t>
            </a:r>
          </a:p>
        </p:txBody>
      </p:sp>
      <p:sp>
        <p:nvSpPr>
          <p:cNvPr id="50" name="TextBox 49"/>
          <p:cNvSpPr txBox="1"/>
          <p:nvPr/>
        </p:nvSpPr>
        <p:spPr>
          <a:xfrm>
            <a:off x="932688" y="4864608"/>
            <a:ext cx="256032" cy="228600"/>
          </a:xfrm>
          <a:prstGeom prst="rect">
            <a:avLst/>
          </a:prstGeom>
          <a:noFill/>
        </p:spPr>
        <p:txBody>
          <a:bodyPr wrap="none" lIns="0" tIns="0" rIns="0" bIns="0" anchor="ctr">
            <a:spAutoFit/>
          </a:bodyPr>
          <a:lstStyle/>
          <a:p>
            <a:pPr algn="ctr"/>
            <a:r>
              <a:rPr sz="1000" b="1">
                <a:solidFill>
                  <a:srgbClr val="1E2761"/>
                </a:solidFill>
                <a:latin typeface="Noto Sans CJK KR"/>
              </a:rPr>
              <a:t>3</a:t>
            </a:r>
          </a:p>
        </p:txBody>
      </p:sp>
      <p:sp>
        <p:nvSpPr>
          <p:cNvPr id="51" name="Oval 50"/>
          <p:cNvSpPr/>
          <p:nvPr/>
        </p:nvSpPr>
        <p:spPr>
          <a:xfrm>
            <a:off x="905256" y="4809744"/>
            <a:ext cx="320040" cy="320040"/>
          </a:xfrm>
          <a:prstGeom prst="ellipse">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353312" y="4791456"/>
            <a:ext cx="5806440" cy="384048"/>
          </a:xfrm>
          <a:prstGeom prst="rect">
            <a:avLst/>
          </a:prstGeom>
          <a:noFill/>
        </p:spPr>
        <p:txBody>
          <a:bodyPr wrap="none" lIns="0" tIns="0" rIns="0" bIns="0" anchor="t">
            <a:spAutoFit/>
          </a:bodyPr>
          <a:lstStyle/>
          <a:p>
            <a:pPr algn="l"/>
            <a:r>
              <a:rPr sz="1250" b="0">
                <a:solidFill>
                  <a:srgbClr val="CADCFC"/>
                </a:solidFill>
                <a:latin typeface="Noto Sans CJK KR"/>
              </a:rPr>
              <a:t>멀티코어는 병렬성과 부하 균형이 함께 필요</a:t>
            </a:r>
          </a:p>
        </p:txBody>
      </p:sp>
      <p:sp>
        <p:nvSpPr>
          <p:cNvPr id="53" name="Rounded Rectangle 52"/>
          <p:cNvSpPr/>
          <p:nvPr/>
        </p:nvSpPr>
        <p:spPr>
          <a:xfrm>
            <a:off x="7909560" y="3182112"/>
            <a:ext cx="3675887" cy="2395728"/>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8183879" y="3456432"/>
            <a:ext cx="1828800" cy="274320"/>
          </a:xfrm>
          <a:prstGeom prst="rect">
            <a:avLst/>
          </a:prstGeom>
          <a:noFill/>
        </p:spPr>
        <p:txBody>
          <a:bodyPr wrap="none" lIns="0" tIns="0" rIns="0" bIns="0" anchor="t">
            <a:spAutoFit/>
          </a:bodyPr>
          <a:lstStyle/>
          <a:p>
            <a:pPr algn="l"/>
            <a:r>
              <a:rPr sz="1500" b="1">
                <a:solidFill>
                  <a:srgbClr val="FFC24B"/>
                </a:solidFill>
                <a:latin typeface="Noto Sans CJK KR"/>
              </a:rPr>
              <a:t>강사 멈춤 질문</a:t>
            </a:r>
          </a:p>
        </p:txBody>
      </p:sp>
      <p:sp>
        <p:nvSpPr>
          <p:cNvPr id="55" name="TextBox 54"/>
          <p:cNvSpPr txBox="1"/>
          <p:nvPr/>
        </p:nvSpPr>
        <p:spPr>
          <a:xfrm>
            <a:off x="8183879" y="4136653"/>
            <a:ext cx="2852987" cy="523220"/>
          </a:xfrm>
          <a:prstGeom prst="rect">
            <a:avLst/>
          </a:prstGeom>
          <a:noFill/>
        </p:spPr>
        <p:txBody>
          <a:bodyPr wrap="square" lIns="0" tIns="0" rIns="0" bIns="0" anchor="ctr">
            <a:spAutoFit/>
          </a:bodyPr>
          <a:lstStyle/>
          <a:p>
            <a:pPr algn="ctr"/>
            <a:r>
              <a:rPr sz="1700" b="1">
                <a:solidFill>
                  <a:srgbClr val="FFFFFF"/>
                </a:solidFill>
                <a:latin typeface="Noto Sans CJK KR"/>
              </a:rPr>
              <a:t>어떤 정책이 “공정하다”고 말할 수 있을까?</a:t>
            </a:r>
          </a:p>
        </p:txBody>
      </p:sp>
      <p:sp>
        <p:nvSpPr>
          <p:cNvPr id="56" name="TextBox 55"/>
          <p:cNvSpPr txBox="1"/>
          <p:nvPr/>
        </p:nvSpPr>
        <p:spPr>
          <a:xfrm>
            <a:off x="8183879" y="5010912"/>
            <a:ext cx="2812218" cy="323165"/>
          </a:xfrm>
          <a:prstGeom prst="rect">
            <a:avLst/>
          </a:prstGeom>
          <a:noFill/>
        </p:spPr>
        <p:txBody>
          <a:bodyPr wrap="square" lIns="0" tIns="0" rIns="0" bIns="0" anchor="t">
            <a:spAutoFit/>
          </a:bodyPr>
          <a:lstStyle/>
          <a:p>
            <a:pPr algn="ctr"/>
            <a:r>
              <a:rPr sz="1050" b="0">
                <a:solidFill>
                  <a:srgbClr val="A8B9DE"/>
                </a:solidFill>
                <a:latin typeface="Noto Sans CJK KR"/>
              </a:rPr>
              <a:t>→ 수강생이 흐름의 다음 상태를 먼저 말한 뒤 다음 단계로 이동</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워크플로우 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1</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Ready Queue</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2</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Scheduler 선택</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3</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Dispatch</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1</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Ready Queue</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상태/자원/Queue의 변화를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2</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Scheduler 선택</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상태/자원/Queue의 변화를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3</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Dispatch</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상태/자원/Queue의 변화를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WORKFLOW 전반부</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28600"/>
            <a:ext cx="4572000" cy="228600"/>
          </a:xfrm>
          <a:prstGeom prst="rect">
            <a:avLst/>
          </a:prstGeom>
          <a:noFill/>
        </p:spPr>
        <p:txBody>
          <a:bodyPr wrap="square" lIns="36576" tIns="36576" rIns="36576" bIns="36576">
            <a:spAutoFit/>
          </a:bodyPr>
          <a:lstStyle/>
          <a:p>
            <a:pPr algn="l"/>
            <a:r>
              <a:rPr sz="1000" b="1">
                <a:solidFill>
                  <a:srgbClr val="5EC8FF"/>
                </a:solidFill>
                <a:latin typeface="Noto Sans CJK KR"/>
              </a:rPr>
              <a:t>CH 04 · WORKFLOW DETAIL</a:t>
            </a:r>
          </a:p>
        </p:txBody>
      </p:sp>
      <p:sp>
        <p:nvSpPr>
          <p:cNvPr id="3" name="TextBox 2"/>
          <p:cNvSpPr txBox="1"/>
          <p:nvPr/>
        </p:nvSpPr>
        <p:spPr>
          <a:xfrm>
            <a:off x="438912" y="557784"/>
            <a:ext cx="11064240" cy="502920"/>
          </a:xfrm>
          <a:prstGeom prst="rect">
            <a:avLst/>
          </a:prstGeom>
          <a:noFill/>
        </p:spPr>
        <p:txBody>
          <a:bodyPr wrap="square" lIns="36576" tIns="36576" rIns="36576" bIns="36576">
            <a:spAutoFit/>
          </a:bodyPr>
          <a:lstStyle/>
          <a:p>
            <a:pPr algn="l"/>
            <a:r>
              <a:rPr sz="2700" b="1">
                <a:solidFill>
                  <a:srgbClr val="FFFFFF"/>
                </a:solidFill>
                <a:latin typeface="Noto Sans CJK KR"/>
              </a:rPr>
              <a:t>CPU 스케줄링 · 워크플로우 후반부 단계 해설</a:t>
            </a:r>
          </a:p>
        </p:txBody>
      </p:sp>
      <p:sp>
        <p:nvSpPr>
          <p:cNvPr id="4" name="Rounded Rectangle 3"/>
          <p:cNvSpPr/>
          <p:nvPr/>
        </p:nvSpPr>
        <p:spPr>
          <a:xfrm>
            <a:off x="68580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5039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4</a:t>
            </a:r>
          </a:p>
        </p:txBody>
      </p:sp>
      <p:sp>
        <p:nvSpPr>
          <p:cNvPr id="6" name="TextBox 5"/>
          <p:cNvSpPr txBox="1"/>
          <p:nvPr/>
        </p:nvSpPr>
        <p:spPr>
          <a:xfrm>
            <a:off x="85039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CPU Burst</a:t>
            </a:r>
          </a:p>
        </p:txBody>
      </p:sp>
      <p:sp>
        <p:nvSpPr>
          <p:cNvPr id="7" name="TextBox 6"/>
          <p:cNvSpPr txBox="1"/>
          <p:nvPr/>
        </p:nvSpPr>
        <p:spPr>
          <a:xfrm>
            <a:off x="4096512"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8" name="Rounded Rectangle 7"/>
          <p:cNvSpPr/>
          <p:nvPr/>
        </p:nvSpPr>
        <p:spPr>
          <a:xfrm>
            <a:off x="438912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553712"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5</a:t>
            </a:r>
          </a:p>
        </p:txBody>
      </p:sp>
      <p:sp>
        <p:nvSpPr>
          <p:cNvPr id="10" name="TextBox 9"/>
          <p:cNvSpPr txBox="1"/>
          <p:nvPr/>
        </p:nvSpPr>
        <p:spPr>
          <a:xfrm>
            <a:off x="4553712"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Context Switch</a:t>
            </a:r>
          </a:p>
        </p:txBody>
      </p:sp>
      <p:sp>
        <p:nvSpPr>
          <p:cNvPr id="11" name="TextBox 10"/>
          <p:cNvSpPr txBox="1"/>
          <p:nvPr/>
        </p:nvSpPr>
        <p:spPr>
          <a:xfrm>
            <a:off x="7799831" y="1746504"/>
            <a:ext cx="411480" cy="320040"/>
          </a:xfrm>
          <a:prstGeom prst="rect">
            <a:avLst/>
          </a:prstGeom>
          <a:noFill/>
        </p:spPr>
        <p:txBody>
          <a:bodyPr wrap="square" lIns="36576" tIns="36576" rIns="36576" bIns="36576">
            <a:spAutoFit/>
          </a:bodyPr>
          <a:lstStyle/>
          <a:p>
            <a:pPr algn="ctr"/>
            <a:r>
              <a:rPr sz="2000" b="1">
                <a:solidFill>
                  <a:srgbClr val="5EC8FF"/>
                </a:solidFill>
                <a:latin typeface="Noto Sans CJK KR"/>
              </a:rPr>
              <a:t>→</a:t>
            </a:r>
          </a:p>
        </p:txBody>
      </p:sp>
      <p:sp>
        <p:nvSpPr>
          <p:cNvPr id="12" name="Rounded Rectangle 11"/>
          <p:cNvSpPr/>
          <p:nvPr/>
        </p:nvSpPr>
        <p:spPr>
          <a:xfrm>
            <a:off x="8092440" y="1417320"/>
            <a:ext cx="3337560" cy="1143000"/>
          </a:xfrm>
          <a:prstGeom prst="roundRect">
            <a:avLst/>
          </a:prstGeom>
          <a:solidFill>
            <a:srgbClr val="20295B"/>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257031" y="1572768"/>
            <a:ext cx="777240" cy="201168"/>
          </a:xfrm>
          <a:prstGeom prst="rect">
            <a:avLst/>
          </a:prstGeom>
          <a:noFill/>
        </p:spPr>
        <p:txBody>
          <a:bodyPr wrap="square" lIns="36576" tIns="36576" rIns="36576" bIns="36576">
            <a:spAutoFit/>
          </a:bodyPr>
          <a:lstStyle/>
          <a:p>
            <a:pPr algn="l"/>
            <a:r>
              <a:rPr sz="1000" b="1">
                <a:solidFill>
                  <a:srgbClr val="FFC24B"/>
                </a:solidFill>
                <a:latin typeface="Noto Sans CJK KR"/>
              </a:rPr>
              <a:t>STEP 6</a:t>
            </a:r>
          </a:p>
        </p:txBody>
      </p:sp>
      <p:sp>
        <p:nvSpPr>
          <p:cNvPr id="14" name="TextBox 13"/>
          <p:cNvSpPr txBox="1"/>
          <p:nvPr/>
        </p:nvSpPr>
        <p:spPr>
          <a:xfrm>
            <a:off x="8257031" y="1865376"/>
            <a:ext cx="2926080" cy="320040"/>
          </a:xfrm>
          <a:prstGeom prst="rect">
            <a:avLst/>
          </a:prstGeom>
          <a:noFill/>
        </p:spPr>
        <p:txBody>
          <a:bodyPr wrap="square" lIns="36576" tIns="36576" rIns="36576" bIns="36576">
            <a:spAutoFit/>
          </a:bodyPr>
          <a:lstStyle/>
          <a:p>
            <a:pPr algn="ctr"/>
            <a:r>
              <a:rPr sz="1600" b="1">
                <a:solidFill>
                  <a:srgbClr val="FFFFFF"/>
                </a:solidFill>
                <a:latin typeface="Noto Sans CJK KR"/>
              </a:rPr>
              <a:t>Complete/재대기</a:t>
            </a:r>
          </a:p>
        </p:txBody>
      </p:sp>
      <p:sp>
        <p:nvSpPr>
          <p:cNvPr id="15" name="Rounded Rectangle 14"/>
          <p:cNvSpPr/>
          <p:nvPr/>
        </p:nvSpPr>
        <p:spPr>
          <a:xfrm>
            <a:off x="713232" y="2971800"/>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6112" y="3099816"/>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4</a:t>
            </a:r>
          </a:p>
        </p:txBody>
      </p:sp>
      <p:sp>
        <p:nvSpPr>
          <p:cNvPr id="17" name="TextBox 16"/>
          <p:cNvSpPr txBox="1"/>
          <p:nvPr/>
        </p:nvSpPr>
        <p:spPr>
          <a:xfrm>
            <a:off x="1417320" y="3090672"/>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CPU Burst</a:t>
            </a:r>
          </a:p>
        </p:txBody>
      </p:sp>
      <p:sp>
        <p:nvSpPr>
          <p:cNvPr id="18" name="TextBox 17"/>
          <p:cNvSpPr txBox="1"/>
          <p:nvPr/>
        </p:nvSpPr>
        <p:spPr>
          <a:xfrm>
            <a:off x="3520440" y="3081528"/>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무엇이 바뀌나?  —  결과/오류/복구 조건를 확인하고 로그 또는 지표와 연결합니다.</a:t>
            </a:r>
          </a:p>
        </p:txBody>
      </p:sp>
      <p:sp>
        <p:nvSpPr>
          <p:cNvPr id="19" name="Rounded Rectangle 18"/>
          <p:cNvSpPr/>
          <p:nvPr/>
        </p:nvSpPr>
        <p:spPr>
          <a:xfrm>
            <a:off x="713232" y="3877056"/>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896112" y="4005072"/>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5</a:t>
            </a:r>
          </a:p>
        </p:txBody>
      </p:sp>
      <p:sp>
        <p:nvSpPr>
          <p:cNvPr id="21" name="TextBox 20"/>
          <p:cNvSpPr txBox="1"/>
          <p:nvPr/>
        </p:nvSpPr>
        <p:spPr>
          <a:xfrm>
            <a:off x="1417320" y="3995928"/>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Context Switch</a:t>
            </a:r>
          </a:p>
        </p:txBody>
      </p:sp>
      <p:sp>
        <p:nvSpPr>
          <p:cNvPr id="22" name="TextBox 21"/>
          <p:cNvSpPr txBox="1"/>
          <p:nvPr/>
        </p:nvSpPr>
        <p:spPr>
          <a:xfrm>
            <a:off x="3520440" y="3986784"/>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무엇을 관찰하나?  —  결과/오류/복구 조건를 확인하고 로그 또는 지표와 연결합니다.</a:t>
            </a:r>
          </a:p>
        </p:txBody>
      </p:sp>
      <p:sp>
        <p:nvSpPr>
          <p:cNvPr id="23" name="Rounded Rectangle 22"/>
          <p:cNvSpPr/>
          <p:nvPr/>
        </p:nvSpPr>
        <p:spPr>
          <a:xfrm>
            <a:off x="713232" y="4782312"/>
            <a:ext cx="10744200" cy="731520"/>
          </a:xfrm>
          <a:prstGeom prst="roundRect">
            <a:avLst/>
          </a:prstGeom>
          <a:solidFill>
            <a:srgbClr val="2A3578"/>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96112" y="4910328"/>
            <a:ext cx="384048" cy="347472"/>
          </a:xfrm>
          <a:prstGeom prst="rect">
            <a:avLst/>
          </a:prstGeom>
          <a:noFill/>
        </p:spPr>
        <p:txBody>
          <a:bodyPr wrap="square" lIns="36576" tIns="36576" rIns="36576" bIns="36576">
            <a:spAutoFit/>
          </a:bodyPr>
          <a:lstStyle/>
          <a:p>
            <a:pPr algn="ctr"/>
            <a:r>
              <a:rPr sz="1800" b="1">
                <a:solidFill>
                  <a:srgbClr val="FFC24B"/>
                </a:solidFill>
                <a:latin typeface="Noto Sans CJK KR"/>
              </a:rPr>
              <a:t>6</a:t>
            </a:r>
          </a:p>
        </p:txBody>
      </p:sp>
      <p:sp>
        <p:nvSpPr>
          <p:cNvPr id="25" name="TextBox 24"/>
          <p:cNvSpPr txBox="1"/>
          <p:nvPr/>
        </p:nvSpPr>
        <p:spPr>
          <a:xfrm>
            <a:off x="1417320" y="4901183"/>
            <a:ext cx="1965960" cy="256032"/>
          </a:xfrm>
          <a:prstGeom prst="rect">
            <a:avLst/>
          </a:prstGeom>
          <a:noFill/>
        </p:spPr>
        <p:txBody>
          <a:bodyPr wrap="square" lIns="36576" tIns="36576" rIns="36576" bIns="36576">
            <a:spAutoFit/>
          </a:bodyPr>
          <a:lstStyle/>
          <a:p>
            <a:pPr algn="l"/>
            <a:r>
              <a:rPr sz="1350" b="1">
                <a:solidFill>
                  <a:srgbClr val="FFFFFF"/>
                </a:solidFill>
                <a:latin typeface="Noto Sans CJK KR"/>
              </a:rPr>
              <a:t>Complete/재대기</a:t>
            </a:r>
          </a:p>
        </p:txBody>
      </p:sp>
      <p:sp>
        <p:nvSpPr>
          <p:cNvPr id="26" name="TextBox 25"/>
          <p:cNvSpPr txBox="1"/>
          <p:nvPr/>
        </p:nvSpPr>
        <p:spPr>
          <a:xfrm>
            <a:off x="3520440" y="4892040"/>
            <a:ext cx="7543800" cy="347472"/>
          </a:xfrm>
          <a:prstGeom prst="rect">
            <a:avLst/>
          </a:prstGeom>
          <a:noFill/>
        </p:spPr>
        <p:txBody>
          <a:bodyPr wrap="square" lIns="36576" tIns="36576" rIns="36576" bIns="36576">
            <a:spAutoFit/>
          </a:bodyPr>
          <a:lstStyle/>
          <a:p>
            <a:pPr algn="l"/>
            <a:r>
              <a:rPr sz="1150" b="0">
                <a:solidFill>
                  <a:srgbClr val="CADCFC"/>
                </a:solidFill>
                <a:latin typeface="Noto Sans CJK KR"/>
              </a:rPr>
              <a:t>다음 단계 조건은?  —  결과/오류/복구 조건를 확인하고 로그 또는 지표와 연결합니다.</a:t>
            </a:r>
          </a:p>
        </p:txBody>
      </p:sp>
      <p:sp>
        <p:nvSpPr>
          <p:cNvPr id="27" name="TextBox 26"/>
          <p:cNvSpPr txBox="1"/>
          <p:nvPr/>
        </p:nvSpPr>
        <p:spPr>
          <a:xfrm>
            <a:off x="822960" y="5815584"/>
            <a:ext cx="10515600" cy="384048"/>
          </a:xfrm>
          <a:prstGeom prst="rect">
            <a:avLst/>
          </a:prstGeom>
          <a:noFill/>
        </p:spPr>
        <p:txBody>
          <a:bodyPr wrap="square" lIns="36576" tIns="36576" rIns="36576" bIns="36576">
            <a:spAutoFit/>
          </a:bodyPr>
          <a:lstStyle/>
          <a:p>
            <a:pPr algn="ctr"/>
            <a:r>
              <a:rPr sz="1300" b="1">
                <a:solidFill>
                  <a:srgbClr val="FFC24B"/>
                </a:solidFill>
                <a:latin typeface="Noto Sans CJK KR"/>
              </a:rPr>
              <a:t>수강생 역할: 화살표를 따라 다음 상태를 먼저 예측한 뒤, 애니메이션에서 같은 순서가 나타나는지 검산합니다.</a:t>
            </a:r>
          </a:p>
        </p:txBody>
      </p:sp>
      <p:sp>
        <p:nvSpPr>
          <p:cNvPr id="28" name="TextBox 27"/>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WORKFLOW 후반부</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34">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문제 상황</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문제 상황: 반응성을 높이려고 Quantum을 계속 줄이면?</a:t>
            </a:r>
            <a:endParaRPr lang="en-US" sz="2800" dirty="0"/>
          </a:p>
        </p:txBody>
      </p:sp>
      <p:sp>
        <p:nvSpPr>
          <p:cNvPr id="4" name="Shape 2"/>
          <p:cNvSpPr/>
          <p:nvPr/>
        </p:nvSpPr>
        <p:spPr>
          <a:xfrm>
            <a:off x="594360" y="1280160"/>
            <a:ext cx="3657600" cy="4434840"/>
          </a:xfrm>
          <a:prstGeom prst="roundRect">
            <a:avLst>
              <a:gd name="adj" fmla="val 2000"/>
            </a:avLst>
          </a:prstGeom>
          <a:solidFill>
            <a:srgbClr val="0B1230"/>
          </a:solidFill>
          <a:ln w="17780">
            <a:solidFill>
              <a:srgbClr val="FF8B8B"/>
            </a:solidFill>
            <a:prstDash val="solid"/>
          </a:ln>
        </p:spPr>
        <p:txBody>
          <a:bodyPr/>
          <a:lstStyle/>
          <a:p>
            <a:endParaRPr/>
          </a:p>
        </p:txBody>
      </p:sp>
      <p:sp>
        <p:nvSpPr>
          <p:cNvPr id="5" name="Text 3"/>
          <p:cNvSpPr/>
          <p:nvPr/>
        </p:nvSpPr>
        <p:spPr>
          <a:xfrm>
            <a:off x="868680" y="1627632"/>
            <a:ext cx="1371600" cy="256032"/>
          </a:xfrm>
          <a:prstGeom prst="rect">
            <a:avLst/>
          </a:prstGeom>
          <a:noFill/>
          <a:ln/>
        </p:spPr>
        <p:txBody>
          <a:bodyPr wrap="square" lIns="0" tIns="0" rIns="0" bIns="0" rtlCol="0" anchor="ctr"/>
          <a:lstStyle/>
          <a:p>
            <a:pPr marL="0" indent="0">
              <a:buNone/>
            </a:pPr>
            <a:r>
              <a:rPr lang="en-US" sz="1100" b="1" dirty="0">
                <a:solidFill>
                  <a:srgbClr val="FF8B8B"/>
                </a:solidFill>
                <a:latin typeface="Noto Sans CJK KR" pitchFamily="34" charset="0"/>
                <a:ea typeface="Noto Sans CJK KR" pitchFamily="34" charset="-122"/>
                <a:cs typeface="Noto Sans CJK KR" pitchFamily="34" charset="-120"/>
              </a:rPr>
              <a:t>SCENARIO</a:t>
            </a:r>
            <a:endParaRPr lang="en-US" sz="1100" dirty="0"/>
          </a:p>
        </p:txBody>
      </p:sp>
      <p:sp>
        <p:nvSpPr>
          <p:cNvPr id="6" name="Text 4"/>
          <p:cNvSpPr/>
          <p:nvPr/>
        </p:nvSpPr>
        <p:spPr>
          <a:xfrm>
            <a:off x="868680" y="2057400"/>
            <a:ext cx="3063240" cy="1417320"/>
          </a:xfrm>
          <a:prstGeom prst="rect">
            <a:avLst/>
          </a:prstGeom>
          <a:noFill/>
          <a:ln/>
        </p:spPr>
        <p:txBody>
          <a:bodyPr wrap="square" lIns="0" tIns="0" rIns="0" bIns="0" rtlCol="0" anchor="ctr">
            <a:normAutofit/>
          </a:bodyPr>
          <a:lstStyle/>
          <a:p>
            <a:pPr marL="0" indent="0">
              <a:buNone/>
            </a:pPr>
            <a:r>
              <a:rPr lang="en-US" sz="2000" b="1" dirty="0">
                <a:solidFill>
                  <a:srgbClr val="FFFFFF"/>
                </a:solidFill>
                <a:latin typeface="Noto Sans CJK KR" pitchFamily="34" charset="0"/>
                <a:ea typeface="Noto Sans CJK KR" pitchFamily="34" charset="-122"/>
                <a:cs typeface="Noto Sans CJK KR" pitchFamily="34" charset="-120"/>
              </a:rPr>
              <a:t>반응성을 높이려고 Quantum을 계속 줄이면?</a:t>
            </a:r>
            <a:endParaRPr lang="en-US" sz="2000" dirty="0"/>
          </a:p>
        </p:txBody>
      </p:sp>
      <p:sp>
        <p:nvSpPr>
          <p:cNvPr id="7" name="Text 5"/>
          <p:cNvSpPr/>
          <p:nvPr/>
        </p:nvSpPr>
        <p:spPr>
          <a:xfrm>
            <a:off x="868680" y="3977640"/>
            <a:ext cx="3063240" cy="822960"/>
          </a:xfrm>
          <a:prstGeom prst="rect">
            <a:avLst/>
          </a:prstGeom>
          <a:noFill/>
          <a:ln/>
        </p:spPr>
        <p:txBody>
          <a:bodyPr wrap="square" lIns="0" tIns="0" rIns="0" bIns="0" rtlCol="0" anchor="ctr">
            <a:normAutofit/>
          </a:bodyPr>
          <a:lstStyle/>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증상만 보고 바로 조치하지 말고</a:t>
            </a:r>
            <a:endParaRPr lang="en-US" sz="1400" dirty="0"/>
          </a:p>
          <a:p>
            <a:pPr marL="0" indent="0">
              <a:buNone/>
            </a:pPr>
            <a:r>
              <a:rPr lang="en-US" sz="1400" i="1" dirty="0">
                <a:solidFill>
                  <a:srgbClr val="CADCFC"/>
                </a:solidFill>
                <a:latin typeface="Noto Sans CJK KR" pitchFamily="34" charset="0"/>
                <a:ea typeface="Noto Sans CJK KR" pitchFamily="34" charset="-122"/>
                <a:cs typeface="Noto Sans CJK KR" pitchFamily="34" charset="-120"/>
              </a:rPr>
              <a:t>OS 상태 변화를 먼저 추적한다.</a:t>
            </a:r>
            <a:endParaRPr lang="en-US" sz="1400" dirty="0"/>
          </a:p>
        </p:txBody>
      </p:sp>
      <p:sp>
        <p:nvSpPr>
          <p:cNvPr id="8" name="Shape 6"/>
          <p:cNvSpPr/>
          <p:nvPr/>
        </p:nvSpPr>
        <p:spPr>
          <a:xfrm>
            <a:off x="4617720" y="1298448"/>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9" name="Text 7"/>
          <p:cNvSpPr/>
          <p:nvPr/>
        </p:nvSpPr>
        <p:spPr>
          <a:xfrm>
            <a:off x="4782312" y="1426464"/>
            <a:ext cx="320040" cy="320040"/>
          </a:xfrm>
          <a:prstGeom prst="rect">
            <a:avLst/>
          </a:prstGeom>
          <a:noFill/>
          <a:ln/>
        </p:spPr>
        <p:txBody>
          <a:bodyPr wrap="square" lIns="0" tIns="0" rIns="0" bIns="0" rtlCol="0" anchor="ctr"/>
          <a:lstStyle/>
          <a:p>
            <a:pPr marL="0" indent="0" algn="ctr">
              <a:buNone/>
            </a:pPr>
            <a:r>
              <a:rPr lang="en-US" sz="1900" dirty="0">
                <a:solidFill>
                  <a:srgbClr val="5EC8FF"/>
                </a:solidFill>
                <a:latin typeface="Segoe UI Emoji" pitchFamily="34" charset="0"/>
                <a:ea typeface="Segoe UI Emoji" pitchFamily="34" charset="-122"/>
                <a:cs typeface="Segoe UI Emoji" pitchFamily="34" charset="-120"/>
              </a:rPr>
              <a:t>1</a:t>
            </a:r>
            <a:endParaRPr lang="en-US" sz="1900" dirty="0"/>
          </a:p>
        </p:txBody>
      </p:sp>
      <p:sp>
        <p:nvSpPr>
          <p:cNvPr id="10" name="Text 8"/>
          <p:cNvSpPr/>
          <p:nvPr/>
        </p:nvSpPr>
        <p:spPr>
          <a:xfrm>
            <a:off x="5166360" y="1444752"/>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1</a:t>
            </a:r>
            <a:endParaRPr lang="en-US" sz="1500" dirty="0"/>
          </a:p>
        </p:txBody>
      </p:sp>
      <p:sp>
        <p:nvSpPr>
          <p:cNvPr id="11" name="Text 9"/>
          <p:cNvSpPr/>
          <p:nvPr/>
        </p:nvSpPr>
        <p:spPr>
          <a:xfrm>
            <a:off x="4800600" y="1828800"/>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짧은 Quantum은 프로세스가 CPU를 자주 교대해 인터랙티브 반응성을 높인다.</a:t>
            </a:r>
            <a:endParaRPr lang="en-US" sz="1150" dirty="0"/>
          </a:p>
        </p:txBody>
      </p:sp>
      <p:sp>
        <p:nvSpPr>
          <p:cNvPr id="12" name="Shape 10"/>
          <p:cNvSpPr/>
          <p:nvPr/>
        </p:nvSpPr>
        <p:spPr>
          <a:xfrm>
            <a:off x="4617720" y="2423160"/>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3" name="Text 11"/>
          <p:cNvSpPr/>
          <p:nvPr/>
        </p:nvSpPr>
        <p:spPr>
          <a:xfrm>
            <a:off x="4782312" y="2551176"/>
            <a:ext cx="320040" cy="320040"/>
          </a:xfrm>
          <a:prstGeom prst="rect">
            <a:avLst/>
          </a:prstGeom>
          <a:noFill/>
          <a:ln/>
        </p:spPr>
        <p:txBody>
          <a:bodyPr wrap="square" lIns="0" tIns="0" rIns="0" bIns="0" rtlCol="0" anchor="ctr"/>
          <a:lstStyle/>
          <a:p>
            <a:pPr marL="0" indent="0" algn="ctr">
              <a:buNone/>
            </a:pPr>
            <a:r>
              <a:rPr lang="en-US" sz="1900" dirty="0">
                <a:solidFill>
                  <a:srgbClr val="FFC24B"/>
                </a:solidFill>
                <a:latin typeface="Segoe UI Emoji" pitchFamily="34" charset="0"/>
                <a:ea typeface="Segoe UI Emoji" pitchFamily="34" charset="-122"/>
                <a:cs typeface="Segoe UI Emoji" pitchFamily="34" charset="-120"/>
              </a:rPr>
              <a:t>2</a:t>
            </a:r>
            <a:endParaRPr lang="en-US" sz="1900" dirty="0"/>
          </a:p>
        </p:txBody>
      </p:sp>
      <p:sp>
        <p:nvSpPr>
          <p:cNvPr id="14" name="Text 12"/>
          <p:cNvSpPr/>
          <p:nvPr/>
        </p:nvSpPr>
        <p:spPr>
          <a:xfrm>
            <a:off x="5166360" y="2569464"/>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2</a:t>
            </a:r>
            <a:endParaRPr lang="en-US" sz="1500" dirty="0"/>
          </a:p>
        </p:txBody>
      </p:sp>
      <p:sp>
        <p:nvSpPr>
          <p:cNvPr id="15" name="Text 13"/>
          <p:cNvSpPr/>
          <p:nvPr/>
        </p:nvSpPr>
        <p:spPr>
          <a:xfrm>
            <a:off x="4800600" y="2953512"/>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하지만 PCB 저장/복원과 캐시 교란이 자주 발생한다.</a:t>
            </a:r>
            <a:endParaRPr lang="en-US" sz="1150" dirty="0"/>
          </a:p>
        </p:txBody>
      </p:sp>
      <p:sp>
        <p:nvSpPr>
          <p:cNvPr id="16" name="Shape 14"/>
          <p:cNvSpPr/>
          <p:nvPr/>
        </p:nvSpPr>
        <p:spPr>
          <a:xfrm>
            <a:off x="4617720" y="3547872"/>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17" name="Text 15"/>
          <p:cNvSpPr/>
          <p:nvPr/>
        </p:nvSpPr>
        <p:spPr>
          <a:xfrm>
            <a:off x="4782312" y="3675888"/>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3</a:t>
            </a:r>
            <a:endParaRPr lang="en-US" sz="1900" dirty="0"/>
          </a:p>
        </p:txBody>
      </p:sp>
      <p:sp>
        <p:nvSpPr>
          <p:cNvPr id="18" name="Text 16"/>
          <p:cNvSpPr/>
          <p:nvPr/>
        </p:nvSpPr>
        <p:spPr>
          <a:xfrm>
            <a:off x="5166360" y="3694176"/>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3</a:t>
            </a:r>
            <a:endParaRPr lang="en-US" sz="1500" dirty="0"/>
          </a:p>
        </p:txBody>
      </p:sp>
      <p:sp>
        <p:nvSpPr>
          <p:cNvPr id="19" name="Text 17"/>
          <p:cNvSpPr/>
          <p:nvPr/>
        </p:nvSpPr>
        <p:spPr>
          <a:xfrm>
            <a:off x="4800600" y="4078224"/>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실제 처리에 쓰는 시간보다 전환 비용이 커지면 전체 처리량이 떨어진다.</a:t>
            </a:r>
            <a:endParaRPr lang="en-US" sz="1150" dirty="0"/>
          </a:p>
        </p:txBody>
      </p:sp>
      <p:sp>
        <p:nvSpPr>
          <p:cNvPr id="20" name="Shape 18"/>
          <p:cNvSpPr/>
          <p:nvPr/>
        </p:nvSpPr>
        <p:spPr>
          <a:xfrm>
            <a:off x="4617720" y="4672584"/>
            <a:ext cx="6995160" cy="941832"/>
          </a:xfrm>
          <a:prstGeom prst="roundRect">
            <a:avLst>
              <a:gd name="adj" fmla="val 7767"/>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1" name="Text 19"/>
          <p:cNvSpPr/>
          <p:nvPr/>
        </p:nvSpPr>
        <p:spPr>
          <a:xfrm>
            <a:off x="4782312" y="4800600"/>
            <a:ext cx="320040" cy="320040"/>
          </a:xfrm>
          <a:prstGeom prst="rect">
            <a:avLst/>
          </a:prstGeom>
          <a:noFill/>
          <a:ln/>
        </p:spPr>
        <p:txBody>
          <a:bodyPr wrap="square" lIns="0" tIns="0" rIns="0" bIns="0" rtlCol="0" anchor="ctr"/>
          <a:lstStyle/>
          <a:p>
            <a:pPr marL="0" indent="0" algn="ctr">
              <a:buNone/>
            </a:pPr>
            <a:r>
              <a:rPr lang="en-US" sz="1900" dirty="0">
                <a:solidFill>
                  <a:srgbClr val="FF8B8B"/>
                </a:solidFill>
                <a:latin typeface="Segoe UI Emoji" pitchFamily="34" charset="0"/>
                <a:ea typeface="Segoe UI Emoji" pitchFamily="34" charset="-122"/>
                <a:cs typeface="Segoe UI Emoji" pitchFamily="34" charset="-120"/>
              </a:rPr>
              <a:t>4</a:t>
            </a:r>
            <a:endParaRPr lang="en-US" sz="1900" dirty="0"/>
          </a:p>
        </p:txBody>
      </p:sp>
      <p:sp>
        <p:nvSpPr>
          <p:cNvPr id="22" name="Text 20"/>
          <p:cNvSpPr/>
          <p:nvPr/>
        </p:nvSpPr>
        <p:spPr>
          <a:xfrm>
            <a:off x="5166360" y="4818888"/>
            <a:ext cx="6281928"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STEP 4</a:t>
            </a:r>
            <a:endParaRPr lang="en-US" sz="1500" dirty="0"/>
          </a:p>
        </p:txBody>
      </p:sp>
      <p:sp>
        <p:nvSpPr>
          <p:cNvPr id="23" name="Text 21"/>
          <p:cNvSpPr/>
          <p:nvPr/>
        </p:nvSpPr>
        <p:spPr>
          <a:xfrm>
            <a:off x="4800600" y="5202936"/>
            <a:ext cx="6629400" cy="283464"/>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멀티코어에서도 부하 균형과 Affinity 정책이 중요하다.</a:t>
            </a:r>
            <a:endParaRPr lang="en-US" sz="1150" dirty="0"/>
          </a:p>
        </p:txBody>
      </p:sp>
      <p:sp>
        <p:nvSpPr>
          <p:cNvPr id="24" name="Text 2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심화</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rgbClr val="1E2761"/>
        </a:solidFill>
        <a:effectLst/>
      </p:bgPr>
    </p:bg>
    <p:spTree>
      <p:nvGrpSpPr>
        <p:cNvPr id="1" name=""/>
        <p:cNvGrpSpPr/>
        <p:nvPr/>
      </p:nvGrpSpPr>
      <p:grpSpPr>
        <a:xfrm>
          <a:off x="0" y="0"/>
          <a:ext cx="0" cy="0"/>
          <a:chOff x="0" y="0"/>
          <a:chExt cx="0" cy="0"/>
        </a:xfrm>
      </p:grpSpPr>
      <p:sp>
        <p:nvSpPr>
          <p:cNvPr id="2" name="TextBox 1"/>
          <p:cNvSpPr txBox="1"/>
          <p:nvPr/>
        </p:nvSpPr>
        <p:spPr>
          <a:xfrm>
            <a:off x="438912" y="256032"/>
            <a:ext cx="4480560" cy="237744"/>
          </a:xfrm>
          <a:prstGeom prst="rect">
            <a:avLst/>
          </a:prstGeom>
          <a:noFill/>
        </p:spPr>
        <p:txBody>
          <a:bodyPr wrap="none" lIns="0" tIns="0" rIns="0" bIns="0" anchor="t">
            <a:spAutoFit/>
          </a:bodyPr>
          <a:lstStyle/>
          <a:p>
            <a:pPr algn="l"/>
            <a:r>
              <a:rPr sz="1000" b="1">
                <a:solidFill>
                  <a:srgbClr val="5EC8FF"/>
                </a:solidFill>
                <a:latin typeface="Noto Sans CJK KR"/>
              </a:rPr>
              <a:t>CH 04 · ANIMATION GUIDE</a:t>
            </a:r>
          </a:p>
        </p:txBody>
      </p:sp>
      <p:sp>
        <p:nvSpPr>
          <p:cNvPr id="3" name="TextBox 2"/>
          <p:cNvSpPr txBox="1"/>
          <p:nvPr/>
        </p:nvSpPr>
        <p:spPr>
          <a:xfrm>
            <a:off x="438912" y="594360"/>
            <a:ext cx="11064240" cy="502920"/>
          </a:xfrm>
          <a:prstGeom prst="rect">
            <a:avLst/>
          </a:prstGeom>
          <a:noFill/>
        </p:spPr>
        <p:txBody>
          <a:bodyPr wrap="none" lIns="0" tIns="0" rIns="0" bIns="0" anchor="t">
            <a:spAutoFit/>
          </a:bodyPr>
          <a:lstStyle/>
          <a:p>
            <a:pPr algn="l"/>
            <a:r>
              <a:rPr sz="2700" b="1">
                <a:solidFill>
                  <a:srgbClr val="FFFFFF"/>
                </a:solidFill>
                <a:latin typeface="Noto Sans CJK KR"/>
              </a:rPr>
              <a:t>CPU와 스케줄링 · 애니메이션 시연 가이드</a:t>
            </a:r>
          </a:p>
        </p:txBody>
      </p:sp>
      <p:cxnSp>
        <p:nvCxnSpPr>
          <p:cNvPr id="4" name="Connector 3"/>
          <p:cNvCxnSpPr/>
          <p:nvPr/>
        </p:nvCxnSpPr>
        <p:spPr>
          <a:xfrm>
            <a:off x="320040" y="6547104"/>
            <a:ext cx="11539728" cy="0"/>
          </a:xfrm>
          <a:prstGeom prst="line">
            <a:avLst/>
          </a:prstGeom>
          <a:ln w="10160">
            <a:solidFill>
              <a:srgbClr val="36429A"/>
            </a:solidFill>
          </a:ln>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384048" y="6574536"/>
            <a:ext cx="8503920" cy="146304"/>
          </a:xfrm>
          <a:prstGeom prst="rect">
            <a:avLst/>
          </a:prstGeom>
          <a:noFill/>
        </p:spPr>
        <p:txBody>
          <a:bodyPr wrap="none" lIns="0" tIns="0" rIns="0" bIns="0" anchor="t">
            <a:spAutoFit/>
          </a:bodyPr>
          <a:lstStyle/>
          <a:p>
            <a:pPr algn="l"/>
            <a:r>
              <a:rPr sz="750" b="0">
                <a:solidFill>
                  <a:srgbClr val="A8B9DE"/>
                </a:solidFill>
                <a:latin typeface="Noto Sans CJK KR"/>
              </a:rPr>
              <a:t>HYUNDAI AI Insight Campus · 온 디바이스 AI | 운영체제 활용 24H</a:t>
            </a:r>
          </a:p>
        </p:txBody>
      </p:sp>
      <p:sp>
        <p:nvSpPr>
          <p:cNvPr id="6" name="TextBox 5"/>
          <p:cNvSpPr txBox="1"/>
          <p:nvPr/>
        </p:nvSpPr>
        <p:spPr>
          <a:xfrm>
            <a:off x="475488" y="1115568"/>
            <a:ext cx="9601200" cy="292608"/>
          </a:xfrm>
          <a:prstGeom prst="rect">
            <a:avLst/>
          </a:prstGeom>
          <a:noFill/>
        </p:spPr>
        <p:txBody>
          <a:bodyPr wrap="none" lIns="0" tIns="0" rIns="0" bIns="0" anchor="t">
            <a:spAutoFit/>
          </a:bodyPr>
          <a:lstStyle/>
          <a:p>
            <a:pPr algn="l"/>
            <a:r>
              <a:rPr sz="1350" b="1">
                <a:solidFill>
                  <a:srgbClr val="FFC24B"/>
                </a:solidFill>
                <a:latin typeface="Noto Sans CJK KR"/>
              </a:rPr>
              <a:t>버튼을 “보여주는 것”이 아니라 조작 → 움직임 → 지표 → 판단의 순서로 시연합니다.</a:t>
            </a:r>
          </a:p>
        </p:txBody>
      </p:sp>
      <p:sp>
        <p:nvSpPr>
          <p:cNvPr id="7" name="Rounded Rectangle 6"/>
          <p:cNvSpPr/>
          <p:nvPr/>
        </p:nvSpPr>
        <p:spPr>
          <a:xfrm>
            <a:off x="640080" y="1600200"/>
            <a:ext cx="132588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76656" y="1719072"/>
            <a:ext cx="1252728" cy="182880"/>
          </a:xfrm>
          <a:prstGeom prst="rect">
            <a:avLst/>
          </a:prstGeom>
          <a:noFill/>
        </p:spPr>
        <p:txBody>
          <a:bodyPr wrap="none" lIns="0" tIns="0" rIns="0" bIns="0" anchor="t">
            <a:spAutoFit/>
          </a:bodyPr>
          <a:lstStyle/>
          <a:p>
            <a:pPr algn="ctr"/>
            <a:r>
              <a:rPr sz="1100" b="1">
                <a:solidFill>
                  <a:srgbClr val="FFFFFF"/>
                </a:solidFill>
                <a:latin typeface="Noto Sans CJK KR"/>
              </a:rPr>
              <a:t>시나리오</a:t>
            </a:r>
          </a:p>
        </p:txBody>
      </p:sp>
      <p:sp>
        <p:nvSpPr>
          <p:cNvPr id="9" name="Rounded Rectangle 8"/>
          <p:cNvSpPr/>
          <p:nvPr/>
        </p:nvSpPr>
        <p:spPr>
          <a:xfrm>
            <a:off x="2057400" y="1600200"/>
            <a:ext cx="182880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2093976" y="1719072"/>
            <a:ext cx="1755648" cy="182880"/>
          </a:xfrm>
          <a:prstGeom prst="rect">
            <a:avLst/>
          </a:prstGeom>
          <a:noFill/>
        </p:spPr>
        <p:txBody>
          <a:bodyPr wrap="none" lIns="0" tIns="0" rIns="0" bIns="0" anchor="t">
            <a:spAutoFit/>
          </a:bodyPr>
          <a:lstStyle/>
          <a:p>
            <a:pPr algn="ctr"/>
            <a:r>
              <a:rPr sz="1100" b="1">
                <a:solidFill>
                  <a:srgbClr val="FFFFFF"/>
                </a:solidFill>
                <a:latin typeface="Noto Sans CJK KR"/>
              </a:rPr>
              <a:t>사용자 조작</a:t>
            </a:r>
          </a:p>
        </p:txBody>
      </p:sp>
      <p:sp>
        <p:nvSpPr>
          <p:cNvPr id="11" name="Rounded Rectangle 10"/>
          <p:cNvSpPr/>
          <p:nvPr/>
        </p:nvSpPr>
        <p:spPr>
          <a:xfrm>
            <a:off x="3977639" y="1600200"/>
            <a:ext cx="278892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4014215" y="1719072"/>
            <a:ext cx="2715768" cy="182880"/>
          </a:xfrm>
          <a:prstGeom prst="rect">
            <a:avLst/>
          </a:prstGeom>
          <a:noFill/>
        </p:spPr>
        <p:txBody>
          <a:bodyPr wrap="none" lIns="0" tIns="0" rIns="0" bIns="0" anchor="t">
            <a:spAutoFit/>
          </a:bodyPr>
          <a:lstStyle/>
          <a:p>
            <a:pPr algn="ctr"/>
            <a:r>
              <a:rPr sz="1100" b="1">
                <a:solidFill>
                  <a:srgbClr val="FFFFFF"/>
                </a:solidFill>
                <a:latin typeface="Noto Sans CJK KR"/>
              </a:rPr>
              <a:t>화면에서 움직이는 것</a:t>
            </a:r>
          </a:p>
        </p:txBody>
      </p:sp>
      <p:sp>
        <p:nvSpPr>
          <p:cNvPr id="13" name="Rounded Rectangle 12"/>
          <p:cNvSpPr/>
          <p:nvPr/>
        </p:nvSpPr>
        <p:spPr>
          <a:xfrm>
            <a:off x="6876288" y="1600200"/>
            <a:ext cx="1874519"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12864" y="1719072"/>
            <a:ext cx="1801367" cy="182880"/>
          </a:xfrm>
          <a:prstGeom prst="rect">
            <a:avLst/>
          </a:prstGeom>
          <a:noFill/>
        </p:spPr>
        <p:txBody>
          <a:bodyPr wrap="none" lIns="0" tIns="0" rIns="0" bIns="0" anchor="t">
            <a:spAutoFit/>
          </a:bodyPr>
          <a:lstStyle/>
          <a:p>
            <a:pPr algn="ctr"/>
            <a:r>
              <a:rPr sz="1100" b="1">
                <a:solidFill>
                  <a:srgbClr val="FFFFFF"/>
                </a:solidFill>
                <a:latin typeface="Noto Sans CJK KR"/>
              </a:rPr>
              <a:t>관찰 지표</a:t>
            </a:r>
          </a:p>
        </p:txBody>
      </p:sp>
      <p:sp>
        <p:nvSpPr>
          <p:cNvPr id="15" name="Rounded Rectangle 14"/>
          <p:cNvSpPr/>
          <p:nvPr/>
        </p:nvSpPr>
        <p:spPr>
          <a:xfrm>
            <a:off x="8869680" y="1600200"/>
            <a:ext cx="2606040" cy="438912"/>
          </a:xfrm>
          <a:prstGeom prst="roundRect">
            <a:avLst/>
          </a:prstGeom>
          <a:solidFill>
            <a:srgbClr val="36429A"/>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906255" y="1719072"/>
            <a:ext cx="2532888" cy="182880"/>
          </a:xfrm>
          <a:prstGeom prst="rect">
            <a:avLst/>
          </a:prstGeom>
          <a:noFill/>
        </p:spPr>
        <p:txBody>
          <a:bodyPr wrap="none" lIns="0" tIns="0" rIns="0" bIns="0" anchor="t">
            <a:spAutoFit/>
          </a:bodyPr>
          <a:lstStyle/>
          <a:p>
            <a:pPr algn="ctr"/>
            <a:r>
              <a:rPr sz="1100" b="1">
                <a:solidFill>
                  <a:srgbClr val="FFFFFF"/>
                </a:solidFill>
                <a:latin typeface="Noto Sans CJK KR"/>
              </a:rPr>
              <a:t>강사 질문</a:t>
            </a:r>
          </a:p>
        </p:txBody>
      </p:sp>
      <p:sp>
        <p:nvSpPr>
          <p:cNvPr id="17" name="Rounded Rectangle 16"/>
          <p:cNvSpPr/>
          <p:nvPr/>
        </p:nvSpPr>
        <p:spPr>
          <a:xfrm>
            <a:off x="640080" y="2176272"/>
            <a:ext cx="1325880" cy="987552"/>
          </a:xfrm>
          <a:prstGeom prst="roundRect">
            <a:avLst/>
          </a:prstGeom>
          <a:solidFill>
            <a:srgbClr val="27316C"/>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22376" y="2478024"/>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알고리즘 비교</a:t>
            </a:r>
          </a:p>
        </p:txBody>
      </p:sp>
      <p:sp>
        <p:nvSpPr>
          <p:cNvPr id="19" name="Rounded Rectangle 18"/>
          <p:cNvSpPr/>
          <p:nvPr/>
        </p:nvSpPr>
        <p:spPr>
          <a:xfrm>
            <a:off x="2057400" y="2176272"/>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2176272" y="2377440"/>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FCFS→SJF→Priority→RR</a:t>
            </a:r>
          </a:p>
        </p:txBody>
      </p:sp>
      <p:sp>
        <p:nvSpPr>
          <p:cNvPr id="21" name="Rounded Rectangle 20"/>
          <p:cNvSpPr/>
          <p:nvPr/>
        </p:nvSpPr>
        <p:spPr>
          <a:xfrm>
            <a:off x="3977639" y="2176272"/>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105656" y="2322576"/>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Gantt 순서와 실행 Process가 달라짐</a:t>
            </a:r>
          </a:p>
        </p:txBody>
      </p:sp>
      <p:sp>
        <p:nvSpPr>
          <p:cNvPr id="23" name="Rounded Rectangle 22"/>
          <p:cNvSpPr/>
          <p:nvPr/>
        </p:nvSpPr>
        <p:spPr>
          <a:xfrm>
            <a:off x="6876288" y="2176272"/>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995160" y="2359152"/>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평균 대기시간, 완료 순서</a:t>
            </a:r>
          </a:p>
        </p:txBody>
      </p:sp>
      <p:sp>
        <p:nvSpPr>
          <p:cNvPr id="25" name="Rounded Rectangle 24"/>
          <p:cNvSpPr/>
          <p:nvPr/>
        </p:nvSpPr>
        <p:spPr>
          <a:xfrm>
            <a:off x="8869680" y="2176272"/>
            <a:ext cx="2606040" cy="987552"/>
          </a:xfrm>
          <a:prstGeom prst="roundRect">
            <a:avLst/>
          </a:prstGeom>
          <a:solidFill>
            <a:srgbClr val="2A3578"/>
          </a:solidFill>
          <a:ln w="1270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97696" y="2295144"/>
            <a:ext cx="2350008" cy="722376"/>
          </a:xfrm>
          <a:prstGeom prst="rect">
            <a:avLst/>
          </a:prstGeom>
          <a:noFill/>
        </p:spPr>
        <p:txBody>
          <a:bodyPr wrap="none" lIns="0" tIns="0" rIns="0" bIns="0" anchor="ctr">
            <a:spAutoFit/>
          </a:bodyPr>
          <a:lstStyle/>
          <a:p>
            <a:pPr algn="ctr"/>
            <a:r>
              <a:rPr sz="1030" b="1">
                <a:solidFill>
                  <a:srgbClr val="FFFFFF"/>
                </a:solidFill>
                <a:latin typeface="Noto Sans CJK KR"/>
              </a:rPr>
              <a:t>어떤 정책이 “공정하다”고 말할 수 있을까?</a:t>
            </a:r>
          </a:p>
        </p:txBody>
      </p:sp>
      <p:sp>
        <p:nvSpPr>
          <p:cNvPr id="27" name="Rounded Rectangle 26"/>
          <p:cNvSpPr/>
          <p:nvPr/>
        </p:nvSpPr>
        <p:spPr>
          <a:xfrm>
            <a:off x="640080" y="3346704"/>
            <a:ext cx="1325880" cy="987552"/>
          </a:xfrm>
          <a:prstGeom prst="roundRect">
            <a:avLst/>
          </a:prstGeom>
          <a:solidFill>
            <a:srgbClr val="27316C"/>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22376" y="3648456"/>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Quantum 실험</a:t>
            </a:r>
          </a:p>
        </p:txBody>
      </p:sp>
      <p:sp>
        <p:nvSpPr>
          <p:cNvPr id="29" name="Rounded Rectangle 28"/>
          <p:cNvSpPr/>
          <p:nvPr/>
        </p:nvSpPr>
        <p:spPr>
          <a:xfrm>
            <a:off x="2057400" y="3346704"/>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76272" y="3547872"/>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RR Quantum 1→5</a:t>
            </a:r>
          </a:p>
        </p:txBody>
      </p:sp>
      <p:sp>
        <p:nvSpPr>
          <p:cNvPr id="31" name="Rounded Rectangle 30"/>
          <p:cNvSpPr/>
          <p:nvPr/>
        </p:nvSpPr>
        <p:spPr>
          <a:xfrm>
            <a:off x="3977639" y="3346704"/>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4105656" y="3493008"/>
            <a:ext cx="2532888" cy="676656"/>
          </a:xfrm>
          <a:prstGeom prst="rect">
            <a:avLst/>
          </a:prstGeom>
          <a:noFill/>
        </p:spPr>
        <p:txBody>
          <a:bodyPr wrap="none" lIns="0" tIns="0" rIns="0" bIns="0" anchor="ctr">
            <a:spAutoFit/>
          </a:bodyPr>
          <a:lstStyle/>
          <a:p>
            <a:pPr algn="ctr"/>
            <a:r>
              <a:rPr sz="1080" b="0">
                <a:solidFill>
                  <a:srgbClr val="CADCFC"/>
                </a:solidFill>
                <a:latin typeface="Noto Sans CJK KR"/>
              </a:rPr>
              <a:t>작은 Quantum에서 Process 전환이 자주 발생</a:t>
            </a:r>
          </a:p>
        </p:txBody>
      </p:sp>
      <p:sp>
        <p:nvSpPr>
          <p:cNvPr id="33" name="Rounded Rectangle 32"/>
          <p:cNvSpPr/>
          <p:nvPr/>
        </p:nvSpPr>
        <p:spPr>
          <a:xfrm>
            <a:off x="6876288" y="3346704"/>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6995160" y="3529584"/>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Context Switch 횟수</a:t>
            </a:r>
          </a:p>
        </p:txBody>
      </p:sp>
      <p:sp>
        <p:nvSpPr>
          <p:cNvPr id="35" name="Rounded Rectangle 34"/>
          <p:cNvSpPr/>
          <p:nvPr/>
        </p:nvSpPr>
        <p:spPr>
          <a:xfrm>
            <a:off x="8869680" y="3346704"/>
            <a:ext cx="2606040" cy="987552"/>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8997696" y="3668259"/>
            <a:ext cx="2267712" cy="317010"/>
          </a:xfrm>
          <a:prstGeom prst="rect">
            <a:avLst/>
          </a:prstGeom>
          <a:noFill/>
        </p:spPr>
        <p:txBody>
          <a:bodyPr wrap="square" lIns="0" tIns="0" rIns="0" bIns="0" anchor="ctr">
            <a:spAutoFit/>
          </a:bodyPr>
          <a:lstStyle/>
          <a:p>
            <a:pPr algn="ctr"/>
            <a:r>
              <a:rPr sz="1030" b="1">
                <a:solidFill>
                  <a:srgbClr val="FFFFFF"/>
                </a:solidFill>
                <a:latin typeface="Noto Sans CJK KR"/>
              </a:rPr>
              <a:t>Quantum을 1로 만들면 왜 항상 좋지 않은가?</a:t>
            </a:r>
          </a:p>
        </p:txBody>
      </p:sp>
      <p:sp>
        <p:nvSpPr>
          <p:cNvPr id="37" name="Rounded Rectangle 36"/>
          <p:cNvSpPr/>
          <p:nvPr/>
        </p:nvSpPr>
        <p:spPr>
          <a:xfrm>
            <a:off x="640080" y="4517136"/>
            <a:ext cx="1325880" cy="987552"/>
          </a:xfrm>
          <a:prstGeom prst="roundRect">
            <a:avLst/>
          </a:prstGeom>
          <a:solidFill>
            <a:srgbClr val="27316C"/>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722376" y="4818888"/>
            <a:ext cx="1161288" cy="274320"/>
          </a:xfrm>
          <a:prstGeom prst="rect">
            <a:avLst/>
          </a:prstGeom>
          <a:noFill/>
        </p:spPr>
        <p:txBody>
          <a:bodyPr wrap="none" lIns="0" tIns="0" rIns="0" bIns="0" anchor="ctr">
            <a:spAutoFit/>
          </a:bodyPr>
          <a:lstStyle/>
          <a:p>
            <a:pPr algn="ctr"/>
            <a:r>
              <a:rPr sz="1300" b="1">
                <a:solidFill>
                  <a:srgbClr val="FFFFFF"/>
                </a:solidFill>
                <a:latin typeface="Noto Sans CJK KR"/>
              </a:rPr>
              <a:t>멀티코어</a:t>
            </a:r>
          </a:p>
        </p:txBody>
      </p:sp>
      <p:sp>
        <p:nvSpPr>
          <p:cNvPr id="39" name="Rounded Rectangle 38"/>
          <p:cNvSpPr/>
          <p:nvPr/>
        </p:nvSpPr>
        <p:spPr>
          <a:xfrm>
            <a:off x="2057400" y="4517136"/>
            <a:ext cx="182880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2176272" y="4718303"/>
            <a:ext cx="1591056" cy="566928"/>
          </a:xfrm>
          <a:prstGeom prst="rect">
            <a:avLst/>
          </a:prstGeom>
          <a:noFill/>
        </p:spPr>
        <p:txBody>
          <a:bodyPr wrap="none" lIns="0" tIns="0" rIns="0" bIns="0" anchor="ctr">
            <a:spAutoFit/>
          </a:bodyPr>
          <a:lstStyle/>
          <a:p>
            <a:pPr algn="ctr"/>
            <a:r>
              <a:rPr sz="1130" b="1">
                <a:solidFill>
                  <a:srgbClr val="CADCFC"/>
                </a:solidFill>
                <a:latin typeface="Noto Sans CJK KR"/>
              </a:rPr>
              <a:t>Core 수 / Affinity 변경</a:t>
            </a:r>
          </a:p>
        </p:txBody>
      </p:sp>
      <p:sp>
        <p:nvSpPr>
          <p:cNvPr id="41" name="Rounded Rectangle 40"/>
          <p:cNvSpPr/>
          <p:nvPr/>
        </p:nvSpPr>
        <p:spPr>
          <a:xfrm>
            <a:off x="3977639" y="4517136"/>
            <a:ext cx="2788920"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TextBox 41"/>
          <p:cNvSpPr txBox="1"/>
          <p:nvPr/>
        </p:nvSpPr>
        <p:spPr>
          <a:xfrm>
            <a:off x="4105656" y="4835568"/>
            <a:ext cx="2295144" cy="332399"/>
          </a:xfrm>
          <a:prstGeom prst="rect">
            <a:avLst/>
          </a:prstGeom>
          <a:noFill/>
        </p:spPr>
        <p:txBody>
          <a:bodyPr wrap="square" lIns="0" tIns="0" rIns="0" bIns="0" anchor="ctr">
            <a:spAutoFit/>
          </a:bodyPr>
          <a:lstStyle/>
          <a:p>
            <a:pPr algn="ctr"/>
            <a:r>
              <a:rPr sz="1080" b="0">
                <a:solidFill>
                  <a:srgbClr val="CADCFC"/>
                </a:solidFill>
                <a:latin typeface="Noto Sans CJK KR"/>
              </a:rPr>
              <a:t>Process가 여러 Core로 분산되거나 한 Core에 몰림</a:t>
            </a:r>
          </a:p>
        </p:txBody>
      </p:sp>
      <p:sp>
        <p:nvSpPr>
          <p:cNvPr id="43" name="Rounded Rectangle 42"/>
          <p:cNvSpPr/>
          <p:nvPr/>
        </p:nvSpPr>
        <p:spPr>
          <a:xfrm>
            <a:off x="6876288" y="4517136"/>
            <a:ext cx="1874519" cy="987552"/>
          </a:xfrm>
          <a:prstGeom prst="roundRect">
            <a:avLst/>
          </a:prstGeom>
          <a:solidFill>
            <a:srgbClr val="0B1230"/>
          </a:solidFill>
          <a:ln w="1270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6995160" y="4700016"/>
            <a:ext cx="1636776" cy="603504"/>
          </a:xfrm>
          <a:prstGeom prst="rect">
            <a:avLst/>
          </a:prstGeom>
          <a:noFill/>
        </p:spPr>
        <p:txBody>
          <a:bodyPr wrap="none" lIns="0" tIns="0" rIns="0" bIns="0" anchor="ctr">
            <a:spAutoFit/>
          </a:bodyPr>
          <a:lstStyle/>
          <a:p>
            <a:pPr algn="ctr"/>
            <a:r>
              <a:rPr sz="1070" b="1">
                <a:solidFill>
                  <a:srgbClr val="FFC24B"/>
                </a:solidFill>
                <a:latin typeface="Noto Sans CJK KR"/>
              </a:rPr>
              <a:t>Core별 사용률, Queue</a:t>
            </a:r>
          </a:p>
        </p:txBody>
      </p:sp>
      <p:sp>
        <p:nvSpPr>
          <p:cNvPr id="45" name="Rounded Rectangle 44"/>
          <p:cNvSpPr/>
          <p:nvPr/>
        </p:nvSpPr>
        <p:spPr>
          <a:xfrm>
            <a:off x="8869680" y="4517136"/>
            <a:ext cx="2606040" cy="987552"/>
          </a:xfrm>
          <a:prstGeom prst="roundRect">
            <a:avLst/>
          </a:prstGeom>
          <a:solidFill>
            <a:srgbClr val="2A3578"/>
          </a:solidFill>
          <a:ln w="1270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6" name="TextBox 45"/>
          <p:cNvSpPr txBox="1"/>
          <p:nvPr/>
        </p:nvSpPr>
        <p:spPr>
          <a:xfrm>
            <a:off x="8997696" y="4838690"/>
            <a:ext cx="2101436" cy="317010"/>
          </a:xfrm>
          <a:prstGeom prst="rect">
            <a:avLst/>
          </a:prstGeom>
          <a:noFill/>
        </p:spPr>
        <p:txBody>
          <a:bodyPr wrap="square" lIns="0" tIns="0" rIns="0" bIns="0" anchor="ctr">
            <a:spAutoFit/>
          </a:bodyPr>
          <a:lstStyle/>
          <a:p>
            <a:pPr algn="ctr"/>
            <a:r>
              <a:rPr sz="1030" b="1">
                <a:solidFill>
                  <a:srgbClr val="FFFFFF"/>
                </a:solidFill>
                <a:latin typeface="Noto Sans CJK KR"/>
              </a:rPr>
              <a:t>Affinity 고정이 도움이 되는 경우와 해가 되는 경우는?</a:t>
            </a:r>
          </a:p>
        </p:txBody>
      </p:sp>
      <p:sp>
        <p:nvSpPr>
          <p:cNvPr id="47" name="Rounded Rectangle 46"/>
          <p:cNvSpPr/>
          <p:nvPr/>
        </p:nvSpPr>
        <p:spPr>
          <a:xfrm>
            <a:off x="640080" y="5806440"/>
            <a:ext cx="10835640" cy="457200"/>
          </a:xfrm>
          <a:prstGeom prst="roundRect">
            <a:avLst/>
          </a:prstGeom>
          <a:solidFill>
            <a:srgbClr val="2A3578"/>
          </a:solidFill>
          <a:ln w="12700">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841248" y="5925312"/>
            <a:ext cx="10424160" cy="201168"/>
          </a:xfrm>
          <a:prstGeom prst="rect">
            <a:avLst/>
          </a:prstGeom>
          <a:noFill/>
        </p:spPr>
        <p:txBody>
          <a:bodyPr wrap="none" lIns="0" tIns="0" rIns="0" bIns="0" anchor="t">
            <a:spAutoFit/>
          </a:bodyPr>
          <a:lstStyle/>
          <a:p>
            <a:pPr algn="ctr"/>
            <a:r>
              <a:rPr sz="1120" b="1">
                <a:solidFill>
                  <a:srgbClr val="FFFFFF"/>
                </a:solidFill>
                <a:latin typeface="Noto Sans CJK KR"/>
              </a:rPr>
              <a:t>시연 공식  |  ① 먼저 예측  →  ② 조작  →  ③ 움직임을 말로 설명  →  ④ 숫자/로그 확인  →  ⑤ 원인 문장으로 정리</a:t>
            </a:r>
          </a:p>
        </p:txBody>
      </p:sp>
      <p:sp>
        <p:nvSpPr>
          <p:cNvPr id="49" name="Rounded Rectangle 48"/>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ANIMATION 준비 구간</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rgbClr val="0B1730"/>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132B4A"/>
          </a:solidFill>
          <a:ln w="13970">
            <a:solidFill>
              <a:srgbClr val="5EC8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572000" cy="438912"/>
          </a:xfrm>
          <a:prstGeom prst="rect">
            <a:avLst/>
          </a:prstGeom>
          <a:noFill/>
        </p:spPr>
        <p:txBody>
          <a:bodyPr wrap="square" lIns="36576" tIns="36576" rIns="36576" bIns="36576">
            <a:spAutoFit/>
          </a:bodyPr>
          <a:lstStyle/>
          <a:p>
            <a:pPr algn="l"/>
            <a:r>
              <a:rPr sz="2500" b="1">
                <a:solidFill>
                  <a:srgbClr val="FFC24B"/>
                </a:solidFill>
                <a:latin typeface="Noto Sans CJK KR"/>
              </a:rPr>
              <a:t>▶ ANIMATION 수행 구간</a:t>
            </a:r>
          </a:p>
        </p:txBody>
      </p:sp>
      <p:sp>
        <p:nvSpPr>
          <p:cNvPr id="4" name="TextBox 3"/>
          <p:cNvSpPr txBox="1"/>
          <p:nvPr/>
        </p:nvSpPr>
        <p:spPr>
          <a:xfrm>
            <a:off x="804672" y="1325880"/>
            <a:ext cx="566928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04 · CPU 스케줄링</a:t>
            </a:r>
          </a:p>
        </p:txBody>
      </p:sp>
      <p:sp>
        <p:nvSpPr>
          <p:cNvPr id="5" name="TextBox 4"/>
          <p:cNvSpPr txBox="1"/>
          <p:nvPr/>
        </p:nvSpPr>
        <p:spPr>
          <a:xfrm>
            <a:off x="822960" y="1847088"/>
            <a:ext cx="5577840" cy="384048"/>
          </a:xfrm>
          <a:prstGeom prst="rect">
            <a:avLst/>
          </a:prstGeom>
          <a:noFill/>
        </p:spPr>
        <p:txBody>
          <a:bodyPr wrap="square" lIns="36576" tIns="36576" rIns="36576" bIns="36576">
            <a:spAutoFit/>
          </a:bodyPr>
          <a:lstStyle/>
          <a:p>
            <a:pPr algn="l"/>
            <a:r>
              <a:rPr sz="1400" b="1">
                <a:solidFill>
                  <a:srgbClr val="CADCFC"/>
                </a:solidFill>
                <a:latin typeface="Noto Sans CJK KR"/>
              </a:rPr>
              <a:t>지금 PPT 설명을 멈추고 브라우저에서 직접 조작합니다.</a:t>
            </a:r>
          </a:p>
        </p:txBody>
      </p:sp>
      <p:sp>
        <p:nvSpPr>
          <p:cNvPr id="6" name="Rounded Rectangle 5"/>
          <p:cNvSpPr/>
          <p:nvPr/>
        </p:nvSpPr>
        <p:spPr>
          <a:xfrm>
            <a:off x="6629400" y="841248"/>
            <a:ext cx="4526280" cy="3383280"/>
          </a:xfrm>
          <a:prstGeom prst="roundRect">
            <a:avLst/>
          </a:prstGeom>
          <a:solidFill>
            <a:srgbClr val="091526"/>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903720" y="1069848"/>
            <a:ext cx="1645920" cy="228600"/>
          </a:xfrm>
          <a:prstGeom prst="rect">
            <a:avLst/>
          </a:prstGeom>
          <a:noFill/>
        </p:spPr>
        <p:txBody>
          <a:bodyPr wrap="square" lIns="36576" tIns="36576" rIns="36576" bIns="36576">
            <a:spAutoFit/>
          </a:bodyPr>
          <a:lstStyle/>
          <a:p>
            <a:pPr algn="l"/>
            <a:r>
              <a:rPr sz="1000" b="1">
                <a:solidFill>
                  <a:srgbClr val="5EC8FF"/>
                </a:solidFill>
                <a:latin typeface="Noto Sans CJK KR"/>
              </a:rPr>
              <a:t>PRO SIMULATION</a:t>
            </a:r>
          </a:p>
        </p:txBody>
      </p:sp>
      <p:sp>
        <p:nvSpPr>
          <p:cNvPr id="8" name="Rounded Rectangle 7"/>
          <p:cNvSpPr/>
          <p:nvPr/>
        </p:nvSpPr>
        <p:spPr>
          <a:xfrm>
            <a:off x="6903720"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232904"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1</a:t>
            </a:r>
          </a:p>
        </p:txBody>
      </p:sp>
      <p:sp>
        <p:nvSpPr>
          <p:cNvPr id="10" name="Rounded Rectangle 9"/>
          <p:cNvSpPr/>
          <p:nvPr/>
        </p:nvSpPr>
        <p:spPr>
          <a:xfrm>
            <a:off x="758037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90955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2</a:t>
            </a:r>
          </a:p>
        </p:txBody>
      </p:sp>
      <p:sp>
        <p:nvSpPr>
          <p:cNvPr id="12" name="Rounded Rectangle 11"/>
          <p:cNvSpPr/>
          <p:nvPr/>
        </p:nvSpPr>
        <p:spPr>
          <a:xfrm>
            <a:off x="8202167"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531351"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3</a:t>
            </a:r>
          </a:p>
        </p:txBody>
      </p:sp>
      <p:sp>
        <p:nvSpPr>
          <p:cNvPr id="14" name="Rounded Rectangle 13"/>
          <p:cNvSpPr/>
          <p:nvPr/>
        </p:nvSpPr>
        <p:spPr>
          <a:xfrm>
            <a:off x="8878824"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208007"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4</a:t>
            </a:r>
          </a:p>
        </p:txBody>
      </p:sp>
      <p:sp>
        <p:nvSpPr>
          <p:cNvPr id="16" name="Rounded Rectangle 15"/>
          <p:cNvSpPr/>
          <p:nvPr/>
        </p:nvSpPr>
        <p:spPr>
          <a:xfrm>
            <a:off x="9500615"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829799"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5</a:t>
            </a:r>
          </a:p>
        </p:txBody>
      </p:sp>
      <p:sp>
        <p:nvSpPr>
          <p:cNvPr id="18" name="Rounded Rectangle 17"/>
          <p:cNvSpPr/>
          <p:nvPr/>
        </p:nvSpPr>
        <p:spPr>
          <a:xfrm>
            <a:off x="10177272" y="1600200"/>
            <a:ext cx="1097280" cy="566928"/>
          </a:xfrm>
          <a:prstGeom prst="roundRect">
            <a:avLst/>
          </a:prstGeom>
          <a:solidFill>
            <a:srgbClr val="203B62"/>
          </a:solidFill>
          <a:ln w="13970">
            <a:solidFill>
              <a:srgbClr val="65A6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506455" y="1746504"/>
            <a:ext cx="411480" cy="201168"/>
          </a:xfrm>
          <a:prstGeom prst="rect">
            <a:avLst/>
          </a:prstGeom>
          <a:noFill/>
        </p:spPr>
        <p:txBody>
          <a:bodyPr wrap="square" lIns="36576" tIns="36576" rIns="36576" bIns="36576">
            <a:spAutoFit/>
          </a:bodyPr>
          <a:lstStyle/>
          <a:p>
            <a:pPr algn="ctr"/>
            <a:r>
              <a:rPr sz="1200" b="1">
                <a:solidFill>
                  <a:srgbClr val="FFFFFF"/>
                </a:solidFill>
                <a:latin typeface="Noto Sans CJK KR"/>
              </a:rPr>
              <a:t>6</a:t>
            </a:r>
          </a:p>
        </p:txBody>
      </p:sp>
      <p:sp>
        <p:nvSpPr>
          <p:cNvPr id="20" name="TextBox 19"/>
          <p:cNvSpPr txBox="1"/>
          <p:nvPr/>
        </p:nvSpPr>
        <p:spPr>
          <a:xfrm>
            <a:off x="6931152"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CPU</a:t>
            </a:r>
          </a:p>
        </p:txBody>
      </p:sp>
      <p:sp>
        <p:nvSpPr>
          <p:cNvPr id="21" name="Rounded Rectangle 20"/>
          <p:cNvSpPr/>
          <p:nvPr/>
        </p:nvSpPr>
        <p:spPr>
          <a:xfrm>
            <a:off x="6986016"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6986016" y="2770632"/>
            <a:ext cx="228600"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918704"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RAM</a:t>
            </a:r>
          </a:p>
        </p:txBody>
      </p:sp>
      <p:sp>
        <p:nvSpPr>
          <p:cNvPr id="24" name="Rounded Rectangle 23"/>
          <p:cNvSpPr/>
          <p:nvPr/>
        </p:nvSpPr>
        <p:spPr>
          <a:xfrm>
            <a:off x="7973567"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973567" y="2770632"/>
            <a:ext cx="338328"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906256"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Queue</a:t>
            </a:r>
          </a:p>
        </p:txBody>
      </p:sp>
      <p:sp>
        <p:nvSpPr>
          <p:cNvPr id="27" name="Rounded Rectangle 26"/>
          <p:cNvSpPr/>
          <p:nvPr/>
        </p:nvSpPr>
        <p:spPr>
          <a:xfrm>
            <a:off x="8961120"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961120" y="2770632"/>
            <a:ext cx="448056"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9893808" y="2514600"/>
            <a:ext cx="822960" cy="182880"/>
          </a:xfrm>
          <a:prstGeom prst="rect">
            <a:avLst/>
          </a:prstGeom>
          <a:noFill/>
        </p:spPr>
        <p:txBody>
          <a:bodyPr wrap="square" lIns="36576" tIns="36576" rIns="36576" bIns="36576">
            <a:spAutoFit/>
          </a:bodyPr>
          <a:lstStyle/>
          <a:p>
            <a:pPr algn="ctr"/>
            <a:r>
              <a:rPr sz="880" b="1">
                <a:solidFill>
                  <a:srgbClr val="A8B9DE"/>
                </a:solidFill>
                <a:latin typeface="Noto Sans CJK KR"/>
              </a:rPr>
              <a:t>Latency</a:t>
            </a:r>
          </a:p>
        </p:txBody>
      </p:sp>
      <p:sp>
        <p:nvSpPr>
          <p:cNvPr id="30" name="Rounded Rectangle 29"/>
          <p:cNvSpPr/>
          <p:nvPr/>
        </p:nvSpPr>
        <p:spPr>
          <a:xfrm>
            <a:off x="9948672" y="2770632"/>
            <a:ext cx="713232" cy="146304"/>
          </a:xfrm>
          <a:prstGeom prst="roundRect">
            <a:avLst/>
          </a:prstGeom>
          <a:solidFill>
            <a:srgbClr val="263A58"/>
          </a:solidFill>
          <a:ln w="13970">
            <a:solidFill>
              <a:srgbClr val="263A5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9948672" y="2770632"/>
            <a:ext cx="557784" cy="146304"/>
          </a:xfrm>
          <a:prstGeom prst="roundRect">
            <a:avLst/>
          </a:prstGeom>
          <a:solidFill>
            <a:srgbClr val="61DEB0"/>
          </a:solidFill>
          <a:ln w="13970">
            <a:solidFill>
              <a:srgbClr val="61DE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903720" y="3246120"/>
            <a:ext cx="1005840" cy="201168"/>
          </a:xfrm>
          <a:prstGeom prst="rect">
            <a:avLst/>
          </a:prstGeom>
          <a:noFill/>
        </p:spPr>
        <p:txBody>
          <a:bodyPr wrap="square" lIns="36576" tIns="36576" rIns="36576" bIns="36576">
            <a:spAutoFit/>
          </a:bodyPr>
          <a:lstStyle/>
          <a:p>
            <a:pPr algn="l"/>
            <a:r>
              <a:rPr sz="900" b="1">
                <a:solidFill>
                  <a:srgbClr val="A8B9DE"/>
                </a:solidFill>
                <a:latin typeface="Noto Sans CJK KR"/>
              </a:rPr>
              <a:t>Event Log</a:t>
            </a:r>
          </a:p>
        </p:txBody>
      </p:sp>
      <p:sp>
        <p:nvSpPr>
          <p:cNvPr id="33" name="Rounded Rectangle 32"/>
          <p:cNvSpPr/>
          <p:nvPr/>
        </p:nvSpPr>
        <p:spPr>
          <a:xfrm>
            <a:off x="6903720" y="3529584"/>
            <a:ext cx="3931920" cy="438912"/>
          </a:xfrm>
          <a:prstGeom prst="roundRect">
            <a:avLst/>
          </a:prstGeom>
          <a:solidFill>
            <a:srgbClr val="050D18"/>
          </a:solidFill>
          <a:ln w="13970">
            <a:solidFill>
              <a:srgbClr val="2C4267"/>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7059168" y="3648456"/>
            <a:ext cx="3566160" cy="146304"/>
          </a:xfrm>
          <a:prstGeom prst="rect">
            <a:avLst/>
          </a:prstGeom>
          <a:noFill/>
        </p:spPr>
        <p:txBody>
          <a:bodyPr wrap="square" lIns="0" tIns="0" rIns="0" bIns="0">
            <a:spAutoFit/>
          </a:bodyPr>
          <a:lstStyle/>
          <a:p>
            <a:pPr algn="l"/>
            <a:r>
              <a:rPr sz="850" b="0">
                <a:solidFill>
                  <a:srgbClr val="BCD7FF"/>
                </a:solidFill>
                <a:latin typeface="Consolas"/>
              </a:rPr>
              <a:t>[Step] state changed → metric updated</a:t>
            </a:r>
          </a:p>
        </p:txBody>
      </p:sp>
      <p:sp>
        <p:nvSpPr>
          <p:cNvPr id="35" name="TextBox 34"/>
          <p:cNvSpPr txBox="1"/>
          <p:nvPr/>
        </p:nvSpPr>
        <p:spPr>
          <a:xfrm>
            <a:off x="822960" y="2514600"/>
            <a:ext cx="1188720" cy="237744"/>
          </a:xfrm>
          <a:prstGeom prst="rect">
            <a:avLst/>
          </a:prstGeom>
          <a:noFill/>
        </p:spPr>
        <p:txBody>
          <a:bodyPr wrap="square" lIns="36576" tIns="36576" rIns="36576" bIns="36576">
            <a:spAutoFit/>
          </a:bodyPr>
          <a:lstStyle/>
          <a:p>
            <a:pPr algn="l"/>
            <a:r>
              <a:rPr sz="1400" b="1">
                <a:solidFill>
                  <a:srgbClr val="5EC8FF"/>
                </a:solidFill>
                <a:latin typeface="Noto Sans CJK KR"/>
              </a:rPr>
              <a:t>수행 순서</a:t>
            </a:r>
          </a:p>
        </p:txBody>
      </p:sp>
      <p:sp>
        <p:nvSpPr>
          <p:cNvPr id="36" name="TextBox 35"/>
          <p:cNvSpPr txBox="1"/>
          <p:nvPr/>
        </p:nvSpPr>
        <p:spPr>
          <a:xfrm>
            <a:off x="868680" y="2880360"/>
            <a:ext cx="5349240" cy="1828800"/>
          </a:xfrm>
          <a:prstGeom prst="rect">
            <a:avLst/>
          </a:prstGeom>
          <a:noFill/>
        </p:spPr>
        <p:txBody>
          <a:bodyPr wrap="square" lIns="36576" tIns="36576" rIns="36576" bIns="36576">
            <a:spAutoFit/>
          </a:bodyPr>
          <a:lstStyle/>
          <a:p>
            <a:pPr algn="l"/>
            <a:r>
              <a:rPr sz="1300" b="0">
                <a:solidFill>
                  <a:srgbClr val="FFFFFF"/>
                </a:solidFill>
                <a:latin typeface="Noto Sans CJK KR"/>
              </a:rPr>
              <a:t>① 시나리오 선택 후 결과를 먼저 예측
② Step으로 상태를 한 단계씩 이동
③ Auto Play로 전체 흐름 확인
④ Queue·지표·Event Log를 함께 읽기
⑤ 결과를 한 문장으로 설명 후 Worksheet 이동</a:t>
            </a:r>
          </a:p>
        </p:txBody>
      </p:sp>
      <p:sp>
        <p:nvSpPr>
          <p:cNvPr id="37" name="TextBox 36"/>
          <p:cNvSpPr txBox="1"/>
          <p:nvPr/>
        </p:nvSpPr>
        <p:spPr>
          <a:xfrm>
            <a:off x="868680" y="5074920"/>
            <a:ext cx="5394960" cy="310896"/>
          </a:xfrm>
          <a:prstGeom prst="rect">
            <a:avLst/>
          </a:prstGeom>
          <a:noFill/>
        </p:spPr>
        <p:txBody>
          <a:bodyPr wrap="square" lIns="36576" tIns="36576" rIns="36576" bIns="36576">
            <a:spAutoFit/>
          </a:bodyPr>
          <a:lstStyle/>
          <a:p>
            <a:pPr algn="l"/>
            <a:r>
              <a:rPr sz="1200" b="1">
                <a:solidFill>
                  <a:srgbClr val="FFC24B"/>
                </a:solidFill>
                <a:latin typeface="Consolas"/>
              </a:rPr>
              <a:t>파일  os_24h_interactive_animations_PRO.html?ch=4</a:t>
            </a:r>
          </a:p>
        </p:txBody>
      </p:sp>
      <p:sp>
        <p:nvSpPr>
          <p:cNvPr id="38" name="TextBox 37"/>
          <p:cNvSpPr txBox="1"/>
          <p:nvPr/>
        </p:nvSpPr>
        <p:spPr>
          <a:xfrm>
            <a:off x="868680" y="5559552"/>
            <a:ext cx="9875520" cy="320040"/>
          </a:xfrm>
          <a:prstGeom prst="rect">
            <a:avLst/>
          </a:prstGeom>
          <a:noFill/>
        </p:spPr>
        <p:txBody>
          <a:bodyPr wrap="square" lIns="36576" tIns="36576" rIns="36576" bIns="36576">
            <a:spAutoFit/>
          </a:bodyPr>
          <a:lstStyle/>
          <a:p>
            <a:pPr algn="l"/>
            <a:r>
              <a:rPr sz="1300" b="1">
                <a:solidFill>
                  <a:srgbClr val="7BE0AD"/>
                </a:solidFill>
                <a:latin typeface="Noto Sans CJK KR"/>
              </a:rPr>
              <a:t>수행 완료 후 PPT로 복귀 → 다음 슬라이드의 DEMO 질문에 답하기</a:t>
            </a:r>
          </a:p>
        </p:txBody>
      </p:sp>
      <p:sp>
        <p:nvSpPr>
          <p:cNvPr id="39" name="TextBox 38"/>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ACTION · ANIMATION</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35">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DEMO</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인터랙티브 시뮬레이션 · CPU Scheduler + Multi-Core Lab</a:t>
            </a:r>
            <a:endParaRPr lang="en-US" sz="2800" dirty="0"/>
          </a:p>
        </p:txBody>
      </p:sp>
      <p:sp>
        <p:nvSpPr>
          <p:cNvPr id="4" name="Shape 2"/>
          <p:cNvSpPr/>
          <p:nvPr/>
        </p:nvSpPr>
        <p:spPr>
          <a:xfrm>
            <a:off x="594360" y="1261872"/>
            <a:ext cx="6858000" cy="4553712"/>
          </a:xfrm>
          <a:prstGeom prst="roundRect">
            <a:avLst>
              <a:gd name="adj" fmla="val 1606"/>
            </a:avLst>
          </a:prstGeom>
          <a:solidFill>
            <a:srgbClr val="0B1230"/>
          </a:solidFill>
          <a:ln w="16510">
            <a:solidFill>
              <a:srgbClr val="5EC8FF"/>
            </a:solidFill>
            <a:prstDash val="solid"/>
          </a:ln>
        </p:spPr>
        <p:txBody>
          <a:bodyPr/>
          <a:lstStyle/>
          <a:p>
            <a:endParaRPr/>
          </a:p>
        </p:txBody>
      </p:sp>
      <p:sp>
        <p:nvSpPr>
          <p:cNvPr id="5" name="Text 3"/>
          <p:cNvSpPr/>
          <p:nvPr/>
        </p:nvSpPr>
        <p:spPr>
          <a:xfrm>
            <a:off x="868680" y="1554480"/>
            <a:ext cx="1645920" cy="237744"/>
          </a:xfrm>
          <a:prstGeom prst="rect">
            <a:avLst/>
          </a:prstGeom>
          <a:noFill/>
          <a:ln/>
        </p:spPr>
        <p:txBody>
          <a:bodyPr wrap="square" lIns="0" tIns="0" rIns="0" bIns="0" rtlCol="0" anchor="ctr"/>
          <a:lstStyle/>
          <a:p>
            <a:pPr marL="0" indent="0">
              <a:buNone/>
            </a:pPr>
            <a:r>
              <a:rPr lang="en-US" sz="1050" b="1" dirty="0">
                <a:solidFill>
                  <a:srgbClr val="5EC8FF"/>
                </a:solidFill>
                <a:latin typeface="Noto Sans CJK KR" pitchFamily="34" charset="0"/>
                <a:ea typeface="Noto Sans CJK KR" pitchFamily="34" charset="-122"/>
                <a:cs typeface="Noto Sans CJK KR" pitchFamily="34" charset="-120"/>
              </a:rPr>
              <a:t>HTML SIMULATOR</a:t>
            </a:r>
            <a:endParaRPr lang="en-US" sz="1050" dirty="0"/>
          </a:p>
        </p:txBody>
      </p:sp>
      <p:sp>
        <p:nvSpPr>
          <p:cNvPr id="6" name="Text 4"/>
          <p:cNvSpPr/>
          <p:nvPr/>
        </p:nvSpPr>
        <p:spPr>
          <a:xfrm>
            <a:off x="868680" y="1993392"/>
            <a:ext cx="6126480" cy="585216"/>
          </a:xfrm>
          <a:prstGeom prst="rect">
            <a:avLst/>
          </a:prstGeom>
          <a:noFill/>
          <a:ln/>
        </p:spPr>
        <p:txBody>
          <a:bodyPr wrap="square" lIns="0" tIns="0" rIns="0" bIns="0" rtlCol="0" anchor="ctr">
            <a:normAutofit/>
          </a:bodyPr>
          <a:lstStyle/>
          <a:p>
            <a:pPr marL="0" indent="0">
              <a:buNone/>
            </a:pPr>
            <a:r>
              <a:rPr lang="en-US" sz="2300" b="1" dirty="0">
                <a:solidFill>
                  <a:srgbClr val="FFFFFF"/>
                </a:solidFill>
                <a:latin typeface="Noto Sans CJK KR" pitchFamily="34" charset="0"/>
                <a:ea typeface="Noto Sans CJK KR" pitchFamily="34" charset="-122"/>
                <a:cs typeface="Noto Sans CJK KR" pitchFamily="34" charset="-120"/>
              </a:rPr>
              <a:t>CPU Scheduler + Multi-Core Lab</a:t>
            </a:r>
            <a:endParaRPr lang="en-US" sz="2300" dirty="0"/>
          </a:p>
        </p:txBody>
      </p:sp>
      <p:sp>
        <p:nvSpPr>
          <p:cNvPr id="7" name="Shape 5"/>
          <p:cNvSpPr/>
          <p:nvPr/>
        </p:nvSpPr>
        <p:spPr>
          <a:xfrm>
            <a:off x="960120"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8" name="Text 6"/>
          <p:cNvSpPr/>
          <p:nvPr/>
        </p:nvSpPr>
        <p:spPr>
          <a:xfrm>
            <a:off x="1014984"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1</a:t>
            </a:r>
            <a:endParaRPr lang="en-US" sz="1100" dirty="0"/>
          </a:p>
        </p:txBody>
      </p:sp>
      <p:sp>
        <p:nvSpPr>
          <p:cNvPr id="9" name="Text 7"/>
          <p:cNvSpPr/>
          <p:nvPr/>
        </p:nvSpPr>
        <p:spPr>
          <a:xfrm>
            <a:off x="2354580"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0" name="Shape 8"/>
          <p:cNvSpPr/>
          <p:nvPr/>
        </p:nvSpPr>
        <p:spPr>
          <a:xfrm>
            <a:off x="2500884"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1" name="Text 9"/>
          <p:cNvSpPr/>
          <p:nvPr/>
        </p:nvSpPr>
        <p:spPr>
          <a:xfrm>
            <a:off x="2555748"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2</a:t>
            </a:r>
            <a:endParaRPr lang="en-US" sz="1100" dirty="0"/>
          </a:p>
        </p:txBody>
      </p:sp>
      <p:sp>
        <p:nvSpPr>
          <p:cNvPr id="12" name="Text 10"/>
          <p:cNvSpPr/>
          <p:nvPr/>
        </p:nvSpPr>
        <p:spPr>
          <a:xfrm>
            <a:off x="3895344"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3" name="Shape 11"/>
          <p:cNvSpPr/>
          <p:nvPr/>
        </p:nvSpPr>
        <p:spPr>
          <a:xfrm>
            <a:off x="4041648"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4" name="Text 12"/>
          <p:cNvSpPr/>
          <p:nvPr/>
        </p:nvSpPr>
        <p:spPr>
          <a:xfrm>
            <a:off x="4096512"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3</a:t>
            </a:r>
            <a:endParaRPr lang="en-US" sz="1100" dirty="0"/>
          </a:p>
        </p:txBody>
      </p:sp>
      <p:sp>
        <p:nvSpPr>
          <p:cNvPr id="15" name="Text 13"/>
          <p:cNvSpPr/>
          <p:nvPr/>
        </p:nvSpPr>
        <p:spPr>
          <a:xfrm>
            <a:off x="5436108" y="2898648"/>
            <a:ext cx="173736" cy="228600"/>
          </a:xfrm>
          <a:prstGeom prst="rect">
            <a:avLst/>
          </a:prstGeom>
          <a:noFill/>
          <a:ln/>
        </p:spPr>
        <p:txBody>
          <a:bodyPr wrap="square" lIns="0" tIns="0" rIns="0" bIns="0" rtlCol="0" anchor="ctr"/>
          <a:lstStyle/>
          <a:p>
            <a:pPr marL="0" indent="0" algn="ctr">
              <a:buNone/>
            </a:pPr>
            <a:r>
              <a:rPr lang="en-US" sz="1500" b="1" dirty="0">
                <a:solidFill>
                  <a:srgbClr val="5EC8FF"/>
                </a:solidFill>
                <a:latin typeface="Noto Sans CJK KR" pitchFamily="34" charset="0"/>
                <a:ea typeface="Noto Sans CJK KR" pitchFamily="34" charset="-122"/>
                <a:cs typeface="Noto Sans CJK KR" pitchFamily="34" charset="-120"/>
              </a:rPr>
              <a:t>→</a:t>
            </a:r>
            <a:endParaRPr lang="en-US" sz="1500" dirty="0"/>
          </a:p>
        </p:txBody>
      </p:sp>
      <p:sp>
        <p:nvSpPr>
          <p:cNvPr id="16" name="Shape 14"/>
          <p:cNvSpPr/>
          <p:nvPr/>
        </p:nvSpPr>
        <p:spPr>
          <a:xfrm>
            <a:off x="5582412" y="2788920"/>
            <a:ext cx="1412748" cy="594360"/>
          </a:xfrm>
          <a:prstGeom prst="roundRect">
            <a:avLst>
              <a:gd name="adj" fmla="val 6154"/>
            </a:avLst>
          </a:prstGeom>
          <a:solidFill>
            <a:srgbClr val="20295B"/>
          </a:solidFill>
          <a:ln w="12700">
            <a:solidFill>
              <a:srgbClr val="36429A"/>
            </a:solidFill>
            <a:prstDash val="solid"/>
          </a:ln>
        </p:spPr>
        <p:txBody>
          <a:bodyPr/>
          <a:lstStyle/>
          <a:p>
            <a:endParaRPr/>
          </a:p>
        </p:txBody>
      </p:sp>
      <p:sp>
        <p:nvSpPr>
          <p:cNvPr id="17" name="Text 15"/>
          <p:cNvSpPr/>
          <p:nvPr/>
        </p:nvSpPr>
        <p:spPr>
          <a:xfrm>
            <a:off x="5637276" y="2907792"/>
            <a:ext cx="1303020" cy="374904"/>
          </a:xfrm>
          <a:prstGeom prst="rect">
            <a:avLst/>
          </a:prstGeom>
          <a:noFill/>
          <a:ln/>
        </p:spPr>
        <p:txBody>
          <a:bodyPr wrap="square" lIns="0" tIns="0" rIns="0" bIns="0" rtlCol="0" anchor="ctr">
            <a:normAutofit/>
          </a:bodyPr>
          <a:lstStyle/>
          <a:p>
            <a:pPr marL="0" indent="0" algn="ctr">
              <a:buNone/>
            </a:pPr>
            <a:r>
              <a:rPr lang="en-US" sz="1100" dirty="0">
                <a:solidFill>
                  <a:srgbClr val="CADCFC"/>
                </a:solidFill>
                <a:latin typeface="Noto Sans CJK KR" pitchFamily="34" charset="0"/>
                <a:ea typeface="Noto Sans CJK KR" pitchFamily="34" charset="-122"/>
                <a:cs typeface="Noto Sans CJK KR" pitchFamily="34" charset="-120"/>
              </a:rPr>
              <a:t>4</a:t>
            </a:r>
            <a:endParaRPr lang="en-US" sz="1100" dirty="0"/>
          </a:p>
        </p:txBody>
      </p:sp>
      <p:sp>
        <p:nvSpPr>
          <p:cNvPr id="18" name="Text 16"/>
          <p:cNvSpPr/>
          <p:nvPr/>
        </p:nvSpPr>
        <p:spPr>
          <a:xfrm>
            <a:off x="960120" y="3566160"/>
            <a:ext cx="5989320" cy="1664208"/>
          </a:xfrm>
          <a:prstGeom prst="rect">
            <a:avLst/>
          </a:prstGeom>
          <a:noFill/>
          <a:ln/>
        </p:spPr>
        <p:txBody>
          <a:bodyPr wrap="square" lIns="254" tIns="254" rIns="254" bIns="254" rtlCol="0" anchor="ctr">
            <a:normAutofit/>
          </a:bodyPr>
          <a:lstStyle/>
          <a:p>
            <a:pPr marL="0" indent="0">
              <a:buNone/>
            </a:pPr>
            <a:r>
              <a:rPr lang="en-US" sz="1270" dirty="0">
                <a:solidFill>
                  <a:srgbClr val="CADCFC"/>
                </a:solidFill>
                <a:latin typeface="Noto Sans CJK KR" pitchFamily="34" charset="0"/>
                <a:ea typeface="Noto Sans CJK KR" pitchFamily="34" charset="-122"/>
                <a:cs typeface="Noto Sans CJK KR" pitchFamily="34" charset="-120"/>
              </a:rPr>
              <a:t>1. 동일 P1~P4 조건에서 FCFS/SJF/Priority/RR 비교</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2. RR에서 Quantum 1→5로 변경하며 Context Switch 횟수 기록</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3. Core 수 1→4로 바꾸며 Queue 변화를 관찰</a:t>
            </a:r>
            <a:endParaRPr lang="en-US" sz="1270" dirty="0"/>
          </a:p>
          <a:p>
            <a:pPr marL="0" indent="0">
              <a:buNone/>
            </a:pPr>
            <a:r>
              <a:rPr lang="en-US" sz="1270" dirty="0">
                <a:solidFill>
                  <a:srgbClr val="CADCFC"/>
                </a:solidFill>
                <a:latin typeface="Noto Sans CJK KR" pitchFamily="34" charset="0"/>
                <a:ea typeface="Noto Sans CJK KR" pitchFamily="34" charset="-122"/>
                <a:cs typeface="Noto Sans CJK KR" pitchFamily="34" charset="-120"/>
              </a:rPr>
              <a:t>4. Affinity 고정 ON/OFF로 특정 Core 과부하 비교</a:t>
            </a:r>
            <a:endParaRPr lang="en-US" sz="1270" dirty="0"/>
          </a:p>
        </p:txBody>
      </p:sp>
      <p:sp>
        <p:nvSpPr>
          <p:cNvPr id="19" name="Shape 17"/>
          <p:cNvSpPr/>
          <p:nvPr/>
        </p:nvSpPr>
        <p:spPr>
          <a:xfrm>
            <a:off x="7772400" y="1261872"/>
            <a:ext cx="3822192" cy="1965960"/>
          </a:xfrm>
          <a:prstGeom prst="roundRect">
            <a:avLst>
              <a:gd name="adj" fmla="val 3721"/>
            </a:avLst>
          </a:prstGeom>
          <a:solidFill>
            <a:srgbClr val="2A3578"/>
          </a:solidFill>
          <a:ln w="15240">
            <a:solidFill>
              <a:srgbClr val="FFC24B"/>
            </a:solidFill>
            <a:prstDash val="solid"/>
          </a:ln>
        </p:spPr>
        <p:txBody>
          <a:bodyPr/>
          <a:lstStyle/>
          <a:p>
            <a:endParaRPr/>
          </a:p>
        </p:txBody>
      </p:sp>
      <p:sp>
        <p:nvSpPr>
          <p:cNvPr id="20" name="Text 18"/>
          <p:cNvSpPr/>
          <p:nvPr/>
        </p:nvSpPr>
        <p:spPr>
          <a:xfrm>
            <a:off x="8065008" y="1572768"/>
            <a:ext cx="3246120" cy="301752"/>
          </a:xfrm>
          <a:prstGeom prst="rect">
            <a:avLst/>
          </a:prstGeom>
          <a:noFill/>
          <a:ln/>
        </p:spPr>
        <p:txBody>
          <a:bodyPr wrap="square" lIns="0" tIns="0" rIns="0" bIns="0" rtlCol="0" anchor="ctr"/>
          <a:lstStyle/>
          <a:p>
            <a:pPr marL="0" indent="0">
              <a:buNone/>
            </a:pPr>
            <a:r>
              <a:rPr lang="en-US" sz="1500" b="1" dirty="0">
                <a:solidFill>
                  <a:srgbClr val="FFC24B"/>
                </a:solidFill>
                <a:latin typeface="Noto Sans CJK KR" pitchFamily="34" charset="0"/>
                <a:ea typeface="Noto Sans CJK KR" pitchFamily="34" charset="-122"/>
                <a:cs typeface="Noto Sans CJK KR" pitchFamily="34" charset="-120"/>
              </a:rPr>
              <a:t>시연 전에 반드시 질문</a:t>
            </a:r>
            <a:endParaRPr lang="en-US" sz="1500" dirty="0"/>
          </a:p>
        </p:txBody>
      </p:sp>
      <p:sp>
        <p:nvSpPr>
          <p:cNvPr id="21" name="Text 19"/>
          <p:cNvSpPr/>
          <p:nvPr/>
        </p:nvSpPr>
        <p:spPr>
          <a:xfrm>
            <a:off x="8065008" y="2029968"/>
            <a:ext cx="3200400" cy="713232"/>
          </a:xfrm>
          <a:prstGeom prst="rect">
            <a:avLst/>
          </a:prstGeom>
          <a:noFill/>
          <a:ln/>
        </p:spPr>
        <p:txBody>
          <a:bodyPr wrap="square" lIns="254" tIns="254" rIns="254" bIns="254" rtlCol="0" anchor="ctr">
            <a:normAutofit/>
          </a:bodyPr>
          <a:lstStyle/>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“버튼을 누르기 전에</a:t>
            </a:r>
            <a:endParaRPr lang="en-US" sz="1550" dirty="0"/>
          </a:p>
          <a:p>
            <a:pPr marL="0" indent="0" algn="ctr">
              <a:buNone/>
            </a:pPr>
            <a:r>
              <a:rPr lang="en-US" sz="1550" b="1" dirty="0">
                <a:solidFill>
                  <a:srgbClr val="FFFFFF"/>
                </a:solidFill>
                <a:latin typeface="Noto Sans CJK KR" pitchFamily="34" charset="0"/>
                <a:ea typeface="Noto Sans CJK KR" pitchFamily="34" charset="-122"/>
                <a:cs typeface="Noto Sans CJK KR" pitchFamily="34" charset="-120"/>
              </a:rPr>
              <a:t>무엇이 어떻게 변할지 예측해보세요.”</a:t>
            </a:r>
            <a:endParaRPr lang="en-US" sz="1550" dirty="0"/>
          </a:p>
        </p:txBody>
      </p:sp>
      <p:sp>
        <p:nvSpPr>
          <p:cNvPr id="22" name="Shape 20"/>
          <p:cNvSpPr/>
          <p:nvPr/>
        </p:nvSpPr>
        <p:spPr>
          <a:xfrm>
            <a:off x="7772400" y="3493008"/>
            <a:ext cx="3822192" cy="1938528"/>
          </a:xfrm>
          <a:prstGeom prst="roundRect">
            <a:avLst>
              <a:gd name="adj" fmla="val 3774"/>
            </a:avLst>
          </a:prstGeom>
          <a:solidFill>
            <a:srgbClr val="2A3578">
              <a:alpha val="96000"/>
            </a:srgbClr>
          </a:solidFill>
          <a:ln w="13970">
            <a:solidFill>
              <a:srgbClr val="36429A"/>
            </a:solidFill>
            <a:prstDash val="solid"/>
          </a:ln>
          <a:effectLst>
            <a:outerShdw blurRad="15240" dist="7620" dir="2700000" algn="bl" rotWithShape="0">
              <a:srgbClr val="000000">
                <a:alpha val="18000"/>
              </a:srgbClr>
            </a:outerShdw>
          </a:effectLst>
        </p:spPr>
        <p:txBody>
          <a:bodyPr/>
          <a:lstStyle/>
          <a:p>
            <a:endParaRPr/>
          </a:p>
        </p:txBody>
      </p:sp>
      <p:sp>
        <p:nvSpPr>
          <p:cNvPr id="23" name="Text 21"/>
          <p:cNvSpPr/>
          <p:nvPr/>
        </p:nvSpPr>
        <p:spPr>
          <a:xfrm>
            <a:off x="7936992" y="3621024"/>
            <a:ext cx="320040" cy="320040"/>
          </a:xfrm>
          <a:prstGeom prst="rect">
            <a:avLst/>
          </a:prstGeom>
          <a:noFill/>
          <a:ln/>
        </p:spPr>
        <p:txBody>
          <a:bodyPr wrap="square" lIns="0" tIns="0" rIns="0" bIns="0" rtlCol="0" anchor="ctr"/>
          <a:lstStyle/>
          <a:p>
            <a:pPr marL="0" indent="0" algn="ctr">
              <a:buNone/>
            </a:pPr>
            <a:r>
              <a:rPr lang="en-US" sz="1900" dirty="0">
                <a:solidFill>
                  <a:srgbClr val="7BE0AD"/>
                </a:solidFill>
                <a:latin typeface="Segoe UI Emoji" pitchFamily="34" charset="0"/>
                <a:ea typeface="Segoe UI Emoji" pitchFamily="34" charset="-122"/>
                <a:cs typeface="Segoe UI Emoji" pitchFamily="34" charset="-120"/>
              </a:rPr>
              <a:t>📁</a:t>
            </a:r>
            <a:endParaRPr lang="en-US" sz="1900" dirty="0"/>
          </a:p>
        </p:txBody>
      </p:sp>
      <p:sp>
        <p:nvSpPr>
          <p:cNvPr id="24" name="Text 22"/>
          <p:cNvSpPr/>
          <p:nvPr/>
        </p:nvSpPr>
        <p:spPr>
          <a:xfrm>
            <a:off x="8321040" y="3639312"/>
            <a:ext cx="3108960" cy="292608"/>
          </a:xfrm>
          <a:prstGeom prst="rect">
            <a:avLst/>
          </a:prstGeom>
          <a:noFill/>
          <a:ln/>
        </p:spPr>
        <p:txBody>
          <a:bodyPr wrap="square" lIns="0" tIns="0" rIns="0" bIns="0" rtlCol="0" anchor="ctr">
            <a:normAutofit/>
          </a:bodyPr>
          <a:lstStyle/>
          <a:p>
            <a:pPr marL="0" indent="0">
              <a:buNone/>
            </a:pPr>
            <a:r>
              <a:rPr lang="en-US" sz="1500" b="1" dirty="0">
                <a:solidFill>
                  <a:srgbClr val="FFFFFF"/>
                </a:solidFill>
                <a:latin typeface="Noto Sans CJK KR" pitchFamily="34" charset="0"/>
                <a:ea typeface="Noto Sans CJK KR" pitchFamily="34" charset="-122"/>
                <a:cs typeface="Noto Sans CJK KR" pitchFamily="34" charset="-120"/>
              </a:rPr>
              <a:t>배포 파일</a:t>
            </a:r>
            <a:endParaRPr lang="en-US" sz="1500" dirty="0"/>
          </a:p>
        </p:txBody>
      </p:sp>
      <p:sp>
        <p:nvSpPr>
          <p:cNvPr id="25" name="Text 23"/>
          <p:cNvSpPr/>
          <p:nvPr/>
        </p:nvSpPr>
        <p:spPr>
          <a:xfrm>
            <a:off x="7955280" y="4023360"/>
            <a:ext cx="3456432" cy="1280160"/>
          </a:xfrm>
          <a:prstGeom prst="rect">
            <a:avLst/>
          </a:prstGeom>
          <a:noFill/>
          <a:ln/>
        </p:spPr>
        <p:txBody>
          <a:bodyPr wrap="square" lIns="254" tIns="254" rIns="254" bIns="254" rtlCol="0" anchor="t">
            <a:normAutofit/>
          </a:bodyPr>
          <a:lstStyle/>
          <a:p>
            <a:pPr marL="0" indent="0">
              <a:buNone/>
            </a:pPr>
            <a:r>
              <a:rPr lang="en-US" sz="1150" dirty="0">
                <a:solidFill>
                  <a:srgbClr val="CADCFC"/>
                </a:solidFill>
                <a:latin typeface="Noto Sans CJK KR" pitchFamily="34" charset="0"/>
                <a:ea typeface="Noto Sans CJK KR" pitchFamily="34" charset="-122"/>
                <a:cs typeface="Noto Sans CJK KR" pitchFamily="34" charset="-120"/>
              </a:rPr>
              <a:t>os_24h_interactive_animations_reduced_advanced.html</a:t>
            </a:r>
            <a:endParaRPr lang="en-US" sz="1150" dirty="0"/>
          </a:p>
          <a:p>
            <a:pPr marL="0" indent="0">
              <a:buNone/>
            </a:pPr>
            <a:endParaRPr lang="en-US" sz="1150" dirty="0"/>
          </a:p>
          <a:p>
            <a:pPr marL="0" indent="0">
              <a:buNone/>
            </a:pPr>
            <a:r>
              <a:rPr lang="en-US" sz="1150" dirty="0">
                <a:solidFill>
                  <a:srgbClr val="CADCFC"/>
                </a:solidFill>
                <a:latin typeface="Noto Sans CJK KR" pitchFamily="34" charset="0"/>
                <a:ea typeface="Noto Sans CJK KR" pitchFamily="34" charset="-122"/>
                <a:cs typeface="Noto Sans CJK KR" pitchFamily="34" charset="-120"/>
              </a:rPr>
              <a:t>PPT와 같은 폴더에 두고 브라우저에서 실행</a:t>
            </a:r>
            <a:endParaRPr lang="en-US" sz="1150" dirty="0"/>
          </a:p>
        </p:txBody>
      </p:sp>
      <p:sp>
        <p:nvSpPr>
          <p:cNvPr id="26" name="Text 24"/>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시뮬레이터</a:t>
            </a:r>
            <a:endParaRPr lang="en-US" sz="750" dirty="0"/>
          </a:p>
        </p:txBody>
      </p:sp>
      <p:sp>
        <p:nvSpPr>
          <p:cNvPr id="28"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71</a:t>
            </a:fld>
            <a:endParaRPr lang="en-US"/>
          </a:p>
        </p:txBody>
      </p:sp>
      <p:sp>
        <p:nvSpPr>
          <p:cNvPr id="27" name="Rounded Rectangle 26"/>
          <p:cNvSpPr/>
          <p:nvPr/>
        </p:nvSpPr>
        <p:spPr>
          <a:xfrm>
            <a:off x="8641080" y="210312"/>
            <a:ext cx="3090672" cy="384048"/>
          </a:xfrm>
          <a:prstGeom prst="roundRect">
            <a:avLst/>
          </a:prstGeom>
          <a:solidFill>
            <a:srgbClr val="FFC24B"/>
          </a:solidFill>
          <a:ln>
            <a:solidFill>
              <a:srgbClr val="FFC24B"/>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ANIMATION 수행</a:t>
            </a:r>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bg>
      <p:bgPr>
        <a:solidFill>
          <a:srgbClr val="13243B"/>
        </a:solidFill>
        <a:effectLst/>
      </p:bgPr>
    </p:bg>
    <p:spTree>
      <p:nvGrpSpPr>
        <p:cNvPr id="1" name=""/>
        <p:cNvGrpSpPr/>
        <p:nvPr/>
      </p:nvGrpSpPr>
      <p:grpSpPr>
        <a:xfrm>
          <a:off x="0" y="0"/>
          <a:ext cx="0" cy="0"/>
          <a:chOff x="0" y="0"/>
          <a:chExt cx="0" cy="0"/>
        </a:xfrm>
      </p:grpSpPr>
      <p:sp>
        <p:nvSpPr>
          <p:cNvPr id="2" name="Rounded Rectangle 1"/>
          <p:cNvSpPr/>
          <p:nvPr/>
        </p:nvSpPr>
        <p:spPr>
          <a:xfrm>
            <a:off x="502920" y="502920"/>
            <a:ext cx="11201400" cy="5440680"/>
          </a:xfrm>
          <a:prstGeom prst="roundRect">
            <a:avLst/>
          </a:prstGeom>
          <a:solidFill>
            <a:srgbClr val="263B46"/>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77240" y="777240"/>
            <a:ext cx="4754880" cy="438912"/>
          </a:xfrm>
          <a:prstGeom prst="rect">
            <a:avLst/>
          </a:prstGeom>
          <a:noFill/>
        </p:spPr>
        <p:txBody>
          <a:bodyPr wrap="square" lIns="36576" tIns="36576" rIns="36576" bIns="36576">
            <a:spAutoFit/>
          </a:bodyPr>
          <a:lstStyle/>
          <a:p>
            <a:pPr algn="l"/>
            <a:r>
              <a:rPr sz="2500" b="1">
                <a:solidFill>
                  <a:srgbClr val="FFC24B"/>
                </a:solidFill>
                <a:latin typeface="Noto Sans CJK KR"/>
              </a:rPr>
              <a:t>✍ WORKSHEET 수행 구간</a:t>
            </a:r>
          </a:p>
        </p:txBody>
      </p:sp>
      <p:sp>
        <p:nvSpPr>
          <p:cNvPr id="4" name="TextBox 3"/>
          <p:cNvSpPr txBox="1"/>
          <p:nvPr/>
        </p:nvSpPr>
        <p:spPr>
          <a:xfrm>
            <a:off x="804672" y="1325880"/>
            <a:ext cx="5760720" cy="420624"/>
          </a:xfrm>
          <a:prstGeom prst="rect">
            <a:avLst/>
          </a:prstGeom>
          <a:noFill/>
        </p:spPr>
        <p:txBody>
          <a:bodyPr wrap="square" lIns="36576" tIns="36576" rIns="36576" bIns="36576">
            <a:spAutoFit/>
          </a:bodyPr>
          <a:lstStyle/>
          <a:p>
            <a:pPr algn="l"/>
            <a:r>
              <a:rPr sz="2000" b="1">
                <a:solidFill>
                  <a:srgbClr val="FFFFFF"/>
                </a:solidFill>
                <a:latin typeface="Noto Sans CJK KR"/>
              </a:rPr>
              <a:t>Chapter 04 · CPU 스케줄링</a:t>
            </a:r>
          </a:p>
        </p:txBody>
      </p:sp>
      <p:sp>
        <p:nvSpPr>
          <p:cNvPr id="5" name="TextBox 4"/>
          <p:cNvSpPr txBox="1"/>
          <p:nvPr/>
        </p:nvSpPr>
        <p:spPr>
          <a:xfrm>
            <a:off x="822960" y="1847088"/>
            <a:ext cx="5669280" cy="384048"/>
          </a:xfrm>
          <a:prstGeom prst="rect">
            <a:avLst/>
          </a:prstGeom>
          <a:noFill/>
        </p:spPr>
        <p:txBody>
          <a:bodyPr wrap="square" lIns="36576" tIns="36576" rIns="36576" bIns="36576">
            <a:spAutoFit/>
          </a:bodyPr>
          <a:lstStyle/>
          <a:p>
            <a:pPr algn="l"/>
            <a:r>
              <a:rPr sz="1400" b="1">
                <a:solidFill>
                  <a:srgbClr val="CADCFC"/>
                </a:solidFill>
                <a:latin typeface="Noto Sans CJK KR"/>
              </a:rPr>
              <a:t>애니메이션에서 관찰한 결과를 자신의 판단과 근거로 기록합니다.</a:t>
            </a:r>
          </a:p>
        </p:txBody>
      </p:sp>
      <p:sp>
        <p:nvSpPr>
          <p:cNvPr id="6" name="TextBox 5"/>
          <p:cNvSpPr txBox="1"/>
          <p:nvPr/>
        </p:nvSpPr>
        <p:spPr>
          <a:xfrm>
            <a:off x="822960" y="2487168"/>
            <a:ext cx="2011680" cy="256032"/>
          </a:xfrm>
          <a:prstGeom prst="rect">
            <a:avLst/>
          </a:prstGeom>
          <a:noFill/>
        </p:spPr>
        <p:txBody>
          <a:bodyPr wrap="square" lIns="36576" tIns="36576" rIns="36576" bIns="36576">
            <a:spAutoFit/>
          </a:bodyPr>
          <a:lstStyle/>
          <a:p>
            <a:pPr algn="l"/>
            <a:r>
              <a:rPr sz="1400" b="1">
                <a:solidFill>
                  <a:srgbClr val="5EC8FF"/>
                </a:solidFill>
                <a:latin typeface="Noto Sans CJK KR"/>
              </a:rPr>
              <a:t>반드시 이 순서로 수행</a:t>
            </a:r>
          </a:p>
        </p:txBody>
      </p:sp>
      <p:sp>
        <p:nvSpPr>
          <p:cNvPr id="7" name="TextBox 6"/>
          <p:cNvSpPr txBox="1"/>
          <p:nvPr/>
        </p:nvSpPr>
        <p:spPr>
          <a:xfrm>
            <a:off x="868680" y="2862072"/>
            <a:ext cx="5166360" cy="2057400"/>
          </a:xfrm>
          <a:prstGeom prst="rect">
            <a:avLst/>
          </a:prstGeom>
          <a:noFill/>
        </p:spPr>
        <p:txBody>
          <a:bodyPr wrap="square" lIns="36576" tIns="36576" rIns="36576" bIns="36576">
            <a:spAutoFit/>
          </a:bodyPr>
          <a:lstStyle/>
          <a:p>
            <a:pPr algn="l"/>
            <a:r>
              <a:rPr sz="1300" b="0">
                <a:solidFill>
                  <a:srgbClr val="FFFFFF"/>
                </a:solidFill>
                <a:latin typeface="Noto Sans CJK KR"/>
              </a:rPr>
              <a:t>① 예측/판단 문제를 수정하지 않은 상태로 작성
② 「채점하기」를 눌러 답 잠금
③ 오답의 정답 표시를 확인
④ 애니메이션으로 오답 원인 재검산
⑤ 마지막 서술형을 자신의 말로 작성
⑥ 완료 화면을 만들고 점수 확인</a:t>
            </a:r>
          </a:p>
        </p:txBody>
      </p:sp>
      <p:sp>
        <p:nvSpPr>
          <p:cNvPr id="8" name="Rounded Rectangle 7"/>
          <p:cNvSpPr/>
          <p:nvPr/>
        </p:nvSpPr>
        <p:spPr>
          <a:xfrm>
            <a:off x="6537960" y="960120"/>
            <a:ext cx="4572000" cy="4343400"/>
          </a:xfrm>
          <a:prstGeom prst="roundRect">
            <a:avLst/>
          </a:prstGeom>
          <a:solidFill>
            <a:srgbClr val="0B1629"/>
          </a:solidFill>
          <a:ln w="13970">
            <a:solidFill>
              <a:srgbClr val="36429A"/>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839712" y="1261872"/>
            <a:ext cx="2560320" cy="274320"/>
          </a:xfrm>
          <a:prstGeom prst="rect">
            <a:avLst/>
          </a:prstGeom>
          <a:noFill/>
        </p:spPr>
        <p:txBody>
          <a:bodyPr wrap="square" lIns="36576" tIns="36576" rIns="36576" bIns="36576">
            <a:spAutoFit/>
          </a:bodyPr>
          <a:lstStyle/>
          <a:p>
            <a:pPr algn="l"/>
            <a:r>
              <a:rPr sz="1500" b="1">
                <a:solidFill>
                  <a:srgbClr val="FFC24B"/>
                </a:solidFill>
                <a:latin typeface="Noto Sans CJK KR"/>
              </a:rPr>
              <a:t>이번 Chapter 검증 포인트</a:t>
            </a:r>
          </a:p>
        </p:txBody>
      </p:sp>
      <p:sp>
        <p:nvSpPr>
          <p:cNvPr id="10" name="Rounded Rectangle 9"/>
          <p:cNvSpPr/>
          <p:nvPr/>
        </p:nvSpPr>
        <p:spPr>
          <a:xfrm>
            <a:off x="6812280" y="1783080"/>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967728" y="1956816"/>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1</a:t>
            </a:r>
          </a:p>
        </p:txBody>
      </p:sp>
      <p:sp>
        <p:nvSpPr>
          <p:cNvPr id="12" name="TextBox 11"/>
          <p:cNvSpPr txBox="1"/>
          <p:nvPr/>
        </p:nvSpPr>
        <p:spPr>
          <a:xfrm>
            <a:off x="7452360" y="1929384"/>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FCFS/SJF/RR 실행 순서 비교</a:t>
            </a:r>
          </a:p>
        </p:txBody>
      </p:sp>
      <p:sp>
        <p:nvSpPr>
          <p:cNvPr id="13" name="Rounded Rectangle 12"/>
          <p:cNvSpPr/>
          <p:nvPr/>
        </p:nvSpPr>
        <p:spPr>
          <a:xfrm>
            <a:off x="6812280" y="2734056"/>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967728" y="2907792"/>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2</a:t>
            </a:r>
          </a:p>
        </p:txBody>
      </p:sp>
      <p:sp>
        <p:nvSpPr>
          <p:cNvPr id="15" name="TextBox 14"/>
          <p:cNvSpPr txBox="1"/>
          <p:nvPr/>
        </p:nvSpPr>
        <p:spPr>
          <a:xfrm>
            <a:off x="7452360" y="2880360"/>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Quantum 변경으로 Switch 수 비교</a:t>
            </a:r>
          </a:p>
        </p:txBody>
      </p:sp>
      <p:sp>
        <p:nvSpPr>
          <p:cNvPr id="16" name="Rounded Rectangle 15"/>
          <p:cNvSpPr/>
          <p:nvPr/>
        </p:nvSpPr>
        <p:spPr>
          <a:xfrm>
            <a:off x="6812280" y="3685032"/>
            <a:ext cx="3977639" cy="749808"/>
          </a:xfrm>
          <a:prstGeom prst="roundRect">
            <a:avLst/>
          </a:prstGeom>
          <a:solidFill>
            <a:srgbClr val="1A3453"/>
          </a:solidFill>
          <a:ln w="13970">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6967728" y="3858768"/>
            <a:ext cx="347472" cy="237744"/>
          </a:xfrm>
          <a:prstGeom prst="rect">
            <a:avLst/>
          </a:prstGeom>
          <a:noFill/>
        </p:spPr>
        <p:txBody>
          <a:bodyPr wrap="square" lIns="36576" tIns="36576" rIns="36576" bIns="36576">
            <a:spAutoFit/>
          </a:bodyPr>
          <a:lstStyle/>
          <a:p>
            <a:pPr algn="ctr"/>
            <a:r>
              <a:rPr sz="1400" b="1">
                <a:solidFill>
                  <a:srgbClr val="7BE0AD"/>
                </a:solidFill>
                <a:latin typeface="Noto Sans CJK KR"/>
              </a:rPr>
              <a:t>3</a:t>
            </a:r>
          </a:p>
        </p:txBody>
      </p:sp>
      <p:sp>
        <p:nvSpPr>
          <p:cNvPr id="18" name="TextBox 17"/>
          <p:cNvSpPr txBox="1"/>
          <p:nvPr/>
        </p:nvSpPr>
        <p:spPr>
          <a:xfrm>
            <a:off x="7452360" y="3831336"/>
            <a:ext cx="3063240" cy="347472"/>
          </a:xfrm>
          <a:prstGeom prst="rect">
            <a:avLst/>
          </a:prstGeom>
          <a:noFill/>
        </p:spPr>
        <p:txBody>
          <a:bodyPr wrap="square" lIns="36576" tIns="36576" rIns="36576" bIns="36576">
            <a:spAutoFit/>
          </a:bodyPr>
          <a:lstStyle/>
          <a:p>
            <a:pPr algn="l"/>
            <a:r>
              <a:rPr sz="1120" b="0">
                <a:solidFill>
                  <a:srgbClr val="FFFFFF"/>
                </a:solidFill>
                <a:latin typeface="Noto Sans CJK KR"/>
              </a:rPr>
              <a:t>Core 수와 Affinity 변화 관찰</a:t>
            </a:r>
          </a:p>
        </p:txBody>
      </p:sp>
      <p:sp>
        <p:nvSpPr>
          <p:cNvPr id="19" name="TextBox 18"/>
          <p:cNvSpPr txBox="1"/>
          <p:nvPr/>
        </p:nvSpPr>
        <p:spPr>
          <a:xfrm>
            <a:off x="6839712" y="4800600"/>
            <a:ext cx="3840480" cy="274320"/>
          </a:xfrm>
          <a:prstGeom prst="rect">
            <a:avLst/>
          </a:prstGeom>
          <a:noFill/>
        </p:spPr>
        <p:txBody>
          <a:bodyPr wrap="square" lIns="36576" tIns="36576" rIns="36576" bIns="36576">
            <a:spAutoFit/>
          </a:bodyPr>
          <a:lstStyle/>
          <a:p>
            <a:pPr algn="l"/>
            <a:r>
              <a:rPr sz="1120" b="1">
                <a:solidFill>
                  <a:srgbClr val="FFC24B"/>
                </a:solidFill>
                <a:latin typeface="Consolas"/>
              </a:rPr>
              <a:t>파일  os_24h_digital_worksheet.html</a:t>
            </a:r>
          </a:p>
        </p:txBody>
      </p:sp>
      <p:sp>
        <p:nvSpPr>
          <p:cNvPr id="20" name="TextBox 19"/>
          <p:cNvSpPr txBox="1"/>
          <p:nvPr/>
        </p:nvSpPr>
        <p:spPr>
          <a:xfrm>
            <a:off x="868680" y="5349240"/>
            <a:ext cx="5577840" cy="320040"/>
          </a:xfrm>
          <a:prstGeom prst="rect">
            <a:avLst/>
          </a:prstGeom>
          <a:noFill/>
        </p:spPr>
        <p:txBody>
          <a:bodyPr wrap="square" lIns="36576" tIns="36576" rIns="36576" bIns="36576">
            <a:spAutoFit/>
          </a:bodyPr>
          <a:lstStyle/>
          <a:p>
            <a:pPr algn="l"/>
            <a:r>
              <a:rPr sz="1300" b="1">
                <a:solidFill>
                  <a:srgbClr val="7BE0AD"/>
                </a:solidFill>
                <a:latin typeface="Noto Sans CJK KR"/>
              </a:rPr>
              <a:t>완료 조건: 채점 점수 + 서술형 + 완료 화면</a:t>
            </a:r>
          </a:p>
        </p:txBody>
      </p:sp>
      <p:sp>
        <p:nvSpPr>
          <p:cNvPr id="21" name="TextBox 20"/>
          <p:cNvSpPr txBox="1"/>
          <p:nvPr/>
        </p:nvSpPr>
        <p:spPr>
          <a:xfrm>
            <a:off x="8732520" y="6556248"/>
            <a:ext cx="2194560" cy="164592"/>
          </a:xfrm>
          <a:prstGeom prst="rect">
            <a:avLst/>
          </a:prstGeom>
          <a:noFill/>
        </p:spPr>
        <p:txBody>
          <a:bodyPr wrap="square" lIns="0" tIns="0" rIns="0" bIns="0">
            <a:spAutoFit/>
          </a:bodyPr>
          <a:lstStyle/>
          <a:p>
            <a:pPr algn="r"/>
            <a:r>
              <a:rPr sz="740" b="0">
                <a:solidFill>
                  <a:srgbClr val="A8B9DE"/>
                </a:solidFill>
                <a:latin typeface="Noto Sans CJK KR"/>
              </a:rPr>
              <a:t>CH 04 · ACTION · WORKSHEET</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36">
    <p:bg>
      <p:bgPr>
        <a:solidFill>
          <a:srgbClr val="1E2761"/>
        </a:solidFill>
        <a:effectLst/>
      </p:bgPr>
    </p:bg>
    <p:spTree>
      <p:nvGrpSpPr>
        <p:cNvPr id="1" name=""/>
        <p:cNvGrpSpPr/>
        <p:nvPr/>
      </p:nvGrpSpPr>
      <p:grpSpPr>
        <a:xfrm>
          <a:off x="0" y="0"/>
          <a:ext cx="0" cy="0"/>
          <a:chOff x="0" y="0"/>
          <a:chExt cx="0" cy="0"/>
        </a:xfrm>
      </p:grpSpPr>
      <p:sp>
        <p:nvSpPr>
          <p:cNvPr id="2" name="Text 0"/>
          <p:cNvSpPr/>
          <p:nvPr/>
        </p:nvSpPr>
        <p:spPr>
          <a:xfrm>
            <a:off x="438912" y="246888"/>
            <a:ext cx="4206240" cy="219456"/>
          </a:xfrm>
          <a:prstGeom prst="rect">
            <a:avLst/>
          </a:prstGeom>
          <a:noFill/>
          <a:ln/>
        </p:spPr>
        <p:txBody>
          <a:bodyPr wrap="square" lIns="0" tIns="0" rIns="0" bIns="0" rtlCol="0" anchor="ctr"/>
          <a:lstStyle/>
          <a:p>
            <a:pPr marL="0" indent="0">
              <a:buNone/>
            </a:pPr>
            <a:r>
              <a:rPr lang="en-US" sz="1000" b="1" kern="0" spc="50" dirty="0">
                <a:solidFill>
                  <a:srgbClr val="5EC8FF"/>
                </a:solidFill>
                <a:latin typeface="Noto Sans CJK KR" pitchFamily="34" charset="0"/>
                <a:ea typeface="Noto Sans CJK KR" pitchFamily="34" charset="-122"/>
                <a:cs typeface="Noto Sans CJK KR" pitchFamily="34" charset="-120"/>
              </a:rPr>
              <a:t>CH 04 · WORKSHEET</a:t>
            </a:r>
            <a:endParaRPr lang="en-US" sz="1000" dirty="0"/>
          </a:p>
        </p:txBody>
      </p:sp>
      <p:sp>
        <p:nvSpPr>
          <p:cNvPr id="3" name="Text 1"/>
          <p:cNvSpPr/>
          <p:nvPr/>
        </p:nvSpPr>
        <p:spPr>
          <a:xfrm>
            <a:off x="438912" y="566928"/>
            <a:ext cx="11064240" cy="457200"/>
          </a:xfrm>
          <a:prstGeom prst="rect">
            <a:avLst/>
          </a:prstGeom>
          <a:noFill/>
          <a:ln/>
        </p:spPr>
        <p:txBody>
          <a:bodyPr wrap="square" lIns="0" tIns="0" rIns="0" bIns="0" rtlCol="0" anchor="ctr">
            <a:normAutofit/>
          </a:bodyPr>
          <a:lstStyle/>
          <a:p>
            <a:pPr marL="0" indent="0">
              <a:buNone/>
            </a:pPr>
            <a:r>
              <a:rPr lang="en-US" sz="2800" b="1" dirty="0">
                <a:solidFill>
                  <a:srgbClr val="FFFFFF"/>
                </a:solidFill>
                <a:latin typeface="Noto Sans CJK KR" pitchFamily="34" charset="0"/>
                <a:ea typeface="Noto Sans CJK KR" pitchFamily="34" charset="-122"/>
                <a:cs typeface="Noto Sans CJK KR" pitchFamily="34" charset="-120"/>
              </a:rPr>
              <a:t>디지털 워크시트 · Chapter 04 실력 검증</a:t>
            </a:r>
            <a:endParaRPr lang="en-US" sz="2800" dirty="0"/>
          </a:p>
        </p:txBody>
      </p:sp>
      <p:sp>
        <p:nvSpPr>
          <p:cNvPr id="4" name="Shape 2"/>
          <p:cNvSpPr/>
          <p:nvPr/>
        </p:nvSpPr>
        <p:spPr>
          <a:xfrm>
            <a:off x="621792" y="1325880"/>
            <a:ext cx="4617720" cy="4526280"/>
          </a:xfrm>
          <a:prstGeom prst="roundRect">
            <a:avLst>
              <a:gd name="adj" fmla="val 1616"/>
            </a:avLst>
          </a:prstGeom>
          <a:solidFill>
            <a:srgbClr val="2A3578"/>
          </a:solidFill>
          <a:ln w="15240">
            <a:solidFill>
              <a:srgbClr val="FFC24B"/>
            </a:solidFill>
            <a:prstDash val="solid"/>
          </a:ln>
        </p:spPr>
        <p:txBody>
          <a:bodyPr/>
          <a:lstStyle/>
          <a:p>
            <a:endParaRPr/>
          </a:p>
        </p:txBody>
      </p:sp>
      <p:sp>
        <p:nvSpPr>
          <p:cNvPr id="5" name="Text 3"/>
          <p:cNvSpPr/>
          <p:nvPr/>
        </p:nvSpPr>
        <p:spPr>
          <a:xfrm>
            <a:off x="914400" y="1627632"/>
            <a:ext cx="1371600" cy="292608"/>
          </a:xfrm>
          <a:prstGeom prst="rect">
            <a:avLst/>
          </a:prstGeom>
          <a:noFill/>
          <a:ln/>
        </p:spPr>
        <p:txBody>
          <a:bodyPr wrap="square" lIns="0" tIns="0" rIns="0" bIns="0" rtlCol="0" anchor="ctr"/>
          <a:lstStyle/>
          <a:p>
            <a:pPr marL="0" indent="0">
              <a:buNone/>
            </a:pPr>
            <a:r>
              <a:rPr lang="en-US" sz="1600" b="1" dirty="0">
                <a:solidFill>
                  <a:srgbClr val="FFC24B"/>
                </a:solidFill>
                <a:latin typeface="Noto Sans CJK KR" pitchFamily="34" charset="0"/>
                <a:ea typeface="Noto Sans CJK KR" pitchFamily="34" charset="-122"/>
                <a:cs typeface="Noto Sans CJK KR" pitchFamily="34" charset="-120"/>
              </a:rPr>
              <a:t>진행 규칙</a:t>
            </a:r>
            <a:endParaRPr lang="en-US" sz="1600" dirty="0"/>
          </a:p>
        </p:txBody>
      </p:sp>
      <p:sp>
        <p:nvSpPr>
          <p:cNvPr id="6" name="Text 4"/>
          <p:cNvSpPr/>
          <p:nvPr/>
        </p:nvSpPr>
        <p:spPr>
          <a:xfrm>
            <a:off x="914400" y="2084832"/>
            <a:ext cx="3977640" cy="23317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예측/판단 문제를 먼저 작성</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「채점하기」로 예측 칸 잠금</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틀린 칸의 정답을 보고 원인 확인</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4. HTML 시뮬레이터에서 다시 검산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5. 마지막 한 줄 설명을 자신의 언어로 작성</a:t>
            </a:r>
            <a:endParaRPr lang="en-US" sz="1400" dirty="0"/>
          </a:p>
        </p:txBody>
      </p:sp>
      <p:sp>
        <p:nvSpPr>
          <p:cNvPr id="7" name="Text 5"/>
          <p:cNvSpPr/>
          <p:nvPr/>
        </p:nvSpPr>
        <p:spPr>
          <a:xfrm>
            <a:off x="932688" y="4800600"/>
            <a:ext cx="3886200" cy="502920"/>
          </a:xfrm>
          <a:prstGeom prst="rect">
            <a:avLst/>
          </a:prstGeom>
          <a:noFill/>
          <a:ln/>
        </p:spPr>
        <p:txBody>
          <a:bodyPr wrap="square" lIns="0" tIns="0" rIns="0" bIns="0" rtlCol="0" anchor="ctr">
            <a:normAutofit/>
          </a:bodyPr>
          <a:lstStyle/>
          <a:p>
            <a:pPr marL="0" indent="0" algn="ctr">
              <a:buNone/>
            </a:pPr>
            <a:r>
              <a:rPr lang="en-US" sz="1620" b="1" dirty="0">
                <a:solidFill>
                  <a:srgbClr val="7BE0AD"/>
                </a:solidFill>
                <a:latin typeface="Noto Sans CJK KR" pitchFamily="34" charset="0"/>
                <a:ea typeface="Noto Sans CJK KR" pitchFamily="34" charset="-122"/>
                <a:cs typeface="Noto Sans CJK KR" pitchFamily="34" charset="-120"/>
              </a:rPr>
              <a:t>틀린 예측 = 감점이 아니라 학습 증거</a:t>
            </a:r>
            <a:endParaRPr lang="en-US" sz="1620" dirty="0"/>
          </a:p>
        </p:txBody>
      </p:sp>
      <p:sp>
        <p:nvSpPr>
          <p:cNvPr id="8" name="Shape 6"/>
          <p:cNvSpPr/>
          <p:nvPr/>
        </p:nvSpPr>
        <p:spPr>
          <a:xfrm>
            <a:off x="5532120" y="1325880"/>
            <a:ext cx="6035040" cy="4526280"/>
          </a:xfrm>
          <a:prstGeom prst="roundRect">
            <a:avLst>
              <a:gd name="adj" fmla="val 1616"/>
            </a:avLst>
          </a:prstGeom>
          <a:solidFill>
            <a:srgbClr val="0B1230"/>
          </a:solidFill>
          <a:ln w="13970">
            <a:solidFill>
              <a:srgbClr val="36429A"/>
            </a:solidFill>
            <a:prstDash val="solid"/>
          </a:ln>
        </p:spPr>
        <p:txBody>
          <a:bodyPr/>
          <a:lstStyle/>
          <a:p>
            <a:endParaRPr/>
          </a:p>
        </p:txBody>
      </p:sp>
      <p:sp>
        <p:nvSpPr>
          <p:cNvPr id="9" name="Text 7"/>
          <p:cNvSpPr/>
          <p:nvPr/>
        </p:nvSpPr>
        <p:spPr>
          <a:xfrm>
            <a:off x="5833872" y="1627632"/>
            <a:ext cx="1828800" cy="292608"/>
          </a:xfrm>
          <a:prstGeom prst="rect">
            <a:avLst/>
          </a:prstGeom>
          <a:noFill/>
          <a:ln/>
        </p:spPr>
        <p:txBody>
          <a:bodyPr wrap="square" lIns="0" tIns="0" rIns="0" bIns="0" rtlCol="0" anchor="ctr"/>
          <a:lstStyle/>
          <a:p>
            <a:pPr marL="0" indent="0">
              <a:buNone/>
            </a:pPr>
            <a:r>
              <a:rPr lang="en-US" sz="1600" b="1" dirty="0">
                <a:solidFill>
                  <a:srgbClr val="FFFFFF"/>
                </a:solidFill>
                <a:latin typeface="Noto Sans CJK KR" pitchFamily="34" charset="0"/>
                <a:ea typeface="Noto Sans CJK KR" pitchFamily="34" charset="-122"/>
                <a:cs typeface="Noto Sans CJK KR" pitchFamily="34" charset="-120"/>
              </a:rPr>
              <a:t>오늘의 검증 과제</a:t>
            </a:r>
            <a:endParaRPr lang="en-US" sz="1600" dirty="0"/>
          </a:p>
        </p:txBody>
      </p:sp>
      <p:sp>
        <p:nvSpPr>
          <p:cNvPr id="10" name="Text 8"/>
          <p:cNvSpPr/>
          <p:nvPr/>
        </p:nvSpPr>
        <p:spPr>
          <a:xfrm>
            <a:off x="5852160" y="2084832"/>
            <a:ext cx="5349240" cy="1417320"/>
          </a:xfrm>
          <a:prstGeom prst="rect">
            <a:avLst/>
          </a:prstGeom>
          <a:noFill/>
          <a:ln/>
        </p:spPr>
        <p:txBody>
          <a:bodyPr wrap="square" lIns="508" tIns="508" rIns="508" bIns="508" rtlCol="0" anchor="ctr">
            <a:normAutofit/>
          </a:bodyPr>
          <a:lstStyle/>
          <a:p>
            <a:pPr marL="0" indent="0">
              <a:buNone/>
            </a:pPr>
            <a:r>
              <a:rPr lang="en-US" sz="1400" dirty="0">
                <a:solidFill>
                  <a:srgbClr val="CADCFC"/>
                </a:solidFill>
                <a:latin typeface="Noto Sans CJK KR" pitchFamily="34" charset="0"/>
                <a:ea typeface="Noto Sans CJK KR" pitchFamily="34" charset="-122"/>
                <a:cs typeface="Noto Sans CJK KR" pitchFamily="34" charset="-120"/>
              </a:rPr>
              <a:t>1. SJF 실행 순서 직접 계산</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2. RR Quantum 변화에 따른 장단점 서술</a:t>
            </a:r>
            <a:endParaRPr lang="en-US" sz="1400" dirty="0"/>
          </a:p>
          <a:p>
            <a:pPr marL="0" indent="0">
              <a:buNone/>
            </a:pPr>
            <a:r>
              <a:rPr lang="en-US" sz="1400" dirty="0">
                <a:solidFill>
                  <a:srgbClr val="CADCFC"/>
                </a:solidFill>
                <a:latin typeface="Noto Sans CJK KR" pitchFamily="34" charset="0"/>
                <a:ea typeface="Noto Sans CJK KR" pitchFamily="34" charset="-122"/>
                <a:cs typeface="Noto Sans CJK KR" pitchFamily="34" charset="-120"/>
              </a:rPr>
              <a:t>3. CPU 100% 상황에서 어떤 프로세스를 먼저 확인할지 진단 순서 작성</a:t>
            </a:r>
            <a:endParaRPr lang="en-US" sz="1400" dirty="0"/>
          </a:p>
        </p:txBody>
      </p:sp>
      <p:sp>
        <p:nvSpPr>
          <p:cNvPr id="11" name="Text 9"/>
          <p:cNvSpPr/>
          <p:nvPr/>
        </p:nvSpPr>
        <p:spPr>
          <a:xfrm>
            <a:off x="5852160" y="3822192"/>
            <a:ext cx="1188720" cy="274320"/>
          </a:xfrm>
          <a:prstGeom prst="rect">
            <a:avLst/>
          </a:prstGeom>
          <a:noFill/>
          <a:ln/>
        </p:spPr>
        <p:txBody>
          <a:bodyPr wrap="square" lIns="0" tIns="0" rIns="0" bIns="0" rtlCol="0" anchor="ctr"/>
          <a:lstStyle/>
          <a:p>
            <a:pPr marL="0" indent="0">
              <a:buNone/>
            </a:pPr>
            <a:r>
              <a:rPr lang="en-US" sz="1400" b="1" dirty="0">
                <a:solidFill>
                  <a:srgbClr val="5EC8FF"/>
                </a:solidFill>
                <a:latin typeface="Noto Sans CJK KR" pitchFamily="34" charset="0"/>
                <a:ea typeface="Noto Sans CJK KR" pitchFamily="34" charset="-122"/>
                <a:cs typeface="Noto Sans CJK KR" pitchFamily="34" charset="-120"/>
              </a:rPr>
              <a:t>체크 질문</a:t>
            </a:r>
            <a:endParaRPr lang="en-US" sz="1400" dirty="0"/>
          </a:p>
        </p:txBody>
      </p:sp>
      <p:sp>
        <p:nvSpPr>
          <p:cNvPr id="12" name="Text 10"/>
          <p:cNvSpPr/>
          <p:nvPr/>
        </p:nvSpPr>
        <p:spPr>
          <a:xfrm>
            <a:off x="5870448" y="4187952"/>
            <a:ext cx="5166360" cy="960120"/>
          </a:xfrm>
          <a:prstGeom prst="rect">
            <a:avLst/>
          </a:prstGeom>
          <a:noFill/>
          <a:ln/>
        </p:spPr>
        <p:txBody>
          <a:bodyPr wrap="square" lIns="127" tIns="127" rIns="127" bIns="127" rtlCol="0" anchor="ctr">
            <a:normAutofit/>
          </a:bodyPr>
          <a:lstStyle/>
          <a:p>
            <a:pPr marL="0" indent="0">
              <a:buNone/>
            </a:pPr>
            <a:r>
              <a:rPr lang="en-US" sz="1250" dirty="0">
                <a:solidFill>
                  <a:srgbClr val="CADCFC"/>
                </a:solidFill>
                <a:latin typeface="Noto Sans CJK KR" pitchFamily="34" charset="0"/>
                <a:ea typeface="Noto Sans CJK KR" pitchFamily="34" charset="-122"/>
                <a:cs typeface="Noto Sans CJK KR" pitchFamily="34" charset="-120"/>
              </a:rPr>
              <a:t>• SJF가 평균 대기시간에 유리한 이유는?</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Priority Scheduling의 Starvation은 어떻게 완화할 수 있을까?</a:t>
            </a:r>
            <a:endParaRPr lang="en-US" sz="1250" dirty="0"/>
          </a:p>
          <a:p>
            <a:pPr marL="0" indent="0">
              <a:buNone/>
            </a:pPr>
            <a:r>
              <a:rPr lang="en-US" sz="1250" dirty="0">
                <a:solidFill>
                  <a:srgbClr val="CADCFC"/>
                </a:solidFill>
                <a:latin typeface="Noto Sans CJK KR" pitchFamily="34" charset="0"/>
                <a:ea typeface="Noto Sans CJK KR" pitchFamily="34" charset="-122"/>
                <a:cs typeface="Noto Sans CJK KR" pitchFamily="34" charset="-120"/>
              </a:rPr>
              <a:t>• Context Switch는 왜 공짜가 아닌가?</a:t>
            </a:r>
            <a:endParaRPr lang="en-US" sz="1250" dirty="0"/>
          </a:p>
        </p:txBody>
      </p:sp>
      <p:sp>
        <p:nvSpPr>
          <p:cNvPr id="13" name="Text 11"/>
          <p:cNvSpPr/>
          <p:nvPr/>
        </p:nvSpPr>
        <p:spPr>
          <a:xfrm>
            <a:off x="5870448" y="5285232"/>
            <a:ext cx="5074920" cy="274320"/>
          </a:xfrm>
          <a:prstGeom prst="rect">
            <a:avLst/>
          </a:prstGeom>
          <a:noFill/>
          <a:ln/>
        </p:spPr>
        <p:txBody>
          <a:bodyPr wrap="square" lIns="0" tIns="0" rIns="0" bIns="0" rtlCol="0" anchor="ctr"/>
          <a:lstStyle/>
          <a:p>
            <a:pPr marL="0" indent="0">
              <a:buNone/>
            </a:pPr>
            <a:r>
              <a:rPr lang="en-US" sz="1050" dirty="0">
                <a:solidFill>
                  <a:srgbClr val="FFC24B"/>
                </a:solidFill>
                <a:latin typeface="Consolas" pitchFamily="34" charset="0"/>
                <a:ea typeface="Consolas" pitchFamily="34" charset="-122"/>
                <a:cs typeface="Consolas" pitchFamily="34" charset="-120"/>
              </a:rPr>
              <a:t>파일: os_24h_digital_worksheet.html</a:t>
            </a:r>
            <a:endParaRPr lang="en-US" sz="1050" dirty="0"/>
          </a:p>
        </p:txBody>
      </p:sp>
      <p:sp>
        <p:nvSpPr>
          <p:cNvPr id="14" name="Text 12"/>
          <p:cNvSpPr/>
          <p:nvPr/>
        </p:nvSpPr>
        <p:spPr>
          <a:xfrm>
            <a:off x="8686800" y="6565392"/>
            <a:ext cx="2377440" cy="164592"/>
          </a:xfrm>
          <a:prstGeom prst="rect">
            <a:avLst/>
          </a:prstGeom>
          <a:noFill/>
          <a:ln/>
        </p:spPr>
        <p:txBody>
          <a:bodyPr wrap="square" lIns="0" tIns="0" rIns="0" bIns="0" rtlCol="0" anchor="ctr"/>
          <a:lstStyle/>
          <a:p>
            <a:pPr marL="0" indent="0" algn="r">
              <a:buNone/>
            </a:pPr>
            <a:r>
              <a:rPr lang="en-US" sz="750" dirty="0">
                <a:solidFill>
                  <a:srgbClr val="A8B9DE"/>
                </a:solidFill>
                <a:latin typeface="Noto Sans CJK KR" pitchFamily="34" charset="0"/>
                <a:ea typeface="Noto Sans CJK KR" pitchFamily="34" charset="-122"/>
                <a:cs typeface="Noto Sans CJK KR" pitchFamily="34" charset="-120"/>
              </a:rPr>
              <a:t>CH 04 · 평가</a:t>
            </a:r>
            <a:endParaRPr lang="en-US" sz="750" dirty="0"/>
          </a:p>
        </p:txBody>
      </p:sp>
      <p:sp>
        <p:nvSpPr>
          <p:cNvPr id="25" name="Slide Number Placeholder 0"/>
          <p:cNvSpPr>
            <a:spLocks noGrp="1"/>
          </p:cNvSpPr>
          <p:nvPr>
            <p:ph type="sldNum" sz="quarter" idx="4294967295"/>
          </p:nvPr>
        </p:nvSpPr>
        <p:spPr>
          <a:xfrm>
            <a:off x="11201400" y="6556248"/>
            <a:ext cx="594360"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20">
                <a:solidFill>
                  <a:srgbClr val="CADCFC"/>
                </a:solidFill>
                <a:latin typeface="Noto Sans CJK KR"/>
                <a:ea typeface="Noto Sans CJK KR"/>
                <a:cs typeface="Noto Sans CJK KR"/>
              </a:defRPr>
            </a:lvl1pPr>
          </a:lstStyle>
          <a:p>
            <a:pPr algn="r"/>
            <a:fld id="{F7021451-1387-4CA6-816F-3879F97B5CBC}" type="slidenum">
              <a:rPr lang="en-US" b="0"/>
              <a:t>73</a:t>
            </a:fld>
            <a:endParaRPr lang="en-US"/>
          </a:p>
        </p:txBody>
      </p:sp>
      <p:sp>
        <p:nvSpPr>
          <p:cNvPr id="26" name="Rounded Rectangle 25"/>
          <p:cNvSpPr/>
          <p:nvPr/>
        </p:nvSpPr>
        <p:spPr>
          <a:xfrm>
            <a:off x="8641080" y="210312"/>
            <a:ext cx="3090672" cy="384048"/>
          </a:xfrm>
          <a:prstGeom prst="roundRect">
            <a:avLst/>
          </a:prstGeom>
          <a:solidFill>
            <a:srgbClr val="7BE0AD"/>
          </a:solidFill>
          <a:ln>
            <a:solidFill>
              <a:srgbClr val="7BE0AD"/>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50" b="1">
                <a:solidFill>
                  <a:srgbClr val="0B1230"/>
                </a:solidFill>
                <a:latin typeface="Noto Sans CJK KR"/>
              </a:rPr>
              <a:t>✍ 지금 WORKSHEET 수행</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Noto Sans CJK KR"/>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Noto Sans CJK KR"/>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19461</Words>
  <Application>Microsoft Office PowerPoint</Application>
  <PresentationFormat>와이드스크린</PresentationFormat>
  <Paragraphs>2171</Paragraphs>
  <Slides>73</Slides>
  <Notes>73</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73</vt:i4>
      </vt:variant>
    </vt:vector>
  </HeadingPairs>
  <TitlesOfParts>
    <vt:vector size="78" baseType="lpstr">
      <vt:lpstr>Noto Sans CJK KR</vt:lpstr>
      <vt:lpstr>Arial</vt:lpstr>
      <vt:lpstr>Consolas</vt:lpstr>
      <vt:lpstr>Segoe UI Emoji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디지털노마드연구소</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운영체제 활용 24H 전체 강의 - 강사 스크립트 포함</dc:title>
  <dc:subject>운영체제 활용 24H 전체 강의</dc:subject>
  <dc:creator>디지털노마드연구소</dc:creator>
  <cp:lastModifiedBy>디지털노마드연구소</cp:lastModifiedBy>
  <cp:revision>4</cp:revision>
  <dcterms:created xsi:type="dcterms:W3CDTF">2026-08-27T00:58:45Z</dcterms:created>
  <dcterms:modified xsi:type="dcterms:W3CDTF">2026-08-27T23:05:28Z</dcterms:modified>
</cp:coreProperties>
</file>