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시작. 오늘은 어제 배운 명령 한 줄의 '뒤편'으로 들어갑니다. 링크 두 개(도구 index, 워크시트)를 지금 열어 두게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친 ls가 오늘의 주인공. '겉'에서 '속'으로 시점 전환을 선언합니다.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리듬 안내: 매 세션 같은 리듬(도착점→도구→워크시트→확인)으로 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도착점 낭독 후 예측 질문 하나: '수백 개 프로세스, 대부분 뭘 하고 있을까?' 답은 도구에서.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장부 비유 고정: 프로세스는 '몸(Memory)+장부 한 줄'. 상태 대부분이 S라는 사실로 반전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'성적표' 비유가 오늘 하루를 관통합니다(S3 wait에서 재등장). systemd 입양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링크는 버튼으로. 워크시트도 버튼으로 바로 열립니다. 30초 짝 설명으로 마감.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예측 질문이 이 세션의 낚싯바늘입니다. 답을 말하지 말고 도구로.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'한 번 호출, 두 번 return'의 정체 = 복제 후 둘 다 같은 지점에서 깨어나기 때문.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x=10 실험은 워크시트 2-3과 동일. COW는 심화 카드 — 도구 시나리오 심화편에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레지스터 '한 칸' 찾기가 핵심 관찰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'변신'이지 '새 프로세스'가 아님 — PID 유지가 그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S1의 '성적표' 복선 회수. 3박자는 S8 종합의 뼈대이므로 여기서 입에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goodness 공식은 워크시트 4-2. '늘수록 느려지는 OS'가 다음 슬라이드의 동기.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1,000 vs 2 대조가 이 세션의 한 컷. 도구에서 카운터로 직접 확인시킵니다.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nice=시계 속도 비유 고정. '규칙 하나에서 전부 유도'가 CFS의 미학.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심화 선택 슬라이드 — 시간 없으면 도구 링크만 안내하고 통과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XOR 공식은 워크시트 6-2. '왜 2의 거듭제곱인가'의 답이 XOR 한 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1순위 규칙이 워크시트 6-5. empty 반납이 buddy로의 귀환.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1024 산수는 워크시트 7-2. 'CR3가 다르면 같은 주소도 남남' 다음 슬라이드로.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#PF는 '정상 절차', SIGSEGV는 '사고' — 이 구분이 워크시트 7-4의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chance가 워크시트 7-5. VMA 도구의 SIGSEGV 화면 만들기가 실습 체크.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5개 — 시간 배분 주의. 심화는 선택.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그림을 띄워 둔 채 워크시트 S8을 풀게 합니다. 답 공개는 짝 설명 후에.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채널은 [강사 확정] — 확정 후 이 슬라이드에 기입.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3일 도착점(Script) 상기. 오늘의 여섯 단계가 내일의 재료임을 예고하며 종료.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index.html" TargetMode="External"/><Relationship Id="rId2" Type="http://schemas.openxmlformats.org/officeDocument/2006/relationships/hyperlink" Target="https://devops0906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linux_process_lifecycle.html" TargetMode="External"/><Relationship Id="rId2" Type="http://schemas.openxmlformats.org/officeDocument/2006/relationships/hyperlink" Target="https://devops0906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fork_cpu_memory.html" TargetMode="External"/><Relationship Id="rId2" Type="http://schemas.openxmlformats.org/officeDocument/2006/relationships/hyperlink" Target="https://devops0906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execve_cpu_memory.html" TargetMode="External"/><Relationship Id="rId2" Type="http://schemas.openxmlformats.org/officeDocument/2006/relationships/hyperlink" Target="https://devops0906.github.io/AI_CAMPUS/os-day2/anim/wait_internals.html" TargetMode="External"/><Relationship Id="rId3" Type="http://schemas.openxmlformats.org/officeDocument/2006/relationships/hyperlink" Target="https://devops0906.github.io/AI_CAMPUS/os-day2/anim/worksheet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linux_on_scheduler.html" TargetMode="External"/><Relationship Id="rId2" Type="http://schemas.openxmlformats.org/officeDocument/2006/relationships/hyperlink" Target="https://devops0906.github.io/AI_CAMPUS/os-day2/anim/linux_o1_scheduler.html" TargetMode="External"/><Relationship Id="rId3" Type="http://schemas.openxmlformats.org/officeDocument/2006/relationships/hyperlink" Target="https://devops0906.github.io/AI_CAMPUS/os-day2/anim/worksheet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linux_cfs_scheduler.html" TargetMode="External"/><Relationship Id="rId2" Type="http://schemas.openxmlformats.org/officeDocument/2006/relationships/hyperlink" Target="https://devops0906.github.io/AI_CAMPUS/os-day2/anim/rb_tree_insert_delete.html" TargetMode="External"/><Relationship Id="rId3" Type="http://schemas.openxmlformats.org/officeDocument/2006/relationships/hyperlink" Target="https://devops0906.github.io/AI_CAMPUS/os-day2/anim/worksheet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buddy_system.html" TargetMode="External"/><Relationship Id="rId2" Type="http://schemas.openxmlformats.org/officeDocument/2006/relationships/hyperlink" Target="https://devops0906.github.io/AI_CAMPUS/os-day2/anim/buddy_alloc_free.html" TargetMode="External"/><Relationship Id="rId3" Type="http://schemas.openxmlformats.org/officeDocument/2006/relationships/hyperlink" Target="https://devops0906.github.io/AI_CAMPUS/os-day2/anim/slab_allocator.html" TargetMode="External"/><Relationship Id="rId4" Type="http://schemas.openxmlformats.org/officeDocument/2006/relationships/hyperlink" Target="https://devops0906.github.io/AI_CAMPUS/os-day2/anim/worksheet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x86_2level_pgd_pte.html" TargetMode="External"/><Relationship Id="rId2" Type="http://schemas.openxmlformats.org/officeDocument/2006/relationships/hyperlink" Target="https://devops0906.github.io/AI_CAMPUS/os-day2/anim/x86_paging_map.html" TargetMode="External"/><Relationship Id="rId3" Type="http://schemas.openxmlformats.org/officeDocument/2006/relationships/hyperlink" Target="https://devops0906.github.io/AI_CAMPUS/os-day2/anim/vma_interval_tree.html" TargetMode="External"/><Relationship Id="rId4" Type="http://schemas.openxmlformats.org/officeDocument/2006/relationships/hyperlink" Target="https://devops0906.github.io/AI_CAMPUS/os-day2/anim/linux_lru.html" TargetMode="External"/><Relationship Id="rId5" Type="http://schemas.openxmlformats.org/officeDocument/2006/relationships/hyperlink" Target="https://devops0906.github.io/AI_CAMPUS/os-day2/anim/interval_tree_ops.html" TargetMode="External"/><Relationship Id="rId6" Type="http://schemas.openxmlformats.org/officeDocument/2006/relationships/hyperlink" Target="https://devops0906.github.io/AI_CAMPUS/os-day2/anim/worksheet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devops0906.github.io/AI_CAMPUS/os-day2/anim/index.html" TargetMode="External"/><Relationship Id="rId2" Type="http://schemas.openxmlformats.org/officeDocument/2006/relationships/hyperlink" Target="https://devops0906.github.io/AI_CAMPUS/os-day2/anim/work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운영체제 활용 · Day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프로세스와 자원의 하루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ls ⏎ — 그 한 줄 뒤에서 벌어지는 모든 일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10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</a:rPr>
              <a:t>오늘의 도착점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033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명령 한 줄이  fork → execve → 스케줄러 → 주소 변환 → wait 로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처리되는 전 과정을 빈칸 없이 이어 말한다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>
            <a:hlinkClick r:id="rId1" tooltip="https://devops0906.github.io/AI_CAMPUS/os-day2/anim/index.html"/>
          </p:cNvPr>
          <p:cNvSpPr txBox="1"/>
          <p:nvPr/>
        </p:nvSpPr>
        <p:spPr>
          <a:xfrm>
            <a:off x="548640" y="51206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index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5120640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1" name="Text 9">
            <a:hlinkClick r:id="rId2" tooltip="https://devops0906.github.io/AI_CAMPUS/os-day2/anim/worksheet.html"/>
          </p:cNvPr>
          <p:cNvSpPr txBox="1"/>
          <p:nvPr/>
        </p:nvSpPr>
        <p:spPr>
          <a:xfrm>
            <a:off x="4937760" y="51206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8"/>
                </a:solidFill>
              </a:rPr>
              <a:t>모든 도구·워크시트: devops0906.github.io/AI_CAMPUS/os-day2/anim/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오프닝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복습 다리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어제의 마지막 화면에서 오늘이 시작됩니다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1 — 우리가 본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File System — 모든 것은 파일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GUI와 CLI는 같은 OS의 두 얼굴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Terminal에서 명령을 직접 실행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ls, cd, cat … 명령의 '겉모습'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Day 2 — 오늘 열어볼 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그 명령은 '누가' 실행하는가 → Process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CPU 차례는 누가 정하나 → 스케줄러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Memory는 누가 나눠 주나 → buddy·paging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끝난 명령은 누가 거두나 → wait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오프닝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오늘의 지도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여덟 세션 — 마지막 S8에서 전부 한 번씩 다시 만납니다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S1  프로세스의 일생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R·S·Z, 좀비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530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S2  fork()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복사기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S3  execve()·wait()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변신과 회수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9933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S4  O(n)→O(1)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3591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CPU 나누기 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S5  CFS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CPU 나누기 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7530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S6  buddy·slab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7530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Memory 배급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422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S7  가상 메모리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1508F"/>
                </a:solidFill>
              </a:rPr>
              <a:t>지도·문지기·회수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53144" y="359359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00"/>
                </a:solidFill>
              </a:rPr>
              <a:t>S8  종합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53144" y="3959352"/>
            <a:ext cx="2130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7A20"/>
                </a:solidFill>
              </a:rPr>
              <a:t>명령 한 줄의 여행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B8"/>
                </a:solidFill>
              </a:rPr>
              <a:t>각 세션 = 도착점 → 애니메이션으로 관찰 → 워크시트에 답 → 확인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오프닝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S1 · 프로세스의 일생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ps 화면의 상태 글자 R·S·Z를 읽고,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좀비가 왜 「Memory가 아니라 표의 한 줄」인지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힌트 — 지금 이 순간에도 여러분 컴퓨터에는 수백 개의 프로세스가 있습니다. 대부분 무엇을 하고 있을까요?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프로세스 = 실행 중인 프로그램 + OS의 장부 한 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장부(프로세스 표)에 적히는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PID — 주민번호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PPID — 부모가 누구인가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상태 — R(실행/대기) · S(잠듦) · Z(좀비)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종료값 — 죽으며 남기는 숫자 한 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상태의 진실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대부분은 S — 일이 올 때까지 잠들어 있다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R은 '실행 중 + 실행하고 싶음'의 줄서기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Z는 죽었는데 표에서 안 지워진 상태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→ 왜 안 지울까? 가 다음 슬라이드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좀비 — 시체가 아니라, 아직 안 찾아간 성적표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exit(7) 이후에 남는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10588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Memory·CPU는 즉시 회수됩니다. 남는 것은 표 한 줄 — 「PID 1234, 종료값 7」.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부모가 wait()로 이 성적표를 찾아가야 표에서 지워집니다.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40965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부모가 안 찾아가면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48056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Z 상태로 표에 계속 남음 — 수천 개 쌓이면 표가 가득 찹니다.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40965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부모가 먼저 죽으면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48056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PID 1(systemd)이 입양해 대신 wait — 표를 청소합니다.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프로세스의 일생 — 직접 관찰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생명주기 도구의 시나리오 ①→③을 순서대로 재생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각 단계에서 다음 상태를 먼저 예측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S1의 답 3개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S1 완료 (상태 글자·좀비·PID 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linux_process_lifecycle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linux_process_lifecycl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프로세스 생명주기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worksheet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「좀비가 왜 표의 한 줄인지, 옆 사람에게 30초로 설명을 마친 조는 손 들어 주세요.」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S1 실습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S2 · fork()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fork()가 CPU와 Memory를 어떻게 복제하는지,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그리고 반환값 한 칸이 어떻게 부모/자식의 길을 가르는지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함수를 '한 번' 호출했는데 return이 '두 번' 일어날 수 있을까요?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fork() = 프로세스 복사기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복제되는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Memory 전체 — 코드·변수 그대로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CPU 레지스터 — PC(다음 실행 위치)까지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→ 자식도 fork '직후'부터 시작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파일 핸들 등 장부 대부분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딱 하나 다른 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fork()의 반환값이 담기는 레지스터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부모 ← 자식의 PID (예: 1234)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자식 ← 0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7A5A00"/>
                </a:solidFill>
              </a:rPr>
              <a:t>이 한 칸이 if(pid==0)의 갈림길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복제 이후는 남남 — 독립 Memory의 증명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실험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10588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1508F"/>
                </a:solidFill>
              </a:rPr>
              <a:t>fork 전에 x=10. 자식이 x=99로 바꾼다.  →  부모의 x는?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400507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답: 부모의 x = 10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389120"/>
            <a:ext cx="4919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복제된 순간부터 서로 다른 Memory — 한쪽의 수정이 넘어가지 않는다.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400507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A00"/>
                </a:solidFill>
              </a:rPr>
              <a:t>심화: Copy-on-Write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389120"/>
            <a:ext cx="4919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7A20"/>
                </a:solidFill>
              </a:rPr>
              <a:t>실제 Linux는 일단 같이 보다가, '쓰는 순간에만' 그 페이지를 복사한다.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fork() — 복사와 갈림길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fork 도구: 부모/자식 패널의 레지스터를 비교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x=99 실험으로 독립 Memory 확인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S2의 답 4개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S2 완료 (return 2회 · 자식 0 · x=10 · COW)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fork_cpu_memory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fork_cpu_memory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fork() 해부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worksheet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「부모·자식 패널에서 단 하나 다른 레지스터가 무엇이었는지, 조별로 한 단어로 외쳐 주세요.」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S2 실습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S3 · execve()와 wait()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Shell의 3박자 fork → execve → wait 를 완성하고,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「성공한 execve는 돌아오지 않는다」를 이유와 함께 말한다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execve("ls") 다음 줄에 print를 써 두면, 그 print는 실행될까요?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S3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execve() = 변신 — 철거, 적재, 그리고 PC 재설정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① Memory 철거 — 기존 코드·데이터 전부 삭제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953512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② 새 프로그램 적재 — ls의 코드가 들어옴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913632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③ PC를 새 프로그램의 첫 줄로 — 되돌아갈 주소가 없다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5010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그래서 다음 줄은 영원히 미실행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53492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(execve가 '실패'했을 때만 -1로 돌아온다)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84632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5664" y="5010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그래도 PID는 그대로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53492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1508F"/>
                </a:solidFill>
              </a:rPr>
              <a:t>몸은 바뀌어도 장부의 줄은 같은 줄 — 같은 프로세스.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S3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wait() = 회수 — 잠들었다, 성적표를 받고 깨어난다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흐름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부모 wait() → S로 잠듦 → 자식 exit(7) → 좀비(성적표 7) → OS가 부모를 깨움 → 성적표 회수, 표에서 삭제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이미 좀비가 있다면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wait는 잠들지 않고 즉시 성적표를 받아 온다.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A00"/>
                </a:solidFill>
              </a:rPr>
              <a:t>3박자 완성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7A20"/>
                </a:solidFill>
              </a:rPr>
              <a:t>bash:  fork(복제) → 자식 execve(변신) → 부모 wait(회수) → Prompt 복귀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Shell의 3박자 완성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execve 도구: 철거→적재→PC 재설정 관찰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wait 도구: 잠듦→좀비→회수, 고아 입양까지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S3의 답 5개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S3 완료 (3박자·PID 유지·성적표·systemd)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execve_cpu_memory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execve_cpu_memory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execve() 해부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wait_internals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wait_internal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wait() 해부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hlinkClick r:id="rId3" tooltip="https://devops0906.github.io/AI_CAMPUS/os-day2/anim/worksheet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「3박자를 손가락 세 개로 꼽으며 10초 안에 말해 보세요. 셋 다 나온 조는 손!」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S3 실습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S4 · CPU 나누기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「전부 훑기」의 비용을 숫자로 말하고, 비트맵과 배열 교체가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그 비용을 상수(연산 2회)로 만든 원리를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task가 1,000개면, 다음 차례 한 번 고르는 데 비교가 몇 번 필요할까요?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O(n) — 정직하지만 비싼 방법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동작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매번 모든 task를 훑는다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점수 goodness = counter + priority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최고 점수가 다음 주인공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epoch: 전원 소진 시 counter 재충전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DE7E7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62828"/>
                </a:solidFill>
              </a:rPr>
              <a:t>문제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task 1,000개 → 비교 1,000회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선택할 때마다, 매번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task가 늘수록 OS 자신이 느려짐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A3A"/>
                </a:solidFill>
              </a:rPr>
              <a:t>서버 시대에 치명적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O(1) — 훑지 않고 '계산'한다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두 가지 발명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① 우선순위 140줄 + 비트맵: 최고 우선순위 줄 찾기 = find-first-bit 1회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② active / expired 두 배열: 시간 다 쓴 task는 expired로 — 훑지 않는다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67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active가 텅 비면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51960"/>
            <a:ext cx="49194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포인터 두 개를 맞바꾸는 '한 번'의 교체 — 새 epoch 시작.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3D6"/>
          </a:solidFill>
          <a:ln w="12700">
            <a:solidFill>
              <a:srgbClr val="FFE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6791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A00"/>
                </a:solidFill>
              </a:rPr>
              <a:t>결과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51960"/>
            <a:ext cx="49194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7A20"/>
                </a:solidFill>
              </a:rPr>
              <a:t>task 1,000개여도 선택 연산 = 2회 (find-first-bit + 큐 머리 꺼내기)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O(n) vs O(1) — 카운터로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두 도구에서 task를 8개 이상으로 늘리기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'비교/연산 카운터'의 차이를 관찰·캡처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S4의 답 5개 채우기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S4 완료 + 카운터 비교 캡처(S8에서 사용)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linux_on_scheduler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linux_on_schedule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O(n) 스케줄러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linux_o1_scheduler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linux_o1_schedule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O(1) 스케줄러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hlinkClick r:id="rId3" tooltip="https://devops0906.github.io/AI_CAMPUS/os-day2/anim/worksheet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「자유 모드에서 task 8개 이상, 두 도구의 카운터 차이를 캡처해 둔 조는 손!」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S4 실습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S5 · CPU 나누기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「가장 적게 받은 사람이 다음 주자」 규칙 하나로 차례·우선순위·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반응성이 전부 따라 나오는 CFS의 구조를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O(1)도 빠른데 왜 갈아치웠을까요? '빠름' 말고 부족했던 것은?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S5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CFS — 시계 하나로 공평을 산다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vruntime 경주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task마다 '받은 시간' 시계 vruntime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다음 주자 = vruntime 최소(맨 왼쪽)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달리면 시계가 오르고, 뒤로 밀린다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규칙 끝. 나머지는 전부 따라 나온다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우선순위와 반응성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nice = 시계 '속도' — 중요하면 천천히 오름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→ 같은 실시간에 시계가 덜 올라 더 자주 뽑힘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잠꾸러기 기상 → min 근처로 보정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(과거 몰아받기 방지 + 즉시 반응)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S5 ·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맨 왼쪽을 빨리 찾는 나무 — 레드블랙 트리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왜 트리인가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vruntime 순으로 늘 정렬돼 있어야 하고, 삽입·삭제·최솟값이 전부 빨라야 한다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1508F"/>
                </a:solidFill>
              </a:rPr>
              <a:t>→ 스스로 균형 잡는 이진 탐색 트리(RB Tree), 모든 연산 O(log n)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균형의 도구 둘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색 바꾸기(싸다, 위로 미룸) + 회전(그 자리에서 해결)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규칙 맛보기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빨간 노드의 자식은 빨강일 수 없다 — 이 금지 하나가 기울기를 막는다.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CFS — 공평의 실감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CFS 도구: nice −5 task의 '받은 실시간 2배' 만들기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잠꾸러기 기상 보정 관찰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워크시트 S5의 답 5개 (심화 2문항 포함)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S5 완료 + 실시간 2배 화면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linux_cfs_scheduler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linux_cfs_schedule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CFS 스케줄러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rb_tree_insert_delete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rb_tree_insert_delet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심화: 레드블랙 트리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hlinkClick r:id="rId3" tooltip="https://devops0906.github.io/AI_CAMPUS/os-day2/anim/worksheet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「nice −5 task의 받은 실시간이 2배가 되는 화면을 만든 조는 손 들어 주세요.」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S5 실습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S6 · Memory 배급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쪼개서 주고(split) 짝 맞춰 합치는(merge) buddy와,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페이지를 재단해 파는 slab의 2층 협업을 설명한다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20K를 달라고 하면 OS는 정확히 20K를 줄까요?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S6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buddy — 반으로 쪼개고, XOR로 짝을 찾는다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할당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2의 거듭제곱 블록만 취급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20K 요청 → 32K 지급 (내부 단편화)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큰 블록을 반씩 쪼개 내려간다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free list가 크기별 재고 장부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해제와 병합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buddy 주소 = 내 주소 XOR 내 크기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계산 한 번 — 검색이 없다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buddy가 free면 병합, 또 그 위로 연쇄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반납 순서가 병합을 열고 닫는다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S6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slab — buddy의 도매 페이지를 소매로 재단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2층 구조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buddy(도매상): 4KB 페이지 단위로만 거래  /  slab(소매점): 페이지를 임대해 64B·128B… 물건으로 재단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진열대 셋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partial(부분 사용 — 새 할당 1순위) · full · empty(반납 후보)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효과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같은 크기 반복 할당·해제에서 낭비와 시간 모두 절약 — 커널 객체의 집.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buddy·slab — 배급 실습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buddy 해부: 20K→32K, XOR 짝 찾기 관찰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buddy 운용: 128K 통짜 복구(병합 3연쇄) 도전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slab: partial 1순위 확인 · 워크시트 S6 답 5개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S6 완료 + 128K 복구 화면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buddy_system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buddy_system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buddy 해부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buddy_alloc_free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buddy_alloc_fre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buddy 운용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hlinkClick r:id="rId3" tooltip="https://devops0906.github.io/AI_CAMPUS/os-day2/anim/slab_allocator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devops0906.github.io/AI_CAMPUS/os-day2/anim/slab_allocator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slab allocator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5">
            <a:hlinkClick r:id="rId4" tooltip="https://devops0906.github.io/AI_CAMPUS/os-day2/anim/worksheet.html"/>
          </p:cNvPr>
          <p:cNvSpPr txBox="1"/>
          <p:nvPr/>
        </p:nvSpPr>
        <p:spPr>
          <a:xfrm>
            <a:off x="54864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0840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「128K 통짜 복구(병합 3연쇄)를 만든 조는 화면을 들어 보여 주세요.」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S6 실습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가상 메모리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주소가 값이 아니라 「경로」임을 분해식으로 보이고, 유효하지 않은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주소와 모자란 RAM에 OS가 각각 어떻게 답하는지 말한다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예측 — 프로세스 A와 B가 '똑같은 주소'를 읽으면, 같은 데이터가 나올까요?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주소 = 경로 — 10 + 10 + 12의 산수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32bit 주소의 세 조각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[ PGD 인덱스 10bit ] [ PTE 인덱스 10bit ] [ offset 12bit 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= 큰 지도 몇 칸 · 작은 지도 몇 칸 · 페이지 안 몇 걸음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왜 하필 10bit?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표도 4KB 페이지 1장: 4KB ÷ 엔트리 4B = 1024칸 = 10bit. 산수다.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walk와 TLB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표 2장 걷기 = RAM 접근 2회 추가 → TLB(지름길 캐시)가 0회로.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격리와 사고 — CR3, Page Fault, SIGSEGV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같은 주소, 다른 세계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프로세스마다 자기 PGD (CR3가 지정)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같은 가상 주소 → 다른 물리 frame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06F"/>
                </a:solidFill>
              </a:rPr>
              <a:t>이것이 '격리' — 남의 Memory에 닿을 수 없다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9933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두 가지 사고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P=0 (아직 안 올라옴) → Page Fault → OS가 buddy에서 frame 받아 채우고 재시도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06F"/>
                </a:solidFill>
              </a:rPr>
              <a:t>내 땅이 아예 아님(find_vma 미발견) → SIGSEGV — 프로그램 강제 종료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RAM이 모자라면 — 두 줄의 LRU와 second chance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리눅스의 근사 LRU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10588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1508F"/>
                </a:solidFill>
              </a:rPr>
              <a:t>진짜 LRU(매 접근마다 목록 갱신)는 불가능 → MMU가 켜 주는 R비트 + active/inactive 두 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회수(kswapd)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1508F"/>
                </a:solidFill>
              </a:rPr>
              <a:t>inactive 꼬리부터: R=1 → 기회 한 번 더(머리로) / R=0 → 축출(dirty면 write-back 먼저)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382219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오판의 청구서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4206240"/>
            <a:ext cx="4919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508F"/>
                </a:solidFill>
              </a:rPr>
              <a:t>쫓아낸 페이지를 다시 쓰면 refault — 디스크에서 재적재(수만 배 느림).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가상 메모리 — 지도·문지기·회수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2단 도구: 10+10+12 분해와 walk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VMA 도구: find_vma 미발견 → SIGSEGV 화면 만들기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LRU 도구: 압박 → second chance 관찰 · 워크시트 S7 답 6개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워크시트 S7 완료 + SIGSEGV 화면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x86_2level_pgd_pte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x86_2level_pgd_pt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x86 2단 (PGD·PTE)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x86_paging_map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x86_paging_map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주소 변환·TLB·#PF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>
            <a:hlinkClick r:id="rId3" tooltip="https://devops0906.github.io/AI_CAMPUS/os-day2/anim/vma_interval_tree.html"/>
          </p:cNvPr>
          <p:cNvSpPr txBox="1"/>
          <p:nvPr/>
        </p:nvSpPr>
        <p:spPr>
          <a:xfrm>
            <a:off x="795528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3" invalidUrl="" action="" tgtFrame="" tooltip="https://devops0906.github.io/AI_CAMPUS/os-day2/anim/vma_interval_tree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VMA 에뮬레이터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>
            <a:hlinkClick r:id="rId4" tooltip="https://devops0906.github.io/AI_CAMPUS/os-day2/anim/linux_lru.html"/>
          </p:cNvPr>
          <p:cNvSpPr txBox="1"/>
          <p:nvPr/>
        </p:nvSpPr>
        <p:spPr>
          <a:xfrm>
            <a:off x="54864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4" invalidUrl="" action="" tgtFrame="" tooltip="https://devops0906.github.io/AI_CAMPUS/os-day2/anim/linux_lru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LRU 페이지 회수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>
            <a:hlinkClick r:id="rId5" tooltip="https://devops0906.github.io/AI_CAMPUS/os-day2/anim/interval_tree_ops.html"/>
          </p:cNvPr>
          <p:cNvSpPr txBox="1"/>
          <p:nvPr/>
        </p:nvSpPr>
        <p:spPr>
          <a:xfrm>
            <a:off x="425196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5" invalidUrl="" action="" tgtFrame="" tooltip="https://devops0906.github.io/AI_CAMPUS/os-day2/anim/interval_tree_op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심화: interval tree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462272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1" name="Text 19">
            <a:hlinkClick r:id="rId6" tooltip="https://devops0906.github.io/AI_CAMPUS/os-day2/anim/worksheet.html"/>
          </p:cNvPr>
          <p:cNvSpPr txBox="1"/>
          <p:nvPr/>
        </p:nvSpPr>
        <p:spPr>
          <a:xfrm>
            <a:off x="7955280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6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84064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0840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「SIGSEGV 화면을 만든 조는 손! 그 주소가 왜 '남의 땅도 아닌 빈 땅'인지 한 문장으로.」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S7 실습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S8 ·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이 시간의 도착점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오늘의 도착점 그 자체 — Terminal의 ls ⏎ 한 줄이 처리되는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</a:rPr>
              <a:t>전 과정을 여섯 단계로 빈칸 없이 이어 말한다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BB8"/>
                </a:solidFill>
              </a:rPr>
              <a:t>오늘 배운 모든 세션이 이 한 문제에 한 번씩 등장합니다.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BB8"/>
                </a:solidFill>
              </a:rPr>
              <a:t>S8 ·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</a:rPr>
              <a:t>명령 한 줄의 여행 — ls ⏎ 부터 Prompt까지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① bash가 자신을 복제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871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fork()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9933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② 자식이 ls로 변신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4871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execve()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19933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③ CPU 차례 배정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4871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스케줄러(CFS)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7764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④ 주소를 표로 변환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27024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MMU (PGD→PTE)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611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7764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⑤ 첫 접근 페이지 적재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27024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761"/>
                </a:solidFill>
              </a:rPr>
              <a:t>#PF + buddy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4464" y="37764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00"/>
                </a:solidFill>
              </a:rPr>
              <a:t>⑥ 좀비 회수, Prompt 복귀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27024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7A20"/>
                </a:solidFill>
              </a:rPr>
              <a:t>wait()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B8"/>
                </a:solidFill>
              </a:rPr>
              <a:t>여섯 칸 = 워크시트 S8의 여섯 빈칸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</a:rPr>
              <a:t>운영체제 활용 · Day 2 · S8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실습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명령 한 줄의 여행 — 완주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할 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77440"/>
            <a:ext cx="5102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① 워크시트 S8: 여섯 빈칸 채우기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② 짝에게 1분 설명 → 체크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③ 이름 확인 → 채점하기 → 완료 화면 캡처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2824" y="1993392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92824" y="2377440"/>
            <a:ext cx="47823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채점 완료 화면(이름 포함) — [강사 확정: 제출 채널]로 제출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>
            <a:hlinkClick r:id="rId1" tooltip="https://devops0906.github.io/AI_CAMPUS/os-day2/anim/index.html"/>
          </p:cNvPr>
          <p:cNvSpPr txBox="1"/>
          <p:nvPr/>
        </p:nvSpPr>
        <p:spPr>
          <a:xfrm>
            <a:off x="54864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1" invalidUrl="" action="" tgtFrame="" tooltip="https://devops0906.github.io/AI_CAMPUS/os-day2/anim/index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950208"/>
            <a:ext cx="35661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hlinkClick r:id="rId2" tooltip="https://devops0906.github.io/AI_CAMPUS/os-day2/anim/worksheet.html"/>
          </p:cNvPr>
          <p:cNvSpPr txBox="1"/>
          <p:nvPr/>
        </p:nvSpPr>
        <p:spPr>
          <a:xfrm>
            <a:off x="4251960" y="39502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2761"/>
                </a:solidFill>
                <a:hlinkClick r:id="rId2" invalidUrl="" action="" tgtFrame="" tooltip="https://devops0906.github.io/AI_CAMPUS/os-day2/anim/worksheet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2 워크시트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확인  </a:t>
            </a:r>
            <a:pPr indent="0" marL="0">
              <a:buNone/>
            </a:pPr>
            <a:r>
              <a:rPr lang="en-US" sz="1300" dirty="0">
                <a:solidFill>
                  <a:srgbClr val="33406F"/>
                </a:solidFill>
              </a:rPr>
              <a:t>「채점하기를 누르면 완료 화면이 열립니다. 점수 화면을 캡처해 제출해 주세요.」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S8 실습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오늘의 마침표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여러분은 이제 '뒤편'을 아는 사용자입니다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4B"/>
                </a:solidFill>
              </a:rPr>
              <a:t>오늘 증명한 것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10588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ls ⏎ 한 줄 = fork → execve → CFS → MMU → #PF+buddy → wait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— 여섯 단계를 여러분의 입으로 이어 말했습니다.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B8"/>
                </a:solidFill>
              </a:rPr>
              <a:t>다음 시간 (Day 3)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명령 여러 줄을 파일 하나로 — Script 자동화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08F"/>
                </a:solidFill>
              </a:rPr>
              <a:t>오늘 이해한 '한 줄의 뒤편' 위에, 내일은 그 줄들을 묶어 봇처럼 부립니다.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D8"/>
                </a:solidFill>
              </a:rPr>
              <a:t>운영체제 활용 · Day 2 · 마무리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1</cp:revision>
  <dcterms:created xsi:type="dcterms:W3CDTF">2026-08-30T13:47:35Z</dcterms:created>
  <dcterms:modified xsi:type="dcterms:W3CDTF">2026-08-30T13:47:35Z</dcterms:modified>
</cp:coreProperties>
</file>