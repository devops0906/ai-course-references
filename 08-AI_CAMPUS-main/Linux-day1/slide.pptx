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4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6609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하루의 결과물은 C로 만든 미니 셸 myshell이다. 우리가 매일 쓰는 bash도 결국 fork-exec-wait 루프라는 것을 직접 만들어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8교시 흐름을 먼저 보여 준다. 오전 3교시는 도구(Shell·make), 오후 5교시는 커널 경계를 넘는 C 프로그래밍.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과목은 애니메이션으로 커널 내부를 설명했다. 이 과목은 같은 개념을 C 프로그램으로 유발하고 숫자로 측정한다. 개념 재설명은 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[WARN]이 나오면 손을 들게 한다. 코어 1개(VM vCPU)와 sudo 권한 없음은 Day 2 전에 반드시 해결. WSL2면 Day 4 커널 모듈 대체 실습 대상으로 기록.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실습에 필요한 것만 압축. 4개 묶음만 손에 익히면 된다. 특히 2&gt;&amp;1과 $!는 측정 스크립트에서 계속 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fd 그림을 보여 주고 2&gt;&amp;1의 의미를 설명. 순서가 중요: &gt; file 2&gt;&amp;1 은 둘 다 파일, 2&gt;&amp;1 &gt; file 은 에러가 화면.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애니메이션 D1-1로 세 시나리오(처음/변경 없음/한 파일 수정)를 예측 먼저 해 보게 한다. 탭 문자 함정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run.sh는 Day 2~5 측정 실습에서 계속 쓴다. $1 $2 ${3:-기본값} $( ) $(( )) 다섯 가지만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레지스터 규약: rax=번호, rdi/rsi/rdx=인자, 반환도 rax. 애니메이션에서 write와 getpid 두 시나리오 비교.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터미널: 줄 단위 버퍼 → write 6번. 파이프: 블록 버퍼 → write 2번이고 printf 내용이 exit 때 한꺼번에. strace -e trace=write로 직접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getpid()와 syscall(SYS_getpid)가 같은 값. strace -c로 통계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커널은 errno를 모른다. -ENOENT를 받은 glibc가 errno=2, 반환 -1로 바꿔 준다. 성공 시 errno는 그대로라 실패했을 때만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VmRSS 숫자 차이를 크게 보여 준다. malloc만 하고 쓰지 않으면 RSS가 거의 늘지 않는다는 질문으로 Day 3을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fork 반환값 3가지를 표로. fflush 없이 파이프로 실행하면 [fork 전]이 두 번 나오는 함정을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유지되는 것과 교체되는 것을 대비. fd가 유지되기 때문에 Day 4의 dup2 리다이렉션이 가능하다. 실패 시 다음 줄로 돌아와 _exit(127).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4가지 실행을 시연: 정상 0, ls /nope 2, nosuchcmd 127, sleep 30을 다른 터미널에서 kill → 시그널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ps -o pid,ppid,stat,cmd --ppid $! 로 Z 확인. 좀비는 kill -9로도 안 죽는다. 고아의 PPID가 1이 아닌 systemd --user일 수 있음.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핸들러 규칙 3가지를 강조. SIGKILL은 등록 자체가 EINVAL. 셸의 $?=130 = 128+2.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루프 다이어그램을 먼저 보여 준 후 코드를 함께 작성. strace -f로 clone/execve/wait4 관찰.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현재 디렉터리는 프로세스별 속성. 자식이 chdir해도 자식이 끝나면 사라진다. 도전 과제는 시간 남는 학생용.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워크시트 8교시분 제출 확인 후 정리.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워크시트 교시별 제출 화면 캡처를 확인하고 마무리. Day 2 시작 시 Day 1 복습 퀴즈 20문항.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devops0906.github.io/AI_CAMPUS/linux-day1/anim/d1_1_make_rebuild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devops0906.github.io/AI_CAMPUS/linux-day1/anim/d1_2_mode_switch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devops0906.github.io/AI_CAMPUS/linux-day1/anim/d1_3_stdio_buffer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devops0906.github.io/AI_CAMPUS/linux-day1/anim/d1_4_errno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devops0906.github.io/AI_CAMPUS/linux-day1/anim/d1_5_fork_return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devops0906.github.io/AI_CAMPUS/linux-day1/anim/d1_6_exec_replace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devops0906.github.io/AI_CAMPUS/linux-day1/anim/d1_7_zombie_orphan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devops0906.github.io/AI_CAMPUS/linux-day1/anim/d1_8_sigaction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devops0906.github.io/AI_CAMPUS/linux-day1/anim/worksheet.html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devops0906.github.io/AI_CAMPUS/linux-day1/anim/index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AI_CAMPUS · 온디바이스 AI · Linux &amp; Shell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202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17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Shell 필수 · 시스템 콜 · 프로세스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931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2026.10.02 (금) · 8교시 · Ubuntu 24.04 + C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949440" y="4480560"/>
            <a:ext cx="4572000" cy="1600200"/>
          </a:xfrm>
          <a:prstGeom prst="roundRect">
            <a:avLst>
              <a:gd name="adj" fmla="val 6857"/>
            </a:avLst>
          </a:prstGeom>
          <a:solidFill>
            <a:srgbClr val="0A0E15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7178040" y="4645152"/>
            <a:ext cx="411480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./myshell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myshell[0]$ ls /nope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ls: cannot access '/nope'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myshell[2]$ exit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오늘의 도착점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strace로 시스템 콜을 보고, myshell을 C로 만든다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1261872" cy="2103120"/>
          </a:xfrm>
          <a:prstGeom prst="roundRect">
            <a:avLst>
              <a:gd name="adj" fmla="val 8696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658368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1교시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5146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점검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3337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check_env.sh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947672" y="2011680"/>
            <a:ext cx="1261872" cy="2103120"/>
          </a:xfrm>
          <a:prstGeom prst="roundRect">
            <a:avLst>
              <a:gd name="adj" fmla="val 8696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205740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2교시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2057400" y="25146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Shell 필수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2057400" y="3337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파이프·권한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346704" y="2011680"/>
            <a:ext cx="1261872" cy="2103120"/>
          </a:xfrm>
          <a:prstGeom prst="roundRect">
            <a:avLst>
              <a:gd name="adj" fmla="val 8696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3456432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3교시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456432" y="25146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Makefile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3456432" y="3337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run.sh 측정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45736" y="2011680"/>
            <a:ext cx="1261872" cy="2103120"/>
          </a:xfrm>
          <a:prstGeom prst="roundRect">
            <a:avLst>
              <a:gd name="adj" fmla="val 8696"/>
            </a:avLst>
          </a:prstGeom>
          <a:solidFill>
            <a:srgbClr val="1E1A10"/>
          </a:solidFill>
          <a:ln w="12700">
            <a:solidFill>
              <a:srgbClr val="6B55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4855464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4교시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855464" y="25146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콜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855464" y="3337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 · strace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144768" y="2011680"/>
            <a:ext cx="1261872" cy="2103120"/>
          </a:xfrm>
          <a:prstGeom prst="roundRect">
            <a:avLst>
              <a:gd name="adj" fmla="val 8696"/>
            </a:avLst>
          </a:prstGeom>
          <a:solidFill>
            <a:srgbClr val="1E1A10"/>
          </a:solidFill>
          <a:ln w="12700">
            <a:solidFill>
              <a:srgbClr val="6B55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254496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5교시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254496" y="25146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errno · /proc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254496" y="3337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실패와 관찰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543800" y="2011680"/>
            <a:ext cx="1261872" cy="2103120"/>
          </a:xfrm>
          <a:prstGeom prst="roundRect">
            <a:avLst>
              <a:gd name="adj" fmla="val 8696"/>
            </a:avLst>
          </a:prstGeom>
          <a:solidFill>
            <a:srgbClr val="1E1A10"/>
          </a:solidFill>
          <a:ln w="12700">
            <a:solidFill>
              <a:srgbClr val="6B55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7653528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6교시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653528" y="25146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fork · exec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7653528" y="3337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wait 매크로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942832" y="2011680"/>
            <a:ext cx="1261872" cy="2103120"/>
          </a:xfrm>
          <a:prstGeom prst="roundRect">
            <a:avLst>
              <a:gd name="adj" fmla="val 8696"/>
            </a:avLst>
          </a:prstGeom>
          <a:solidFill>
            <a:srgbClr val="1E1A10"/>
          </a:solidFill>
          <a:ln w="12700">
            <a:solidFill>
              <a:srgbClr val="6B55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905256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7교시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9052560" y="25146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좀비 · 시그널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9052560" y="3337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sigaction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10341864" y="2011680"/>
            <a:ext cx="1261872" cy="2103120"/>
          </a:xfrm>
          <a:prstGeom prst="roundRect">
            <a:avLst>
              <a:gd name="adj" fmla="val 8696"/>
            </a:avLst>
          </a:prstGeom>
          <a:solidFill>
            <a:srgbClr val="1E1A10"/>
          </a:solidFill>
          <a:ln w="12700">
            <a:solidFill>
              <a:srgbClr val="6B55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 txBox="1"/>
          <p:nvPr/>
        </p:nvSpPr>
        <p:spPr>
          <a:xfrm>
            <a:off x="10451592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8교시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10451592" y="25146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myshell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10451592" y="3337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실습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4343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FD1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오전: C 실습을 위한 도구 준비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4754880" y="4343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오후: 커널 경계를 넘는 C 프로그래밍 (C 85% · Shell 15%)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 txBox="1"/>
          <p:nvPr/>
        </p:nvSpPr>
        <p:spPr>
          <a:xfrm>
            <a:off x="777240" y="51937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3DA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폴더  ~/linux-course/day1/   ·   예제 소스  src/   ·   빌드  make   ·   모든 예제는 단독 컴파일 가능한 완결 코드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과정 지도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운영체제 과목에서 "본" 것을 C로 "일으키고 측정"한다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2057400" cy="2743200"/>
          </a:xfrm>
          <a:prstGeom prst="roundRect">
            <a:avLst>
              <a:gd name="adj" fmla="val 5333"/>
            </a:avLst>
          </a:prstGeom>
          <a:solidFill>
            <a:srgbClr val="1E1A10"/>
          </a:solidFill>
          <a:ln w="254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3152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468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콜 · 프로세스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840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myshell.c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88920" y="1828800"/>
            <a:ext cx="2057400" cy="2743200"/>
          </a:xfrm>
          <a:prstGeom prst="roundRect">
            <a:avLst>
              <a:gd name="adj" fmla="val 5333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297180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971800" y="2468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스케줄링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2971800" y="3840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jitter.c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0" y="1828800"/>
            <a:ext cx="2057400" cy="2743200"/>
          </a:xfrm>
          <a:prstGeom prst="roundRect">
            <a:avLst>
              <a:gd name="adj" fmla="val 5333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521208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212080" y="2468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212080" y="3840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memlab.c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269480" y="1828800"/>
            <a:ext cx="2057400" cy="2743200"/>
          </a:xfrm>
          <a:prstGeom prst="roundRect">
            <a:avLst>
              <a:gd name="adj" fmla="val 5333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745236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452360" y="2468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파일시스템 · sysfs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7452360" y="3840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sysmon.c · mysysfs.ko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9509760" y="1828800"/>
            <a:ext cx="2057400" cy="2743200"/>
          </a:xfrm>
          <a:prstGeom prst="roundRect">
            <a:avLst>
              <a:gd name="adj" fmla="val 5333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969264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5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9692640" y="2468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쓰레드 · 동기화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9692640" y="3840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edge_pipeline.c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4937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3DA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도착점: 수집·처리·기록 쓰레드가 링 버퍼로 데이터를 주고받는 C 프로그램에 스케줄링·CPU 고정·메모리 잠금·동기화를 적용하고, 그 효과를 /proc·/sys와 측정값으로 설명한다.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1교시 · 오리엔테이션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Ubuntu가 실습할 수 있는 상태인가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6035040" cy="2743200"/>
          </a:xfrm>
          <a:prstGeom prst="roundRect">
            <a:avLst>
              <a:gd name="adj" fmla="val 4000"/>
            </a:avLst>
          </a:prstGeom>
          <a:solidFill>
            <a:srgbClr val="0A0E15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901952"/>
            <a:ext cx="557784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uname -r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6.8.0-45-generic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nproc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apt install -y build-essential \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gdb strace valgrind stress-ng \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linux-tools-$(uname -r) \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linux-headers-$(uname -r)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bash check_env.sh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737360"/>
          <a:ext cx="475488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FD1E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점검 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FD1E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 필요한가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코어 2개 이상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2 affinity · Day 5 race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sudo 권한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RT 정책 · 모듈 로드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Secure Boot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4 커널 모듈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WSL2 여부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모듈·thermal 제한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858000" y="4023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[WARN] 항목은 손을 들어 보조강사에게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2교시 · Shell 필수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과목의 Shell은 빌드·실행·측정 도구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822960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4FD1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· 확인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231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D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pwd   cd ..   cd -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D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-la   cat   less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2200" y="173736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6446520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4FD1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조작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24231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D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  touch   cp -r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D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   rm -r  (되돌릴 수 없음)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40416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4FD1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5262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D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-rwxr-xr-x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D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소유자 · 그룹 · 그 외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D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+x run.sh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172200" y="384048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6446520" y="40416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4FD1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리다이렉션 · 파이프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45262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D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&gt;&gt; 2&gt; 2&gt;&amp;1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D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aux | grep bash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D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 30 &amp;   echo $!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2교시 · 리다이렉션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프로세스는 fd 0 · 1 · 2를 가지고 태어난다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1005840" cy="914400"/>
          </a:xfrm>
          <a:prstGeom prst="roundRect">
            <a:avLst>
              <a:gd name="adj" fmla="val 12000"/>
            </a:avLst>
          </a:prstGeom>
          <a:solidFill>
            <a:srgbClr val="161D2A"/>
          </a:solidFill>
          <a:ln w="12700">
            <a:solidFill>
              <a:srgbClr val="4FD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548640" y="190195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18470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stdin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783080" y="2212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연결: 키보드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880360"/>
            <a:ext cx="1005840" cy="914400"/>
          </a:xfrm>
          <a:prstGeom prst="roundRect">
            <a:avLst>
              <a:gd name="adj" fmla="val 12000"/>
            </a:avLst>
          </a:prstGeom>
          <a:solidFill>
            <a:srgbClr val="161D2A"/>
          </a:solidFill>
          <a:ln w="12700">
            <a:solidFill>
              <a:srgbClr val="5AD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548640" y="304495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AD4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1783080" y="29900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stdout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783080" y="3355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연결: 화면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4023360"/>
            <a:ext cx="1005840" cy="914400"/>
          </a:xfrm>
          <a:prstGeom prst="roundRect">
            <a:avLst>
              <a:gd name="adj" fmla="val 12000"/>
            </a:avLst>
          </a:prstGeom>
          <a:solidFill>
            <a:srgbClr val="161D2A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548640" y="418795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1783080" y="41330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stderr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783080" y="4498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연결: 화면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0" y="1737360"/>
            <a:ext cx="7040880" cy="3383280"/>
          </a:xfrm>
          <a:prstGeom prst="roundRect">
            <a:avLst>
              <a:gd name="adj" fmla="val 3243"/>
            </a:avLst>
          </a:prstGeom>
          <a:solidFill>
            <a:srgbClr val="0A0E15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4800600" y="1901952"/>
            <a:ext cx="6583680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&gt; build.log 2&gt;&amp;1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1 → build.log, 2 → 1이 가리키는 곳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./a.out 2&gt; err.txt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에러만 파일로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processor /proc/cpuinfo | wc -l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앞 명령의 1번 → 뒤 명령의 0번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53492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 주의: make 2&gt;&amp;1 &gt; build.log 는 에러가 여전히 화면으로 간다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3교시 · Makefile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바뀐 것만 다시 빌드한다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669280" cy="3931920"/>
          </a:xfrm>
          <a:prstGeom prst="roundRect">
            <a:avLst>
              <a:gd name="adj" fmla="val 2791"/>
            </a:avLst>
          </a:prstGeom>
          <a:solidFill>
            <a:srgbClr val="0A0E15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901952"/>
            <a:ext cx="5212080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      = gcc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CFLAGS  = -Wall -Wextra -g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SRCS    = $(wildcard *.c)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TARGETS = $(SRCS:.c=)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all: $(TARGETS)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%: %.c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$(CC) $(CFLAGS) -o $@ $&lt;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rm -f $(TARGETS)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737360"/>
          <a:ext cx="5120640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FD1E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FD1E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$@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만들 대상 (03_errno)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$&lt;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재료 (03_errno.c)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%: %.c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패턴 규칙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탭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명령 줄 시작 (스페이스 X)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mtime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대상이 더 새로우면 건너뜀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492240" y="5897880"/>
            <a:ext cx="4023360" cy="438912"/>
          </a:xfrm>
          <a:prstGeom prst="roundRect">
            <a:avLst>
              <a:gd name="adj" fmla="val 20833"/>
            </a:avLst>
          </a:prstGeom>
          <a:solidFill>
            <a:srgbClr val="3A2C10"/>
          </a:solidFill>
          <a:ln w="15875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 txBox="1"/>
          <p:nvPr/>
        </p:nvSpPr>
        <p:spPr>
          <a:xfrm>
            <a:off x="6656832" y="58978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 </a:t>
            </a:r>
            <a:r>
              <a:rPr lang="en-US" sz="1300" u="sng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D1-1 make는 무엇을 다시 빌드하나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3교시 · 측정 스크립트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측정은 한 번으로 믿지 않는다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6766560" cy="3931920"/>
          </a:xfrm>
          <a:prstGeom prst="roundRect">
            <a:avLst>
              <a:gd name="adj" fmla="val 2791"/>
            </a:avLst>
          </a:prstGeom>
          <a:solidFill>
            <a:srgbClr val="0A0E15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901952"/>
            <a:ext cx="6309360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PROG=$1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N=$2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OUT=${3:-result.csv}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"run,elapsed_ms" &gt; "$OUT"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$(seq 1 "$N"); do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start=$(date +%s%N)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"$PROG" &gt; /dev/null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end=$(date +%s%N)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"$i,$(( (end-start)/1000000 ))" &gt;&gt; "$OUT"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589520" y="1737360"/>
            <a:ext cx="4023360" cy="3931920"/>
          </a:xfrm>
          <a:prstGeom prst="roundRect">
            <a:avLst>
              <a:gd name="adj" fmla="val 2791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863840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4FD1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23774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D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./run.sh ./02_syscall_direct 5 r.csv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3291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4FD1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r.csv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370332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F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run,elapsed_ms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F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F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F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F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F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5,1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4교시 · 시스템 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커널에 일을 부탁하는 유일한 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6766560" cy="1737360"/>
          </a:xfrm>
          <a:prstGeom prst="roundRect">
            <a:avLst>
              <a:gd name="adj" fmla="val 6316"/>
            </a:avLst>
          </a:prstGeom>
          <a:solidFill>
            <a:srgbClr val="12303A"/>
          </a:solidFill>
          <a:ln w="12700">
            <a:solidFill>
              <a:srgbClr val="4FD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사용자 모드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" y="2240280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1C2535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77240" y="2377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main()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971800" y="2240280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1C2535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2971800" y="2377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glibc write()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166360" y="2240280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1C2535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5166360" y="2377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rax=1 rdi=1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rsi=buf rdx=20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6118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 syscall 명령 · 모드 전환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4069080"/>
            <a:ext cx="6766560" cy="1645920"/>
          </a:xfrm>
          <a:prstGeom prst="roundRect">
            <a:avLst>
              <a:gd name="adj" fmla="val 6667"/>
            </a:avLst>
          </a:prstGeom>
          <a:solidFill>
            <a:srgbClr val="231C3D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77724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커널 모드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77240" y="457200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1C2535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777240" y="4846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sys_call_table[1]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971800" y="457200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1C2535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2971800" y="4846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sys_write()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166360" y="457200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1C2535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5166360" y="4846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tty 드라이버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737360"/>
          <a:ext cx="4023360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FD1E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man 섹션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FD1E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 명령 (ls)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 콜 (write)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라이브러리 함수 (printf)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7589520" y="5897880"/>
            <a:ext cx="4023360" cy="438912"/>
          </a:xfrm>
          <a:prstGeom prst="roundRect">
            <a:avLst>
              <a:gd name="adj" fmla="val 20833"/>
            </a:avLst>
          </a:prstGeom>
          <a:solidFill>
            <a:srgbClr val="3A2C10"/>
          </a:solidFill>
          <a:ln w="15875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7754112" y="58978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 </a:t>
            </a:r>
            <a:r>
              <a:rPr lang="en-US" sz="1300" u="sng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D1-2 사용자 모드 ↔ 커널 모드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4교시 · printf vs write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대상이 바뀌면 write 횟수와 순서가 바뀐다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440680" cy="3108960"/>
          </a:xfrm>
          <a:prstGeom prst="roundRect">
            <a:avLst>
              <a:gd name="adj" fmla="val 3529"/>
            </a:avLst>
          </a:prstGeom>
          <a:solidFill>
            <a:srgbClr val="161D2A"/>
          </a:solidFill>
          <a:ln w="12700">
            <a:solidFill>
              <a:srgbClr val="5AD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82296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D4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터미널  ./01_write_vs_printf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774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rgbClr val="5AD4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7200" dirty="0"/>
          </a:p>
        </p:txBody>
      </p:sp>
      <p:sp>
        <p:nvSpPr>
          <p:cNvPr id="9" name="Text 6"/>
          <p:cNvSpPr txBox="1"/>
          <p:nvPr/>
        </p:nvSpPr>
        <p:spPr>
          <a:xfrm>
            <a:off x="265176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 호출 수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794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 1 + printf 줄마다 5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206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 단위 버퍼링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72200" y="1737360"/>
            <a:ext cx="5440680" cy="3108960"/>
          </a:xfrm>
          <a:prstGeom prst="roundRect">
            <a:avLst>
              <a:gd name="adj" fmla="val 3529"/>
            </a:avLst>
          </a:prstGeom>
          <a:solidFill>
            <a:srgbClr val="161D2A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644652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파이프  ./01_write_vs_printf | cat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23774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720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 호출 수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3794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 1 + exit 때 fflush 1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4206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단위 버퍼링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5029200"/>
            <a:ext cx="6949440" cy="685800"/>
          </a:xfrm>
          <a:prstGeom prst="roundRect">
            <a:avLst>
              <a:gd name="adj" fmla="val 16000"/>
            </a:avLst>
          </a:prstGeom>
          <a:solidFill>
            <a:srgbClr val="0A0E15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777240" y="5193792"/>
            <a:ext cx="6492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strace -e trace=write ./01_write_vs_printf | cat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589520" y="5148072"/>
            <a:ext cx="4023360" cy="438912"/>
          </a:xfrm>
          <a:prstGeom prst="roundRect">
            <a:avLst>
              <a:gd name="adj" fmla="val 20833"/>
            </a:avLst>
          </a:prstGeom>
          <a:solidFill>
            <a:srgbClr val="3A2C10"/>
          </a:solidFill>
          <a:ln w="15875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7754112" y="514807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 </a:t>
            </a:r>
            <a:r>
              <a:rPr lang="en-US" sz="1300" u="sng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D1-3 줄 단위 vs 블록 단위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4교시 · 래퍼 없이 직접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glibc 함수는 번호를 싣는 얇은 포장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6949440" cy="2377440"/>
          </a:xfrm>
          <a:prstGeom prst="roundRect">
            <a:avLst>
              <a:gd name="adj" fmla="val 4615"/>
            </a:avLst>
          </a:prstGeom>
          <a:solidFill>
            <a:srgbClr val="0A0E15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901952"/>
            <a:ext cx="649224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pid_t a = getpid();            // glibc 래퍼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 b = syscall(SYS_getpid);  // 직접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printf("SYS_getpid = %d\n", SYS_getpid);  // 39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printf("SYS_write  = %d\n", SYS_write);   // 1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343400"/>
            <a:ext cx="6949440" cy="1463040"/>
          </a:xfrm>
          <a:prstGeom prst="roundRect">
            <a:avLst>
              <a:gd name="adj" fmla="val 7500"/>
            </a:avLst>
          </a:prstGeom>
          <a:solidFill>
            <a:srgbClr val="0A0E15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77240" y="4507992"/>
            <a:ext cx="64922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strace -c ./02_syscall_direct &gt; /dev/null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time  calls  syscall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      3    write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      2    getpid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72400" y="1737360"/>
            <a:ext cx="3840480" cy="4069080"/>
          </a:xfrm>
          <a:prstGeom prst="roundRect">
            <a:avLst>
              <a:gd name="adj" fmla="val 2857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046720" y="1965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9235440" y="2103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2697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923544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getpid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046720" y="3429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9235440" y="3566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046720" y="41605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9235440" y="4297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execve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046720" y="48920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9235440" y="5029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wait4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5교시 · errno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커널은 음수를, glibc는 -1과 errno를 준다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2240280" cy="1737360"/>
          </a:xfrm>
          <a:prstGeom prst="roundRect">
            <a:avLst>
              <a:gd name="adj" fmla="val 6316"/>
            </a:avLst>
          </a:prstGeom>
          <a:solidFill>
            <a:srgbClr val="161D2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3152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3774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-ENOENT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rax = -2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78892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063240" y="1737360"/>
            <a:ext cx="2240280" cy="1737360"/>
          </a:xfrm>
          <a:prstGeom prst="roundRect">
            <a:avLst>
              <a:gd name="adj" fmla="val 6316"/>
            </a:avLst>
          </a:prstGeom>
          <a:solidFill>
            <a:srgbClr val="161D2A"/>
          </a:solidFill>
          <a:ln w="12700">
            <a:solidFill>
              <a:srgbClr val="4FD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324612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FD1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glibc 래퍼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246120" y="23774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errno = 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-1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5577840" y="1737360"/>
            <a:ext cx="2240280" cy="1737360"/>
          </a:xfrm>
          <a:prstGeom prst="roundRect">
            <a:avLst>
              <a:gd name="adj" fmla="val 6316"/>
            </a:avLst>
          </a:prstGeom>
          <a:solidFill>
            <a:srgbClr val="161D2A"/>
          </a:solidFill>
          <a:ln w="12700">
            <a:solidFill>
              <a:srgbClr val="5AD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576072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5AD4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main()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760720" y="23774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 == -1 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strerror(errno)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7315200" cy="914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FD1E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errno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FD1E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FD1E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ENOENT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 없음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EACCES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 없음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EBADF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닫힌 fd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EISDIR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디렉터리를 쓰기로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8229600" y="20116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규칙: 반환값이 실패(-1)일 때만 errno를 읽는다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7589520" y="5897880"/>
            <a:ext cx="4023360" cy="438912"/>
          </a:xfrm>
          <a:prstGeom prst="roundRect">
            <a:avLst>
              <a:gd name="adj" fmla="val 20833"/>
            </a:avLst>
          </a:prstGeom>
          <a:solidFill>
            <a:srgbClr val="3A2C10"/>
          </a:solidFill>
          <a:ln w="15875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7754112" y="58978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 </a:t>
            </a:r>
            <a:r>
              <a:rPr lang="en-US" sz="1300" u="sng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D1-4 실패는 어떻게 errno가 되나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5교시 · /proc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순간 커널이 만들어 주는 가상 파일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8288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 MB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VmRSS · malloc 전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3931920" y="19202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18288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 MB</a:t>
            </a:r>
            <a:endParaRPr lang="en-US" sz="540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VmRSS · 50MB malloc + memset 후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749040"/>
            <a:ext cx="5486400" cy="1463040"/>
          </a:xfrm>
          <a:prstGeom prst="roundRect">
            <a:avLst>
              <a:gd name="adj" fmla="val 7500"/>
            </a:avLst>
          </a:prstGeom>
          <a:solidFill>
            <a:srgbClr val="0A0E15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77240" y="3913632"/>
            <a:ext cx="50292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/proc/self/status | head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-l /proc/self/fd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/proc/loadavg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309360" y="3749040"/>
            <a:ext cx="5303520" cy="1463040"/>
          </a:xfrm>
          <a:prstGeom prst="roundRect">
            <a:avLst>
              <a:gd name="adj" fmla="val 7500"/>
            </a:avLst>
          </a:prstGeom>
          <a:solidFill>
            <a:srgbClr val="1E1A10"/>
          </a:solidFill>
          <a:ln w="12700">
            <a:solidFill>
              <a:srgbClr val="6B55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6537960" y="3931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 예고: memset을 지우면 RSS는?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537960" y="44348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malloc은 주소만 예약한다 — 실제로 써야 페이지가 할당된다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6교시 · fork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호출, 두 번 반환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2194560" cy="2103120"/>
          </a:xfrm>
          <a:prstGeom prst="roundRect">
            <a:avLst>
              <a:gd name="adj" fmla="val 5217"/>
            </a:avLst>
          </a:prstGeom>
          <a:solidFill>
            <a:srgbClr val="161D2A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548640" y="1874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926080" y="1737360"/>
            <a:ext cx="2194560" cy="2103120"/>
          </a:xfrm>
          <a:prstGeom prst="roundRect">
            <a:avLst>
              <a:gd name="adj" fmla="val 5217"/>
            </a:avLst>
          </a:prstGeom>
          <a:solidFill>
            <a:srgbClr val="161D2A"/>
          </a:solidFill>
          <a:ln w="12700">
            <a:solidFill>
              <a:srgbClr val="5AD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2926080" y="1874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5AD4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292608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292608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"나는 자식"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303520" y="1737360"/>
            <a:ext cx="2194560" cy="2103120"/>
          </a:xfrm>
          <a:prstGeom prst="roundRect">
            <a:avLst>
              <a:gd name="adj" fmla="val 5217"/>
            </a:avLst>
          </a:prstGeom>
          <a:solidFill>
            <a:srgbClr val="161D2A"/>
          </a:solidFill>
          <a:ln w="12700">
            <a:solidFill>
              <a:srgbClr val="4FD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5303520" y="1874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0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530352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30352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자식의 PID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772400" y="1737360"/>
            <a:ext cx="3840480" cy="2103120"/>
          </a:xfrm>
          <a:prstGeom prst="roundRect">
            <a:avLst>
              <a:gd name="adj" fmla="val 5217"/>
            </a:avLst>
          </a:prstGeom>
          <a:solidFill>
            <a:srgbClr val="0A0E15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8001000" y="1901952"/>
            <a:ext cx="338328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100;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fflush(stdout);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pid_t pid = fork();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(pid == 0) { x += 1; exit(0);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-= 1;  wait(NULL);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자식 101, 부모 99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411480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E1A10"/>
          </a:solidFill>
          <a:ln w="12700">
            <a:solidFill>
              <a:srgbClr val="6B55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22960" y="4297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fflush를 지우고  ./05_fork_basic | cat  으로 실행하면?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stdio 버퍼도 메모리 → 자식에게 복제 → "[fork 전]" 줄이 두 번 출력된다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48640" y="5897880"/>
            <a:ext cx="4023360" cy="438912"/>
          </a:xfrm>
          <a:prstGeom prst="roundRect">
            <a:avLst>
              <a:gd name="adj" fmla="val 20833"/>
            </a:avLst>
          </a:prstGeom>
          <a:solidFill>
            <a:srgbClr val="3A2C10"/>
          </a:solidFill>
          <a:ln w="15875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713232" y="58978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 </a:t>
            </a:r>
            <a:r>
              <a:rPr lang="en-US" sz="1300" u="sng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D1-5 한 번 호출, 두 번 반환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6교시 · exec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PID에 다른 프로그램을 덮어쓴다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161D2A"/>
          </a:solidFill>
          <a:ln w="12700">
            <a:solidFill>
              <a:srgbClr val="5AD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822960" y="1920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AD4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유지된다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3DA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PID와 부모 관계(PPID)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3DA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열린 파일 디스크립터 0 · 1 · 2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3DA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디렉터리, 사용자 ID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17920" y="173736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161D2A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6492240" y="1920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교체된다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251460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3DA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코드(text) 영역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3DA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변수 · 힙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3DA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 — 그래서 돌아올 곳이 없다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5897880"/>
            <a:ext cx="4023360" cy="438912"/>
          </a:xfrm>
          <a:prstGeom prst="roundRect">
            <a:avLst>
              <a:gd name="adj" fmla="val 20833"/>
            </a:avLst>
          </a:prstGeom>
          <a:solidFill>
            <a:srgbClr val="3A2C10"/>
          </a:solidFill>
          <a:ln w="15875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13232" y="58978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 </a:t>
            </a:r>
            <a:r>
              <a:rPr lang="en-US" sz="1300" u="sng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D1-6 같은 PID, 다른 프로그램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6교시 · wait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 상태를 해석하는 매크로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1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03504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4FD1E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매크로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4FD1E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WIFEXITED(s)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exit()로 정상 종료했나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WEXITSTATUS(s)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종료 코드 0~255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WIFSIGNALED(s)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시그널로 죽었나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WTERMSIG(s)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몇 번 시그널인가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949440" y="1737360"/>
            <a:ext cx="4663440" cy="868680"/>
          </a:xfrm>
          <a:prstGeom prst="roundRect">
            <a:avLst>
              <a:gd name="adj" fmla="val 12632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7178040" y="189280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5AD4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877824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 /tmp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949440" y="2743200"/>
            <a:ext cx="4663440" cy="868680"/>
          </a:xfrm>
          <a:prstGeom prst="roundRect">
            <a:avLst>
              <a:gd name="adj" fmla="val 12632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 txBox="1"/>
          <p:nvPr/>
        </p:nvSpPr>
        <p:spPr>
          <a:xfrm>
            <a:off x="7178040" y="289864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877824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/nope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949440" y="3749040"/>
            <a:ext cx="4663440" cy="868680"/>
          </a:xfrm>
          <a:prstGeom prst="roundRect">
            <a:avLst>
              <a:gd name="adj" fmla="val 12632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7178040" y="390448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877824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nosuchcmd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949440" y="4754880"/>
            <a:ext cx="4663440" cy="868680"/>
          </a:xfrm>
          <a:prstGeom prst="roundRect">
            <a:avLst>
              <a:gd name="adj" fmla="val 12632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13"/>
          <p:cNvSpPr txBox="1"/>
          <p:nvPr/>
        </p:nvSpPr>
        <p:spPr>
          <a:xfrm>
            <a:off x="7178040" y="49103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 15</a:t>
            </a:r>
            <a:endParaRPr lang="en-US" sz="2400" dirty="0"/>
          </a:p>
        </p:txBody>
      </p:sp>
      <p:sp>
        <p:nvSpPr>
          <p:cNvPr id="18" name="Text 14"/>
          <p:cNvSpPr txBox="1"/>
          <p:nvPr/>
        </p:nvSpPr>
        <p:spPr>
          <a:xfrm>
            <a:off x="8778240" y="5029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 30 + kill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7교시 · 좀비와 고아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 상태는 누가 가져가나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394960" cy="3840480"/>
          </a:xfrm>
          <a:prstGeom prst="roundRect">
            <a:avLst>
              <a:gd name="adj" fmla="val 2857"/>
            </a:avLst>
          </a:prstGeom>
          <a:solidFill>
            <a:srgbClr val="161D2A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822960" y="1920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좀비 (Z)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68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자식은 끝났는데 부모가 wait하지 않음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3017520"/>
            <a:ext cx="4846320" cy="914400"/>
          </a:xfrm>
          <a:prstGeom prst="roundRect">
            <a:avLst>
              <a:gd name="adj" fmla="val 12000"/>
            </a:avLst>
          </a:prstGeom>
          <a:solidFill>
            <a:srgbClr val="0A0E15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1051560" y="3182112"/>
            <a:ext cx="4389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   PPID STAT CMD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6021  6020 Z    [07_zombie] &lt;defunct&gt;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160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해결: 부모가 waitpid 호출 (kill -9는 소용없음)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17920" y="1737360"/>
            <a:ext cx="5394960" cy="3840480"/>
          </a:xfrm>
          <a:prstGeom prst="roundRect">
            <a:avLst>
              <a:gd name="adj" fmla="val 2857"/>
            </a:avLst>
          </a:prstGeom>
          <a:solidFill>
            <a:srgbClr val="161D2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6492240" y="1920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고아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92240" y="2468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부모가 먼저 끝남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92240" y="3017520"/>
            <a:ext cx="4846320" cy="914400"/>
          </a:xfrm>
          <a:prstGeom prst="roundRect">
            <a:avLst>
              <a:gd name="adj" fmla="val 12000"/>
            </a:avLst>
          </a:prstGeom>
          <a:solidFill>
            <a:srgbClr val="0A0E15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6720840" y="3182112"/>
            <a:ext cx="4389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[자식] 처음 PPID=6020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[자식] 고아 후 PPID=1 (또는 subreaper)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492240" y="4160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init이 입양 후 수거 → 오래 남지 않는다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5897880"/>
            <a:ext cx="4023360" cy="438912"/>
          </a:xfrm>
          <a:prstGeom prst="roundRect">
            <a:avLst>
              <a:gd name="adj" fmla="val 20833"/>
            </a:avLst>
          </a:prstGeom>
          <a:solidFill>
            <a:srgbClr val="3A2C10"/>
          </a:solidFill>
          <a:ln w="15875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713232" y="58978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 </a:t>
            </a:r>
            <a:r>
              <a:rPr lang="en-US" sz="1300" u="sng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D1-7 좀비와 고아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7교시 · 시그널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커널이 꽂아 두는 비동기 알림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1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58368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FD1E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시그널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FD1E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FD1E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FD1E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동작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SIGINT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Ctrl+C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SIGKILL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kill -9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종료 (잡을 수 없음)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SIGTERM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kill 기본값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SIGCHLD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자식 종료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406640" y="1737360"/>
            <a:ext cx="4206240" cy="3840480"/>
          </a:xfrm>
          <a:prstGeom prst="roundRect">
            <a:avLst>
              <a:gd name="adj" fmla="val 2857"/>
            </a:avLst>
          </a:prstGeom>
          <a:solidFill>
            <a:srgbClr val="1E1A10"/>
          </a:solidFill>
          <a:ln w="12700">
            <a:solidFill>
              <a:srgbClr val="6B55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768096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핸들러 작성 규칙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680960" y="246888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3DA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printf 대신 write (async-signal-safe)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3DA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변수는 volatile sig_atomic_t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3DA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SIGCHLD에선 waitpid(-1, …, WNOHANG)를 반복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5897880"/>
            <a:ext cx="4023360" cy="438912"/>
          </a:xfrm>
          <a:prstGeom prst="roundRect">
            <a:avLst>
              <a:gd name="adj" fmla="val 20833"/>
            </a:avLst>
          </a:prstGeom>
          <a:solidFill>
            <a:srgbClr val="3A2C10"/>
          </a:solidFill>
          <a:ln w="15875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 txBox="1"/>
          <p:nvPr/>
        </p:nvSpPr>
        <p:spPr>
          <a:xfrm>
            <a:off x="713232" y="58978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 </a:t>
            </a:r>
            <a:r>
              <a:rPr lang="en-US" sz="1300" u="sng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D1-8 Ctrl+C가 핸들러에 도착하기까지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8교시 · 종합 실습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bash의 정체: fork-exec-wait 루프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1417320" cy="1371600"/>
          </a:xfrm>
          <a:prstGeom prst="roundRect">
            <a:avLst>
              <a:gd name="adj" fmla="val 8000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548640" y="21031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651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myshell[0]$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92024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148840" y="1920240"/>
            <a:ext cx="1417320" cy="1371600"/>
          </a:xfrm>
          <a:prstGeom prst="roundRect">
            <a:avLst>
              <a:gd name="adj" fmla="val 8000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2148840" y="21031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148840" y="2651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fgets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52044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3749040" y="1920240"/>
            <a:ext cx="1417320" cy="1371600"/>
          </a:xfrm>
          <a:prstGeom prst="roundRect">
            <a:avLst>
              <a:gd name="adj" fmla="val 8000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3749040" y="21031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자르기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749040" y="2651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strtok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12064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5349240" y="1920240"/>
            <a:ext cx="1417320" cy="1371600"/>
          </a:xfrm>
          <a:prstGeom prst="roundRect">
            <a:avLst>
              <a:gd name="adj" fmla="val 8000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5349240" y="21031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내장?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349240" y="2651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· exit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72084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6949440" y="1920240"/>
            <a:ext cx="1417320" cy="1371600"/>
          </a:xfrm>
          <a:prstGeom prst="roundRect">
            <a:avLst>
              <a:gd name="adj" fmla="val 8000"/>
            </a:avLst>
          </a:prstGeom>
          <a:solidFill>
            <a:srgbClr val="1E1A10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949440" y="21031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fork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949440" y="2651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clone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32104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8549640" y="1920240"/>
            <a:ext cx="1417320" cy="1371600"/>
          </a:xfrm>
          <a:prstGeom prst="roundRect">
            <a:avLst>
              <a:gd name="adj" fmla="val 8000"/>
            </a:avLst>
          </a:prstGeom>
          <a:solidFill>
            <a:srgbClr val="1E1A10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8549640" y="21031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8549640" y="2651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execvp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992124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10149840" y="1920240"/>
            <a:ext cx="1417320" cy="1371600"/>
          </a:xfrm>
          <a:prstGeom prst="roundRect">
            <a:avLst>
              <a:gd name="adj" fmla="val 8000"/>
            </a:avLst>
          </a:prstGeom>
          <a:solidFill>
            <a:srgbClr val="1E1A10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10149840" y="21031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wait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10149840" y="2651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waitpid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3474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FD1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↺ 종료 코드를 프롬프트에 표시하고 처음으로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548640" y="4023360"/>
            <a:ext cx="11064240" cy="1828800"/>
          </a:xfrm>
          <a:prstGeom prst="roundRect">
            <a:avLst>
              <a:gd name="adj" fmla="val 6000"/>
            </a:avLst>
          </a:prstGeom>
          <a:solidFill>
            <a:srgbClr val="0A0E15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 txBox="1"/>
          <p:nvPr/>
        </p:nvSpPr>
        <p:spPr>
          <a:xfrm>
            <a:off x="777240" y="4187952"/>
            <a:ext cx="1060704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myshell &amp;&amp; ./myshell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myshell[0]$ ls /nope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myshell[2]$ sleep 100      ← Ctrl+C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myshell[130]$ exit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strace -f -e trace=clone,execve,wait4 ./myshell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8교시 · 생각해 볼 것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cd는 자식이 실행하면 안 되나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394960" cy="3840480"/>
          </a:xfrm>
          <a:prstGeom prst="roundRect">
            <a:avLst>
              <a:gd name="adj" fmla="val 2857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822960" y="19659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자식이 chdir("/tmp") → 자식만 /tmp로 이동 → 자식 종료 → 셸은 그대로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5661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셸 프로세스가 직접 chdir()해야 한다 → 내장 명령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17920" y="1737360"/>
            <a:ext cx="5394960" cy="3840480"/>
          </a:xfrm>
          <a:prstGeom prst="roundRect">
            <a:avLst>
              <a:gd name="adj" fmla="val 2857"/>
            </a:avLst>
          </a:prstGeom>
          <a:solidFill>
            <a:srgbClr val="161D2A"/>
          </a:solidFill>
          <a:ln w="12700">
            <a:solidFill>
              <a:srgbClr val="4FD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6492240" y="1920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4FD1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도전 과제 (선택)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251460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D3DA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프롬프트에 현재 디렉터리 표시 (getcwd)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D3DA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끝에 &amp; 가 있으면 백그라운드 실행 + SIGCHLD 수거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D3DA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 리다이렉션 (open + dup2) — Day 4 예고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오늘 정리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7개 개념, 한 줄씩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1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4FD1E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개념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4FD1E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한 줄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시스템 콜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 프로그램이 커널에 일을 부탁하는 유일한 문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errno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실패(-1) 했을 때만 읽는 원인 번호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/proc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읽는 순간 커널이 만들어 주는 가상 파일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fork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번 호출, 두 번 반환 (자식 0, 부모 PID)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exec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PID에 새 프로그램을 덮어씀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wait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자식의 종료 상태 수거 — 안 하면 좀비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시그널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커널이 보내는 비동기 알림, sigaction으로 처리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다음 시간 · Day 2 (10/6 화)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스케줄링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34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3DA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누가, 얼마나 자주, 얼마나 늦게 CPU를 받는가를 측정한다 — nice · affinity · SCHED_FIFO · jitter.c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023360"/>
            <a:ext cx="5120640" cy="1188720"/>
          </a:xfrm>
          <a:prstGeom prst="roundRect">
            <a:avLst>
              <a:gd name="adj" fmla="val 9231"/>
            </a:avLst>
          </a:prstGeom>
          <a:solidFill>
            <a:srgbClr val="3A2C10"/>
          </a:solidFill>
          <a:ln w="1905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41605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 80문항</a:t>
            </a:r>
            <a:endParaRPr lang="en-US" sz="1700" dirty="0"/>
          </a:p>
          <a:p>
            <a:pPr marL="0" indent="0">
              <a:buNone/>
            </a:pPr>
            <a:r>
              <a:rPr lang="en-US" sz="1300" u="sng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linux-day1/anim/worksheet.html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17920" y="4023360"/>
            <a:ext cx="5120640" cy="1188720"/>
          </a:xfrm>
          <a:prstGeom prst="roundRect">
            <a:avLst>
              <a:gd name="adj" fmla="val 9231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492240" y="41605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D1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 8종 목록</a:t>
            </a:r>
            <a:endParaRPr lang="en-US" sz="1700" dirty="0"/>
          </a:p>
          <a:p>
            <a:pPr marL="0" indent="0">
              <a:buNone/>
            </a:pPr>
            <a:r>
              <a:rPr lang="en-US" sz="1300" u="sng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linux-day1/anim/index.html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2564</Words>
  <Application>Microsoft Office PowerPoint</Application>
  <PresentationFormat>와이드스크린</PresentationFormat>
  <Paragraphs>476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6" baseType="lpstr">
      <vt:lpstr>Malgun Gothic</vt:lpstr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디지털노마드연구소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&amp; Shell Day 1</dc:title>
  <dc:subject>PptxGenJS Presentation</dc:subject>
  <dc:creator>디지털노마드연구소</dc:creator>
  <cp:lastModifiedBy>디지털노마드연구소</cp:lastModifiedBy>
  <cp:revision>1</cp:revision>
  <dcterms:created xsi:type="dcterms:W3CDTF">2026-10-01T08:53:19Z</dcterms:created>
  <dcterms:modified xsi:type="dcterms:W3CDTF">2026-10-01T12:09:31Z</dcterms:modified>
</cp:coreProperties>
</file>