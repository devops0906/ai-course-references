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686" autoAdjust="0"/>
  </p:normalViewPr>
  <p:slideViewPr>
    <p:cSldViewPr snapToGrid="0" snapToObjects="1">
      <p:cViewPr varScale="1">
        <p:scale>
          <a:sx n="71" d="100"/>
          <a:sy n="71" d="100"/>
        </p:scale>
        <p:origin x="110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268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도착점 문장을 소리 내어 한 번 읽어 줍니다. '스크립트'라는 말이 낯설어도 괜찮습니다 — 3일 뒤 이 문장이 당연해집니다.
[구조 설명] Day 1은 파일이 사는 세계(File System), Day 2는 그 파일이 실행되는 순간(Process), Day 3은 명령을 묶는 것(Script). 각 날의 결과물이 다음 날의 재료가 됩니다 — 컴퓨터 구조 때와 같은 방식.
[연결] 컴퓨터 구조의 도착점이 'CPU 시뮬레이터 한 줄 실행'이었다면, 이번 도착점은 '내 컴퓨터에서 진짜 명령 실행'입니다 — 시뮬레이터에서 실전으로.
[전환] "그럼 오늘 하루는 뭘 하나?"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네 단어를 카드 순서대로 소개합니다 — OS(관리인), GUI(그림 창구), CLI(글자 창구), Path(주소). 오늘 하루는 이 네 단어를 손에 익히는 날입니다.
[제출물 예고] 컴퓨터 구조 때 '내 컴퓨터 소개서'처럼, 오늘도 한 장의 제출물로 수렴합니다 — GUI–CLI 비교표. 하루 종일 만드는 모든 것이 이 한 장의 재료가 됩니다.
[기대 조정] 비전공자분들께: 오늘 오전은 마우스만 씁니다. Terminal은 오후, 그것도 개념(주소)을 익힌 뒤에 시작하니 걱정하지 않아도 됩니다.
[전환] 시간표로.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[안내 2분] 리듬은 컴퓨터 구조 때와 동일 — 50분 수업, 10분 휴식. 오전(S2~S3)은 개념과 주소 체계, 오후(S4~S7)는 손을 쓰는 시간, 마지막 S8에서 하루를 한 장으로 모읍니다.
[워크시트 연결] 각 세션의 실습 번호와 워크시트 탭 번호가 같습니다 — S3의 실습은 워크시트 '실습 3' 탭에.
[강조] 오후 S5부터 Terminal이 시작됩니다. 오전 S3의 '주소'가 그 재료이므로 오전을 놓치면 오후가 힘들어집니다 — 오전에 집중.
[전환] 마지막 준비물 — 워크시트 사용법.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오늘의 규칙 한 문장 — '예측 먼저, 화면은 검산'. 워크시트에 먼저 손으로 답을 적고 채점해서 잠근 뒤, 애니메이션과 실제 Terminal로 확인합니다. 화면을 보고 베끼면 배우는 게 없습니다.
[시연 2분] 워크시트를 화면에 띄워 탭 이동 → 아무 칸 입력 → 자동 저장(새로고침해도 유지) → 도구 ▶ 클릭으로 애니메이션 열기까지 한 번 보여줍니다.
[확인 방식] 실습마다 화면 하단 확인 문구에 번호로 응답받습니다 — 손가락 또는 채팅 숫자.
※ [강사 확정] 제출 채널·수업 규칙 확정 후 이 카드와 노트 갱신.
[전환] 워밍업 — 앞 과목 복습 미니 체크.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8분] 워크시트 '실습 1' 탭 → 부품마다 역할·비유 선택 → 채점하기(잠김). 앞 과목 기억을 소환하는 워밍업입니다 — 손·작업대·창고·출입구.
[채점 후] 틀린 칸 옆에 바른 답이 표시됩니다. 그 상태로 '부품 복습 퍼즐' 애니메이션을 열어 드래그로 손을 풀게 합니다(2분).
[확인] 화면 문구대로 번호 응답. ②③이 많으면 4대 부품 요약을 30초 재설명 — CPU는 일하는 손, Memory는 작업대, Storage는 창고, I/O는 출입구.
[전환 멘트] "부품은 준비됐습니다. 그런데 이 넷에게 일을 시키고 자원을 나눠 주는 건 누구일까요?" → S2.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이 시간의 도착점을 읽습니다 — 결과물은 'OS 정보 메모 1장'. 거창하지 않지만, 내 컴퓨터의 관리인이 누구인지 이름을 확인하는 첫 인사입니다.
[예고] 이 시간에는 정의보다 '부재'를 먼저 봅니다 — OS가 없으면 무슨 일이 벌어지는지 시뮬레이터로.
[전환] OS의 정의로.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4분] 3층 그림을 위에서 아래로 읽습니다. 프로그램(위)이 하드웨어(아래)를 쓰려면 반드시 가운데 OS를 거칩니다 — 은행 창구처럼, 손님(프로그램)이 금고(하드웨어)를 직접 열 수 없습니다.
[정의] OS = 하드웨어 자원을 관리하고 프로그램에 분배하는 '시스템 소프트웨어'. '시스템'이라는 말은 특정 작업용이 아니라 컴퓨터 전체를 위한 소프트웨어라는 뜻.
[종류 1분] Windows·macOS·Linux — 겉모습은 달라도 이 3층 구조는 같습니다. 부트캠프 후반 임베디드에서 Linux를 다시 만납니다.
[전환] "말로는 관리인이 중요하다는데, 없으면 진짜 무슨 일이 나는지 봅시다."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5분] 애니메이션을 열어 OS OFF 상태에서 music.exe → doc.exe 순서로 실행 — 4·5번 칸에서 💥 충돌을 보여줍니다. "관리자가 없으니 둘 다 좋은 자리(가운데)를 잡으려다 서로를 덮어썼습니다."
[대조] OS ON으로 바꿔 재실행 — 같은 요청인데 OS가 0~2번/4~6번을 나눠 배정해 충돌이 없습니다.
[짚기] 로그 창의 문장을 한 줄씩 읽어 줍니다. '배정'과 '회수'라는 단어를 강조 — 내일 Task Manager에서 이 장부를 직접 읽습니다.
[참여] 원하는 수강생 1명에게 직접 토글·실행을 시켜도 좋습니다(1분).
[전환] "관리인의 업무는 이것 말고도 세 가지가 더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네 업무를 왼쪽부터 소개하되, 배지를 짚습니다 — File System은 '오늘', Process·Memory는 '내일'. 3일 커리큘럼이 곧 OS의 업무 목록이라는 것을 보여주는 지도입니다.
[비유 연결] Memory 관리는 방금 충돌 실험에서 본 것. File System은 창고(Storage) 안을 선반과 라벨로 정리하는 일 — 다음 세션의 주제.
[가볍게] Device 관리는 오늘 깊이 들어가지 않습니다 — 키보드로 친 글자가 화면에 나오는 것도 OS의 중계라는 것만.
[전환] "그럼 이 관리인에게 어떻게 말을 걸까요? 방법이 두 가지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4분] 두 카드를 대조해 읽습니다. 중요한 것은 우열이 아니라 '같은 OS를 부르는 두 경로'라는 명제 — 오늘 마지막 실습(S7)에서 같은 폴더 구조를 두 방법으로 만들어 이 명제를 증명합니다.
[안심] CLI가 어렵다는 인상은 절반만 사실입니다 — 오늘 배우는 명령은 6개뿐이고, 전부 오전에 배운 '주소'를 인자로 쓰는 것입니다.
[동기] "폴더 100개를 만들어야 한다면?" 이 질문을 던져만 두고 답은 S7로 미룹니다.
[전환] "말 걸기 전에, 관리인의 이름부터 확인합시다" → 실습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8분] 앞 과목 S7에서 쓴 방법 그대로 — 검색창에 '시스템 정보' 또는 Win+R → msinfo32. 열리면 OS 이름·버전·빌드·시스템 종류 4칸을 워크시트 실습 2 탭에 옮겨 적습니다.
[순회] ③ 응답자를 우선 지원 — 대부분 검색어 오타이거나 권한 창. 화면 표기 '그대로' 적게 합니다(버전을 외워 적지 않기).
[한 줄 정리] 시간이 남으면 ② 한 줄 정리까지 — "OS는 ___와 ___ 사이에서 ___을 하는 소프트웨어다" 빈칸을 자기 말로.
[전환 멘트] "관리인의 이름을 확인했으니, 이제 관리인이 창고를 어떻게 정리하는지 — 주소 체계로 들어갑니다."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1분] 다음 시간은 오늘 하루의 기둥입니다 — path(주소)를 여기서 익혀야 오후 Terminal이 '외우기'가 아니라 '주소 쓰기'가 됩니다.
[휴식 안내] 10분 휴식. 워크시트 자동 저장되니 그냥 닫아도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도착점을 읽습니다 — '손으로 적은'이 핵심입니다. 애니메이션은 채점 후에만.
[동기] 주소를 쓸 줄 알면 오후의 cd 명령이 그냥 '주소를 글자로 말하기'가 됩니다.
[전환] 창고의 구조부터.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4분] 왼쪽 tree를 위에서 아래로 손가락으로 짚으며 읽습니다 — Drive(C:\)가 대문, 그 아래 가지가 뻗는 나무(tree) 구조. '폴더'와 'directory'는 같은 말이며 오늘부터는 directory로 통일합니다(CLI 용어).
[Home] C:\Users\student이 '내 방' — 앞으로 모든 실습의 출발점. 실제 PC에서는 student 자리에 각자 계정명이 들어갑니다.
[질문 던지기] "report.txt가 어디 있는지 말로 설명해 보세요" — '문서 폴더 안에요'는 사람 말. 컴퓨터의 말이 다음 장의 path입니다.
[전환] 주소 표기법으로.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4분] 검은 상자의 주소를 왼쪽부터 조각내어 읽습니다 — C:(Drive) \ Users \ student \ Documents \ report.txt. '어디서 읽어도 같은 파일'이라는 성질을 강조 — 도로명 주소 비유.
[시연 3분] Tree 탐험기를 열어 Documents → report.txt를 클릭 — 상단 path가 한 조각씩 조립되는 것을 보여줍니다. 다른 파일 하나 더(sea.jpg).
[함정 예고] separator는 역슬래시(\)입니다 — 한글 키보드에서는 ₩로 보이기도 하는데 같은 키입니다.
[전환] "그런데 매번 이 긴 주소를 다 적어야 할까요?" → 상대 경로.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5분] 시나리오로 설명 — "지금 Downloads에 서 있습니다. 옆방 Documents의 report.txt로 가려면?" ..으로 한 칸 올라가(student) → Documents로 내려가 → 파일. 그래서 ..\Documents\report.txt.
[대조] 같은 파일의 절대 경로(앞 장)와 나란히 비교 — 절대는 어디서나 같고, 상대는 기준 따라 달라진다.
[시연 2분] 주소 조립 게임 라운드 2를 함께 — 오답 조각(C:, student, .)을 일부러 눌러 '왜 아닌지' 메시지를 읽어 줍니다.
[전환] 마지막 표기 규칙 하나 — separator.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두 카드를 대조 — Windows는 \와 C:, macOS·Linux는 /와 루트(/). 인터넷 예제 코드가 /로 되어 있어 헷갈리는 지점이니 지금 각인.
[규칙] 금지 문자 목록을 읽고, 공백 이름의 따옴표는 S6에서 직접 실험한다고 예고.
[전환] "이제 손으로 주소를 써 볼 차례" → 실습 3. 애니메이션은 채점 전 금지임을 다시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10분] 워크시트 실습 3 탭 — Tree 그림만 보고 ①report.txt ②sea.jpg ③notepad.exe 절대 경로, ④Downloads 기준 report.txt 상대 경로. 다 적으면 채점(잠김).
[검산 5분] 채점 후 Tree 탐험기의 검산 프리셋 ①~④를 눌러 같은 파일의 path와 내 답을 대조 — 특히 틀린 칸.
[흔한 오답] separator를 /로 씀 · student를 빠뜨림 · ④에서 C:부터 시작(상대인데 절대로 씀). 오답 유형을 전체에 공유.
[전환 멘트] "주소는 됐습니다. 그런데 파일 이름 뒤에 붙는 글자 — .txt, .exe — 저건 뭘까요?" → 점심 후 S4 예고로.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1분] 점심 맛있게 드시고 13:00 정각 시작. 오후 첫 시간은 가볍게 — 확장자 룰렛과 위장 파일 사냥 게임이 있습니다.
[당부] 오후에 실제 PC 설정(확장자 표시)을 만집니다 — 노트북 지참자는 충전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점심 후 첫 시간 — 도착점을 읽고, 오늘의 명제를 칠판(또는 화면)에 적어 둡니다: '확장자 = 해석 방법'. 이 시간이 끝날 때 이 문장을 자기 말로 쓸 수 있어야 합니다.
[전환] 파일 이름의 구조부터.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이름의 두 부분 — 점 앞(이름)과 점 뒤(확장자, extension). OS는 확장자를 보고 '어느 프로그램으로 열지'를 결정합니다 — 더블클릭 한 번에 메모장/뷰어/플레이어가 알아서 열리는 이유.
[훑기] 카드 4장을 빠르게 — 문서·이미지·미디어·압축/실행. .py는 Day 3 이후 프로그래밍 언어 과목의 예고편.
[질문] ".txt를 .jpg로 바꾸면 사진이 될까요?" 손 들어 보게 한 뒤 답은 다음 장 룰렛으로.
[전환] 룰렛 시연으로.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5분] 룰렛을 열고 .txt(정상)부터 — 그 다음 .jpg를 눌러 '파일을 열 수 없습니다'를 보여줍니다. "파일이 망가진 게 아닙니다 — 그림으로 읽으려 하니 실패한 것뿐." .zip(손상 취급), .exe(실행 거부)까지.
[각인] 화면 왼쪽 바이트 카드가 한 번도 변하지 않았음을 마지막에 짚습니다 — 오늘의 명제 완성.
[Day 2 연결] "글자·사진·음악이 전부 숫자로 저장된다"던 컴퓨터 구조 Day 2와 이어지는 얘기 — 같은 숫자를 다르게 읽는 것.
[전환] "이 성질을 악용하면 위장이 됩니다" → 보안.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5분] 사냥 게임을 열어 표시 OFF 상태에서 수강생들에게 '어느 게 수상한가' 물어봅니다 — 대부분 못 맞힙니다(의도된 실패). 그 다음 표시 ON — .pdf.exe가 드러나는 순간의 반응을 활용.
[생활 보안] 메일 첨부의 '이력서', '견적서'가 이 수법의 단골 — 진짜 확장자를 끝까지 읽는 습관.
[숨김 파일 1분] 표시 옵션 옆의 '숨긴 항목'도 소개 — OS가 감춘 설정·시스템 파일이 있고, pagefile.sys 같은 시스템 파일은 절대 수정·삭제 금지. (별도 슬라이드 없이 여기서 구두 처리)
[전환] 실습 4로.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12분] 1단계: 워크시트 실습 4에서 5개 파일의 확장자·형식을 예측 → 채점(잠김). 2단계: 실제 PC File Explorer → 보기 → 표시 → '파일 확장명' 체크 → Documents의 실제 파일로 '여는 프로그램' 칸 기록.
[순회] ③ 응답자는 Windows 11 리본 위치를 못 찾는 경우가 대부분 — 보기 메뉴 경로를 화면에 다시 띄워 줍니다.
[한 줄 정리] ② 자유 서술 — "확장자를 바꾸면 파일의 ___이 아니라 ___이 바뀐다"를 자기 말로.
[전환 멘트] "파일의 세계는 여기까지. 이제 관리인에게 '글자로' 말을 걸 시간입니다" → S5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1분] 드디어 Terminal — 겁먹을 것 없습니다. 오늘 배울 명령은 탐색 3개 + 조작 5개가 전부이고, 인자는 전부 오전의 path입니다.
[휴식] 10분.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도착점 읽기. 이 시간의 순서 — 개념(Terminal/Shell) → Prompt 읽기 → 명령 3개 → 가상 Terminal 검산 → 실제 Terminal 인사.
※ [강사 확정] Shell(CMD/PowerShell) 확정 시 이 세션 슬라이드의 표기 일괄 고정.
[전환] 용어 구분부터.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4분] 3층 왕복 그림 — S2의 3층(프로그램/OS/하드웨어)과 같은 화법입니다. Terminal은 '창'일 뿐이고, 해석은 Shell이, 실행은 OS가 합니다.
[용어] 우리가 배울 Shell은 CMD [강사 확정: 또는 PowerShell]. bash는 Linux에서 다시 만납니다.
[비유] 외국 은행 창구 — 창구(Terminal)에 쪽지를 내면 통역(Shell)이 은행원(OS)에게 전달하고, 답이 같은 길로 돌아옵니다.
[전환] "창을 열면 제일 먼저 보이는 것 — Prompt."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4분] 검은 화면을 무서워하지 않는 첫걸음 — Prompt는 질문이 아니라 '자기소개'입니다. C:\Users\student&gt; 는 "나는 지금 student 방에 서 있다"는 뜻.
[습관 2개] Tab 자동완성과 ↑ 히스토리를 지금 각인 — 오타의 90%가 이 둘로 예방됩니다.
[구조] '명령어 [옵션] [인자]' 틀을 소개 — cd C:\Users 에서 cd가 명령어, 주소가 인자. 오전에 배운 path가 인자 자리에 들어간다는 것.
[전환] "그럼 첫 세 마디를 배웁시다."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5분] 세 명령을 '대화'로 소개 — 묻기(cd/pwd: 나 어디야?), 보기(dir/ls: 여기 뭐 있어?), 움직이기(cd 주소: 저기로 가자). cd의 인자가 바로 오전의 path — 절대든 상대든 그대로.
[시연 3분] 가상 Terminal에서 cd Documents → dir → cd .. → cd C:\Windows 순서로 미니맵 마커가 움직이는 것을 보여줍니다. 일부러 오타 한 번(cd Documnets) — 에러 메시지와 점검 루틴 소개.
[에러 루틴] 화면 오른쪽 문구를 소리 내어 — 오타 → separator → 따옴표, 항상 이 순서.
[전환] 실습 5로 — "먼저 기억으로 적고, 그 다음 가상 Terminal로 검산."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15분] 3단계로 — (1) 워크시트 실습 5 ①의 4칸을 기억으로 채우고 채점. (2) 가상 Terminal을 열어 같은 명령을 실제 입력, 미션 3곳(trip·Windows·Documents) 방문. (3) 실제 Terminal(검색→cmd)을 열어 Prompt를 ②에 옮겨 적고 화면 캡처.
[순회] ③ 응답자는 대부분 separator(/)나 공백 문제 — 에러 진단기 5문항을 처방으로.
[여유자] 에러 진단기까지 완료하게 합니다.
[전환 멘트] "묻고 보고 움직였으니, 다음은 만들고 옮기는 것 — 진짜 '조작'입니다."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1분] 다음 시간부터 File System을 실제로 바꿉니다. 되돌릴 수 없는 명령(del)이 등장하니 '미리보기 → 실행' 습관을 배웁니다.
[휴식] 10분.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도착점 읽기 — 이번에도 '손으로 먼저'. 조작 명령은 실수하면 파일이 진짜 움직이므로, 예측 습관이 안전 습관입니다.
[전환] 5개 명령 한 판으로.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6분] 다섯 줄을 위에서 아래로 — 각 명령의 인자 구조(원본 → 대상)를 짚습니다. copy와 move의 차이는 '원본이 남는가' 한 가지. ren은 '같은 directory 안으로의 move' — 그래서 이동과 이름 변경이 같은 명령 계열입니다.
[시연 4분] 명령 미리보기에서 ① mkdir을 미리보기(점선) → 실행 순서로 — "실행 전에 결과를 그림으로 예측하는 습관"을 강조. ③move와 ④ren을 연달아 재생해 같은 원리 대조.
[전환] "그런데 이름에 공백이 있으면?" → 따옴표 실험.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4분] 실험실을 열어 따옴표 OFF로 실행 — 토큰이 [My][Folder]로 잘리는 애니메이션과 폴더 2개 결과. ON으로 재실행해 1개 정상. 두 번 반복해서 대조.
[원리] "Shell은 눈이 없습니다 — 공백만 보고 자릅니다." S3에서 예고한 규칙의 실증.
[실전] 파일명에 공백을 아예 안 쓰는 것도 개발자들의 흔한 선택(밑줄_사용) — 참고로만.
[전환] "마지막 명령 del — 이건 경고부터."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좌우 대조 — GUI 삭제는 휴지통(되돌림 가능), del은 통과(즉시 소멸). 명령 미리보기의 ⑤del 탭에서 '⚠ 복원 불가' 점선을 다시 보여줘도 좋습니다.
[습관 각인] 'del 전에 dir' — 워크시트 실습 6 ② 서술 문항이 바로 이 습관의 이유를 자기 말로 쓰는 것.
[안심] 오늘 실습은 가상·미리보기 환경이라 안전합니다. 실제 PC에서 del을 쓸 일이 생기면 오늘의 습관대로.
[전환] 실습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12분] 워크시트 실습 6 — C:\work 기준 5개 작업의 명령을 손으로 적고 채점(잠김). 그 다음 명령 미리보기 탭 ①~⑤를 순서대로 재생해 내 답과 결과를 대조. ⑤(공백 이름)는 따옴표 실험실에서 이유까지.
[흔한 오답] copy 인자 순서 뒤집기 · ren에 경로 붙이기 · 따옴표 누락. 채점 후 '→ 바른 답'을 보고 대조.
[서술] ② del 전 확인 습관과 이유를 자기 말로 — 다음 시간 실전에서 그대로 씁니다.
[전환 멘트] "명령 6개가 손에 들어왔습니다. 이제 오늘의 메인 이벤트 — 같은 과제를 두 방법으로."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1분] 다음 시간은 오늘 배운 전부를 쓰는 재구성 과제 — 두 창구 명제의 증명 시간입니다.
[휴식] 10분.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도착점 읽기 — 오늘의 메인 실습입니다. 규칙은 하나: 같은 결과물을 두 방법으로, 각각 시간을 재면서.
[전환] 과제 구조 공개.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[안내 3분] 과제 구조를 소리 내어 — directory 3개(docs·photos·backup) + report.txt를 backup에 복사. 1회차는 GUI만, 2회차는 CLI만. 각 회차 시작·끝 시각을 스스로 기록(휴대폰 스톱워치 가능).
[기록 규칙] CLI에서 친 명령을 워크시트 ②에 실행 순서 그대로 — 채점이 이 기록을 검사합니다.
[캡처] 두 결과 화면 캡처 2장은 별도 채널 제출 [강사 확정].
※ [강사 확정] 과제 구조 확정 시 이 슬라이드·워크시트·애니메이션의 구조를 함께 교체.
[전환] 시작 전 1분 — 경주 시범을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3분] 동시 재생 경주를 실행 — 좌(GUI 클릭 로그)와 우(CLI 타이핑)가 같은 결과물에 도달하는 것을 타이머·카운터와 함께 보여줍니다.
[포인트] '누가 이겼나'보다 '무엇이 반복되나'를 보게 합니다 — GUI는 클릭이, CLI는 타이핑이 반복. 이 관찰이 회고 질문의 씨앗.
[전환] "이제 여러분 차례 — 실습 시작."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18분] 개별 진행 — GUI 회차(예상 3분) → CLI 회차(예상 5분) → 워크시트 기록·채점. 채점이 mkdir docs/photos/backup + copy report.txt의 4요소를 ✅/❌로 알려줍니다.
[순회] ② 응답자는 대부분 copy 인자 순서 또는 backup\ 누락 — 에러 메시지를 함께 읽고 점검 루틴(오타→separator→따옴표) 적용.
[회고 5분] 완료자부터 100배 스케일 슬라이더를 1→100으로 — ③ 회고("100개라면?")를 자기 말로. Script 실루엣이 나오면 "저건 Day 3에 엽니다."
[전환 멘트] "이제 하루를 한 장으로 모을 시간입니다."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30초] 마지막 시간 — 제출과 확인 퀴즈 3문제. 휴식 후 정시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마지막 시간의 순서 — 대응표 작성·채점 → 카드로 재확인 → 짝 설명 → 완료 화면 제출 → 확인 퀴즈 3문제.
[전환] 대응표부터.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8분] 워크시트 실습 9 ①의 5칸을 먼저 채우고 채점(잠김) — 그 다음 이 화면(또는 뒤집기 카드)으로 확인합니다. ② '오늘의 한 문장'까지.
[짝 설명 5분] 짝에게 "GUI와 CLI가 같은 OS를 부르는 두 창구인 이유"를 1분씩 서로 설명 — 설명을 마친 사람만 워크시트 체크 → 도착점 완료 화면.
[제출] 완료 화면(하루 전체 요약 포함)을 인쇄/PDF — 제출 채널 [강사 확정].
[전환] 아침의 약속 확인으로.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[의식 2분] 아침의 도착점 문장을 다시 띄우고 함께 읽습니다 — "해냈습니다." 하루의 산출물 7개(복습 시트→OS 메모→Path→확장자→Terminal→CLI→기록지)가 전부 비교표의 재료였음을 한 호흡으로 정리.
[격려] 오늘 아침까지 Terminal을 한 번도 안 열어 본 분들이 지금 명령 6개로 폴더 구조를 만들었습니다 — 그 간극이 오늘의 성취.
[전환] Day 2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1분] 내일은 '파일이 살아나는 순간' — Process. 오늘 만든 파일을 더블클릭하면 창고에서 작업대로 올라오고, 그 장부(Task Manager)를 읽고 개입하는 법을 배웁니다. 컴퓨터 구조의 창고→작업대 비유가 그대로 돌아옵니다.
[남은 순서] 확인 퀴즈 3문제로 마무리 — 워크시트 채점과 무관한 가벼운 손들기 퀴즈.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2분] 손들기 또는 번호 응답 — 10초 세고 공개.
[정답] ② 절대 경로 — Root(C:\)부터 전체를 적는 표기.
[오답 해설] ①상대 경로는 ..이나 현재 위치 기준 표기(C:부터 시작하지 않음) / ③확장자는 이름 뒤 .txt 부분만 / ④Prompt는 Terminal이 보여주는 현재 위치 표시.
[재확인 포인트] ②③이 갈린다면 S3 절대·상대 슬라이드를 10초 재노출.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2분] 응답 후 공개.
[정답] ③ move — 원본이 원래 자리에서 사라지고 대상으로 이동.
[오답 해설] ①copy는 복사→붙여넣기(원본 유지) / ②del은 삭제(이동 아님) / ④ren은 자리 이동 없는 이름 변경.
[연결] "ren은 같은 directory 안으로의 move"라는 오늘의 문장을 한 번 더 — ④를 고른 사람이 있다면 절반은 맞은 셈이라고 격려.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2분] 마지막 문제 — 응답 후 공개.
[정답] ① 여는 프로그램 — 확장자는 「해석 방법」, 즉 OS가 어느 프로그램으로 열지를 결정. 내용(바이트)은 확장자를 바꿔도 그대로(룰렛 실험).
[오답 해설] ②내용은 확장자와 무관하게 고정 / ③크기·④저장 위치는 이름과 상관없음.
[마무리 멘트] 세 문제의 답 ②→③→① — 오늘의 세 기둥(주소·명령·확장자)이었습니다. 완료 화면 제출 확인 후 해산, 내일 9시에 만나요.
[퀴즈 규칙 메모] 정답 분포 ②③① 분산 · 정답이 가장 긴 보기 아님 · 오답은 명백히 다른 개념 — 규칙 준수 확인됨.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anim/parts_puzzle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anim/os_memory_conflict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anim/os_memory_conflict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anim/fs_tree_explorer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anim/path_builder_game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anim/fs_tree_explorer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anim/path_builder_game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anim/extension_roulette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anim/disguised_file_hunt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anim/extension_roulette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hyperlink" Target="anim/disguised_file_hunt.html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anim/virtual_terminal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hyperlink" Target="anim/error_doctor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anim/virtual_terminal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hyperlink" Target="anim/error_doctor.html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anim/command_preview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anim/quote_lab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anim/command_preview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hyperlink" Target="anim/quote_lab.html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anim/gui_cli_race.html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anim/gui_cli_race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hyperlink" Target="anim/scale_100x.html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anim/mapping_flashcards.html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운영체제 활용 · 3일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과정의 도착점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3일 뒤에 할 수 있는 일, 한 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7830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E2761"/>
                </a:solidFill>
              </a:rPr>
              <a:t>Terminal 명령 여러 줄을 Script 파일 하나로 묶어 실행하면,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E2761"/>
                </a:solidFill>
              </a:rPr>
              <a:t>폴더 생성부터 파일 정리·결과 기록까지 한 번에 끝나는 것을 화면에서 직접 짚어 보인다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86384" y="377647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Day 1 · File System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33672"/>
            <a:ext cx="29992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directory · path · GUI vs CLI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361188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581144" y="377647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Day 2 · Process · 자원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4233672"/>
            <a:ext cx="29992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Task Manager · Memory 관찰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361188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375904" y="377647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Day 3 · Script 자동화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4233672"/>
            <a:ext cx="29992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명령 여러 줄 = 프로그램의 원형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BB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0839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B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BB8"/>
                </a:solidFill>
              </a:rPr>
              <a:t>오늘은 첫 칸 — 파일이 사는 세계와, OS에게 말을 거는 두 가지 방법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Day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관리인을 만난다 — File System과 두 개의 창구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눈에 보이는 것부터: 파일의 주소 체계, 그리고 마우스와 키보드라는 두 개의 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213055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24328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부품과 프로그램 사이의 관리인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621024" y="213055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GUI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2624328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File Explorer — 마우스로 말 걸기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455664" y="213055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CLI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624328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Terminal — 글자로 말 걸기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196596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9290304" y="213055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Path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290304" y="2624328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파일의 주소 — 절대 · 상대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2761"/>
                </a:solidFill>
              </a:rPr>
              <a:t>오늘의 제출물: GUI–CLI 비교표 1장 (워크시트 실습 9)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BB8"/>
                </a:solidFill>
              </a:rPr>
              <a:t>같은 폴더 구조를 두 방법으로 만들어 보고, 두 창구가 같은 OS를 부른다는 것을 몸으로 확인합니다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Day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오늘의 시간표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50분 수업 + 10분 휴식 · 점심 12:00~13:00 · 각 실습은 워크시트의 같은 번호 칸에 기록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09:00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20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S1 · 오프닝 — 3일의 지도와 OS의 등장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10:00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788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S2 · Operating System — 하드웨어와 프로그램 사이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3657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11:00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657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S3 · File System — Drive · Tree · Path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45262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AA6C8"/>
                </a:solidFill>
              </a:rPr>
              <a:t>12:00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4526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6C8"/>
                </a:solidFill>
              </a:rPr>
              <a:t>점심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39496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53949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13:00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394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S4 · 확장자와 숨김 파일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92024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583680" y="19202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14:00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1920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S5 · Terminal 첫 대면 — Shell · Prompt · 탐색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278892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583680" y="27889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15:00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2788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S6 · CLI로 만들고 다루기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55080" y="365760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583680" y="3657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16:00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3657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S7 · 같은 구조를 두 번 — GUI vs CLI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52628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583680" y="45262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17:00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4526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S8 · 종합 — GUI–CLI 비교표 제출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Day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수업 규칙 · 워크시트 사용법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오늘의 규칙 — 예측 먼저, 화면은 검산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57784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203911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디지털 워크시트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예측 칸은 애니메이션·Terminal을 열기 전에 채운다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「채점하기」를 누르면 예측 칸이 잠기고, 틀린 칸 옆에 바른 답 표시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답은 브라우저에 자동 저장 — 창을 닫아도 유지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각 실습의 도구 ▶ 링크가 애니메이션을 새 창으로 연다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완료 화면에는 점수 + 내가 쓴 내용 전문이 표시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92824" y="203911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확인 · 제출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46888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실습마다 확인 문구에 번호로 응답 (①②③)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실습 9(도착점) 완료 화면 = 하루 전체 요약 → 인쇄/PDF 제출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캡처 제출물(Terminal·비교 캡처)은 별도 채널 업로드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제출 채널 · 수업 규칙 상세: [강사 확정]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4대 부품 복습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실습 1 탭에서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부품 4개의 역할·비유를 선택해 채점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채워진 복습 시트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(자동 채점 8칸)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parts_puzzle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parts_puzzl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부품 복습 퍼즐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8칸 다 맞았다 ② 일부 틀렸다 ③ 모르겠다 — 번호로”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10:00 · S2 Operating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내 PC의 시스템 정보에서 OS 이름·버전·빌드를 찾아 옮겨 적은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OS 정보 메모 1장을 완성한다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S1에서 던진 질문 — “부품에게 일을 시키는 건 누구인가” — 의 답을 오늘 처음 만납니다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S2 Operating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OS의 정의 — 하드웨어와 프로그램 사이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011680" y="1783080"/>
            <a:ext cx="8138160" cy="1188720"/>
          </a:xfrm>
          <a:prstGeom prst="roundRect">
            <a:avLst>
              <a:gd name="adj" fmla="val 692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2249424" y="194767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프로그램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249424" y="2313432"/>
            <a:ext cx="7662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chrome.exe · music.exe · 여러분이 만들 프로그램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3200400"/>
            <a:ext cx="813816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2249424" y="336499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Operating System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49424" y="3730752"/>
            <a:ext cx="7662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자원을 관리하고 프로그램에 분배하는 시스템 소프트웨어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4617720"/>
            <a:ext cx="8138160" cy="1188720"/>
          </a:xfrm>
          <a:prstGeom prst="roundRect">
            <a:avLst>
              <a:gd name="adj" fmla="val 692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249424" y="478231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하드웨어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5148072"/>
            <a:ext cx="7662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CPU · Memory · Storage · I/O — 컴퓨터 구조에서 배운 4대 부품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BB8"/>
                </a:solidFill>
              </a:rPr>
              <a:t>프로그램은 하드웨어를 직접 만지지 않는다 — 반드시 OS를 거친다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S2 Operating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OS가 없다면 — Memory 충돌 실험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프로그램 두 개가 같은 Memory를 원할 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577840" cy="3017520"/>
          </a:xfrm>
          <a:prstGeom prst="roundRect">
            <a:avLst>
              <a:gd name="adj" fmla="val 272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208483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OS OFF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514600"/>
            <a:ext cx="510235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두 프로그램이 스스로 자리를 잡음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→ 같은 칸을 덮어씀 → 💥 충돌·정지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257800" cy="3017520"/>
          </a:xfrm>
          <a:prstGeom prst="roundRect">
            <a:avLst>
              <a:gd name="adj" fmla="val 272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92824" y="208483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OS 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592824" y="2514600"/>
            <a:ext cx="478231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실행 요청 → OS가 빈 구획 확인 → 서로 다른 구획 배정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→ 둘 다 정상 동작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365760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hlinkClick r:id="rId3" tooltip="anim/os_memory_conflict.html"/>
          </p:cNvPr>
          <p:cNvSpPr txBox="1"/>
          <p:nvPr/>
        </p:nvSpPr>
        <p:spPr>
          <a:xfrm>
            <a:off x="548640" y="5257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os_memory_conflic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OS가 없다면 (Memory 충돌)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525780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B8"/>
                </a:solidFill>
              </a:rPr>
              <a:t>같은 실험을 OFF → ON 순서로 두 번 — 워크시트 실습 2 「한 줄 정리」의 재료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S2 Operating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OS의 4가지 관리 업무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오늘과 내일, 이 지도 위의 위치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208483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File System 관리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788920"/>
            <a:ext cx="213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파일을 tree로 정리, path로 찾기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450592"/>
            <a:ext cx="914400" cy="27432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오늘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621024" y="208483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Process 관리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2788920"/>
            <a:ext cx="213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실행 중인 프로그램에 CPU 배분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621024" y="2450592"/>
            <a:ext cx="9144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내일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455664" y="208483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Memory 관리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2788920"/>
            <a:ext cx="213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구획 배정과 회수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450592"/>
            <a:ext cx="9144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내일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192024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9290304" y="208483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Device(I/O) 관리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2788920"/>
            <a:ext cx="213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키보드 입력 → 화면 출력 중계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B8"/>
                </a:solidFill>
              </a:rPr>
              <a:t>네 업무 모두 방금 본 3층 그림의 가운데 층에서 벌어진다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S2 Operating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GUI와 CLI — 같은 OS를 부르는 두 창구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577840" cy="2880360"/>
          </a:xfrm>
          <a:prstGeom prst="roundRect">
            <a:avLst>
              <a:gd name="adj" fmla="val 285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03911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GUI — Graphical User Interface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96312"/>
            <a:ext cx="510235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File Explorer · 마우스 클릭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보이는 대로 조작 — 배우기 쉬움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반복 작업에는 손이 많이 감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74520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03911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CLI — Command Line Interface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496312"/>
            <a:ext cx="478231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Terminal · 키보드 명령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글자로 정확히 지시 — 처음엔 낯섦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반복·자동화·원격에 압도적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</a:rPr>
              <a:t>핵심 명제 — 두 창구는 결국 같은 OS 기능을 부른다. 오늘 하루가 이 문장의 증명이다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BB8"/>
                </a:solidFill>
              </a:rPr>
              <a:t>개발자가 CLI를 쓰는 이유(반복·자동화)는 S7과 Day 3에서 몸으로 확인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내 OS 정보 메모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시스템 정보(msinfo32)를 열어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OS 이름·버전·빌드·시스템 종류를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워크시트에 그대로 옮겨 적기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OS 정보 메모 1장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(기록형 · 채점 없음)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os_memory_conflict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os_memory_conflic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OS가 없다면 (복습용)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4칸 다 채웠다 ② 일부만 채웠다 ③ 창을 못 열었다 — 번호로”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관리인의 창고에는 주소가 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S3 · File System — Drive · Tree · Path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모든 파일에는 주소가 있습니다. 그 주소를 읽는 법과 쓰는 법 — 오후 Terminal의 전 재료가 이 시간에 만들어집니다.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11:00 · S3 File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Directory Tree만 보고 절대 경로 3개 + 상대 경로 1개를 손으로 적은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Path 워크시트 1장을 완성한다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채점 후 Tree 탐험기에서 같은 파일을 클릭해 내 답과 화면의 path를 대조합니다 — 예측 먼저, 화면은 검산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S3 File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File System의 뼈대 — Drive · Root · Tree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4114800"/>
          </a:xfrm>
          <a:prstGeom prst="roundRect">
            <a:avLst>
              <a:gd name="adj" fmla="val 222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  (Drive · Root)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Users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student   (Home Directory)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 Documents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 ├─ report.txt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 └─ memo.txt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 Downloads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 Pictures ─ trip ─ sea.jpg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Windows ─ notepad.exe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1783080"/>
            <a:ext cx="4754880" cy="1280160"/>
          </a:xfrm>
          <a:prstGeom prst="roundRect">
            <a:avLst>
              <a:gd name="adj" fmla="val 642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095744" y="194767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Drive와 Root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095744" y="2286000"/>
            <a:ext cx="4279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C:\ — 창고의 대문. 모든 주소가 여기서 출발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3200400"/>
            <a:ext cx="4754880" cy="1280160"/>
          </a:xfrm>
          <a:prstGeom prst="roundRect">
            <a:avLst>
              <a:gd name="adj" fmla="val 642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095744" y="336499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Directory = 폴더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095744" y="3703320"/>
            <a:ext cx="4279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CLI에서는 directory라 부름 — 같은 것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0" y="4617720"/>
            <a:ext cx="4754880" cy="1280160"/>
          </a:xfrm>
          <a:prstGeom prst="roundRect">
            <a:avLst>
              <a:gd name="adj" fmla="val 642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095744" y="478231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Home Directory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095744" y="5120640"/>
            <a:ext cx="4279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C:\Users\&lt;사용자명&gt; — 이후 모든 실습의 기준점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S3 File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절대 경로 — Root부터 전체 주소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Absolute Path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8288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C:\Users\student\Documents\report.txt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6F"/>
                </a:solidFill>
              </a:rPr>
              <a:t>Root(C:\)에서 파일까지 가는 길을 separator(\)로 이어 적는다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6F"/>
                </a:solidFill>
              </a:rPr>
              <a:t>어디서 읽어도 같은 파일을 가리킨다 — 전국 어디서나 통하는 도로명 주소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6F"/>
                </a:solidFill>
              </a:rPr>
              <a:t>규칙: Drive부터 시작 · directory 이름을 순서대로 · 마지막이 파일명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521208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hlinkClick r:id="rId3" tooltip="anim/fs_tree_explorer.html"/>
          </p:cNvPr>
          <p:cNvSpPr txBox="1"/>
          <p:nvPr/>
        </p:nvSpPr>
        <p:spPr>
          <a:xfrm>
            <a:off x="548640" y="52120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fs_tree_explore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Tree 탐험기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521208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B8"/>
                </a:solidFill>
              </a:rPr>
              <a:t>노드를 클릭할 때마다 상단 path가 실시간으로 조립됩니다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S3 File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상대 경로 — 지금 위치가 기준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Relative Path · Working Directory · ..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577840" cy="3017520"/>
          </a:xfrm>
          <a:prstGeom prst="roundRect">
            <a:avLst>
              <a:gd name="adj" fmla="val 272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지금 위치 (Working Directory)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23160"/>
            <a:ext cx="510235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C:\Users\student\Downloads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여기서 report.txt로 가려면?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25780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675120" y="21488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..\Documents\report.txt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  = 상위 directory로 한 칸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  = 지금 위치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</a:rPr>
              <a:t>같은 파일이라도 기준이 바뀌면 주소가 바뀐다 — 이것이 상대 경로의 전부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60520" y="5577840"/>
            <a:ext cx="38404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hlinkClick r:id="rId3" tooltip="anim/path_builder_game.html"/>
          </p:cNvPr>
          <p:cNvSpPr txBox="1"/>
          <p:nvPr/>
        </p:nvSpPr>
        <p:spPr>
          <a:xfrm>
            <a:off x="4160520" y="55778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path_builder_gam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주소 조립 게임 (절대→상대)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S3 File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Separator와 표기 규칙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OS마다 다른 길 표시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203911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Windows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41448"/>
            <a:ext cx="5102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C:\Users\student\...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역슬래시 \  ·  Drive 문자(C:)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92824" y="203911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macOS · Linux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592824" y="2441448"/>
            <a:ext cx="4782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/Users/student/...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슬래시 /  ·  Drive 문자 없이 /에서 시작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이름에 쓸 수 없는 문자:  \ / : * ? " &lt; &gt; |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공백이 든 이름은 따옴표로 감싼다 — "My Folder" (S6에서 실험)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대소문자 구분 여부는 OS마다 다름 — Windows 기본은 구분하지 않음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Path 작성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워크시트의 Tree만 보고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절대 경로 3개 + 상대 경로 1개를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손으로 적고 「채점하기」 (잠김)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Path 워크시트 1장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(자동 채점 4칸)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fs_tree_explorer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fs_tree_explore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Tree 탐험기 (검산)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hlinkClick r:id="rId4" tooltip="anim/path_builder_game.html"/>
          </p:cNvPr>
          <p:cNvSpPr txBox="1"/>
          <p:nvPr/>
        </p:nvSpPr>
        <p:spPr>
          <a:xfrm>
            <a:off x="379476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tooltip="anim/path_builder_gam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주소 조립 게임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4칸 다 맞았다 ② 일부 틀렸다 ③ 모르겠다 — 번호로”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이름 뒤 글자가 말해주는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S4 · 확장자와 숨김 파일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확장자는 파일의 내용이 아니라 「해석 방법」을 바꿉니다 — 그리고 문서로 위장한 실행 파일을 잡아내는 법까지.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13:00 · S4 확장자와 숨김 파일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파일 5개의 확장자·형식을 예측 채점하고, 내 PC에서 확장자 표시를 켜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「여는 프로그램」까지 채운 확장자 분류표 1장을 완성한다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핵심 명제 — 확장자는 내용이 아니라 「해석 방법」을 바꾼다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S4 확장자와 숨김 파일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S4 확장자와 숨김 파일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파일 이름의 구조 — 이름.확장자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468880" y="1783080"/>
            <a:ext cx="72237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2468880" y="178308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r>
              <a:rPr lang="en-US" sz="30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86384" y="33649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문서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767328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.txt  .pdf  .hwp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32004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621024" y="33649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이미지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3767328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.jpg  .png  .gif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55664" y="33649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미디어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767328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.mp3  .mp4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32004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290304" y="33649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압축·실행·코드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290304" y="3767328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.zip  .exe  .py 예고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확장자가 결정하는 것 — 이 파일을 어떤 프로그램으로 열(해석할) 것인가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S4 확장자와 숨김 파일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S4 확장자와 숨김 파일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확장자를 바꾸면 — 내용은 고정, 해석만 변경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926080"/>
          </a:xfrm>
          <a:prstGeom prst="roundRect">
            <a:avLst>
              <a:gd name="adj" fmla="val 281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고정된 것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23160"/>
            <a:ext cx="510235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파일의 실제 내용(바이트)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48 65 6C 6C 6F 20 4F 53 21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— 어떤 확장자로 바꿔도 그대로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2926080"/>
          </a:xfrm>
          <a:prstGeom prst="roundRect">
            <a:avLst>
              <a:gd name="adj" fmla="val 281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바뀌는 것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423160"/>
            <a:ext cx="478231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OS가 연결하는 프로그램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.txt→메모장 정상 · .jpg→해석 실패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.zip→손상 판정 · .exe→실행 거부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extension_roulette.html"/>
          </p:cNvPr>
          <p:cNvSpPr txBox="1"/>
          <p:nvPr/>
        </p:nvSpPr>
        <p:spPr>
          <a:xfrm>
            <a:off x="548640" y="50292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extension_roulett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확장자 룰렛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502920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B8"/>
                </a:solidFill>
              </a:rPr>
              <a:t>4가지 판정을 전부 돌려 봅니다 — 실패 판정이 곧 증거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S4 확장자와 숨김 파일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S4 확장자와 숨김 파일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위장 파일 — 이중 확장자의 함정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확장자 표시를 켜야 하는 이유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1828800"/>
            <a:ext cx="7223760" cy="1005840"/>
          </a:xfrm>
          <a:prstGeom prst="roundRect">
            <a:avLst>
              <a:gd name="adj" fmla="val 9091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2468880" y="182880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이력서.pdf</a:t>
            </a:r>
            <a:r>
              <a:rPr lang="en-US" sz="26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확장자 숨김(기본값) 상태에서는 「이력서.pdf」로만 보인다 — 아이콘까지 위장 가능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진짜 확장자는 맨 끝 — .exe면 실행 파일. 더블클릭 = 실행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대응: File Explorer에서 「파일 확장명」 표시 켜기 — 오늘 실습에서 실제로 켠다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hlinkClick r:id="rId3" tooltip="anim/disguised_file_hunt.html"/>
          </p:cNvPr>
          <p:cNvSpPr txBox="1"/>
          <p:nvPr/>
        </p:nvSpPr>
        <p:spPr>
          <a:xfrm>
            <a:off x="548640" y="50749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disguised_file_hun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위장 파일 찾기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507492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B8"/>
                </a:solidFill>
              </a:rPr>
              <a:t>1단계는 감으로(대부분 실패하도록 설계) → 2단계는 표시 켜고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S4 확장자와 숨김 파일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확장자 분류표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파일 5개의 확장자·형식을 예측 채점(잠김)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→ 내 PC에서 확장자 표시를 켜고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「여는 프로그램」 칸을 실물로 확인해 기록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확장자 분류표 1장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(채점 10칸 + 기록 5칸)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extension_roulette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extension_roulett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확장자 룰렛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hlinkClick r:id="rId4" tooltip="anim/disguised_file_hunt.html"/>
          </p:cNvPr>
          <p:cNvSpPr txBox="1"/>
          <p:nvPr/>
        </p:nvSpPr>
        <p:spPr>
          <a:xfrm>
            <a:off x="379476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tooltip="anim/disguised_file_hun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위장 파일 찾기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표시 켜고 다 채웠다 ② 예측만 했다 ③ 설정을 못 찾겠다 — 번호로”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S4 확장자와 숨김 파일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이제 글자로 말을 겁니다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S5 · Terminal 첫 대면 — Shell · Prompt · 탐색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오전에 익힌 주소(path)를 그대로 들고 갑니다 — cd는 그 주소를 글자로 말하는 것뿐입니다.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S4 확장자와 숨김 파일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14:00 · S5 Terminal 첫 대면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탐색 명령 4개를 기억으로 적어 채점하고, 가상 Terminal 미션 3곳을 방문한 뒤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실제 Terminal의 Prompt를 옮겨 적은 탐색 기록 1장을 완성한다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명령어 표기는 CMD 기준 (ls·pwd도 정답 처리) — [Shell 확정 시 고정]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S5 Terminal 첫 대면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S5 Terminal 첫 대면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Terminal과 Shell — 창과 통역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011680" y="1783080"/>
            <a:ext cx="8138160" cy="1143000"/>
          </a:xfrm>
          <a:prstGeom prst="roundRect">
            <a:avLst>
              <a:gd name="adj" fmla="val 72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2249424" y="194767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① Terminal (창)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2249424" y="2295144"/>
            <a:ext cx="7662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글자를 받고 보여주는 화면 — 입출력 창구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3154680"/>
            <a:ext cx="8138160" cy="1143000"/>
          </a:xfrm>
          <a:prstGeom prst="roundRect">
            <a:avLst>
              <a:gd name="adj" fmla="val 72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2249424" y="331927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② Shell (통역)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2249424" y="3666744"/>
            <a:ext cx="7662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입력된 글자를 「명령」으로 해석 — CMD · PowerShell · bash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4526280"/>
            <a:ext cx="8138160" cy="1143000"/>
          </a:xfrm>
          <a:prstGeom prst="roundRect">
            <a:avLst>
              <a:gd name="adj" fmla="val 72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249424" y="469087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③ OS (실행)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5038344"/>
            <a:ext cx="7662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해석된 요청을 File System에서 실제로 수행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BB8"/>
                </a:solidFill>
              </a:rPr>
              <a:t>dir 한 줄 → 창을 지나 → 통역이 해석 → OS가 수행 → 결과가 역순으로 화면에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S5 Terminal 첫 대면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S5 Terminal 첫 대면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Prompt 읽는 법 — 화면이 먼저 말을 건다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C1330"/>
          </a:solidFill>
          <a:ln w="12700">
            <a:solidFill>
              <a:srgbClr val="0C13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C:\Users\student&gt;</a:t>
            </a: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▮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Prompt 자체가 현재 Working Directory를 보여준다 — 나는 지금 어디에 서 있는가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&gt; 뒤가 내가 입력하는 자리 — Enter로 전송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Tab = 자동완성 · ↑ = 이전 명령 다시 — 오타를 줄이는 두 습관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명령의 일반 구조:  명령어 [옵션] [인자]  — 앞으로 만날 모든 명령을 읽는 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S5 Terminal 첫 대면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S5 Terminal 첫 대면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탐색 3종 — 묻고, 보고, 움직인다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69264"/>
          </a:xfrm>
          <a:prstGeom prst="roundRect">
            <a:avLst>
              <a:gd name="adj" fmla="val 8491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94767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cd  (인자 없이)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240280"/>
            <a:ext cx="10588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지금 어디인가 — 현재 위치 확인 (pwd)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1064240" cy="969264"/>
          </a:xfrm>
          <a:prstGeom prst="roundRect">
            <a:avLst>
              <a:gd name="adj" fmla="val 8491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86384" y="3118104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dir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410712"/>
            <a:ext cx="10588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여기 뭐가 있나 — 목록 보기 (ls)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1064240" cy="969264"/>
          </a:xfrm>
          <a:prstGeom prst="roundRect">
            <a:avLst>
              <a:gd name="adj" fmla="val 849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86384" y="4288536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cd &lt;path&gt;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4581144"/>
            <a:ext cx="10588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저기로 가자 — 절대·상대 경로 그대로 · cd .. 상위로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hlinkClick r:id="rId3" tooltip="anim/virtual_terminal.html"/>
          </p:cNvPr>
          <p:cNvSpPr txBox="1"/>
          <p:nvPr/>
        </p:nvSpPr>
        <p:spPr>
          <a:xfrm>
            <a:off x="548640" y="54864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virtual_terminal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가상 Terminal (미션 3곳)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548640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hlinkClick r:id="rId4" tooltip="anim/error_doctor.html"/>
          </p:cNvPr>
          <p:cNvSpPr txBox="1"/>
          <p:nvPr/>
        </p:nvSpPr>
        <p:spPr>
          <a:xfrm>
            <a:off x="4023360" y="54864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4" tooltip="anim/error_docto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에러 진단기 (5문항)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54864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B8"/>
                </a:solidFill>
              </a:rPr>
              <a:t>에러 점검 루틴: 오타·대소문자 → separator(\) → 공백·따옴표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S5 Terminal 첫 대면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Terminal 탐색 기록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목적 4개 → 명령어를 기억으로 적고 채점(잠김)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가상 Terminal에 직접 입력해 미션 3곳 방문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실제 Terminal을 열어 내 Prompt를 옮겨 적기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탐색 기록 1장 + 탐색 화면 캡처 1장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(캡처는 별도 채널 제출)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virtual_terminal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virtual_terminal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가상 Terminal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hlinkClick r:id="rId4" tooltip="anim/error_doctor.html"/>
          </p:cNvPr>
          <p:cNvSpPr txBox="1"/>
          <p:nvPr/>
        </p:nvSpPr>
        <p:spPr>
          <a:xfrm>
            <a:off x="379476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tooltip="anim/error_docto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에러 진단기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미션 3곳 다 갔다 ② 일부만 ③ 명령이 안 먹는다 — 번호로”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S5 Terminal 첫 대면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보는 것에서, 바꾸는 것으로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S6 · CLI로 만들고 다루기 — 생성·복사·이동·삭제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조작 명령 5개 — 그리고 휴지통 없이 사라지는 del의 경고까지.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S5 Terminal 첫 대면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15:00 · S6 CLI로 만들고 다루기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작업 5개 → 명령 한 줄을 손으로 적어 채점하고,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명령 미리보기로 결과를 대조한 CLI 조작 기록을 완성한다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현재 위치 C:\work 기준 · 미리보기(점선) → 실행(실체화) 2단계 습관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S6 CLI로 만들고 다루기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S6 CLI로 만들고 다루기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조작 5종 — 만들고 · 복사하고 · 옮기고 · 바꾸고 · 지운다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backup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64592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1508F"/>
                </a:solidFill>
              </a:rPr>
              <a:t>directory 생성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report.txt backup\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1508F"/>
                </a:solidFill>
              </a:rPr>
              <a:t>복사 — 원본 유지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29184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photo.jpg backup\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29184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1508F"/>
                </a:solidFill>
              </a:rPr>
              <a:t>이동 — 원본 사라짐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411480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 report.txt final.txt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11480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1508F"/>
                </a:solidFill>
              </a:rPr>
              <a:t>이름 변경 — 자리 이동 없는 move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final.txt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93776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1508F"/>
                </a:solidFill>
              </a:rPr>
              <a:t>삭제 — ⚠ 휴지통 없이 즉시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943600"/>
            <a:ext cx="356616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hlinkClick r:id="rId3" tooltip="anim/command_preview.html"/>
          </p:cNvPr>
          <p:cNvSpPr txBox="1"/>
          <p:nvPr/>
        </p:nvSpPr>
        <p:spPr>
          <a:xfrm>
            <a:off x="548640" y="59436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command_preview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미리보기 (5개 탭)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59436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BB8"/>
                </a:solidFill>
              </a:rPr>
              <a:t>탭 ①~⑤를 워크시트 순서 그대로 재생 — move와 ren이 같은 원리임을 대조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S6 CLI로 만들고 다루기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S6 CLI로 만들고 다루기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공백과 따옴표 — Shell이 자르는 순간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651760"/>
          </a:xfrm>
          <a:prstGeom prst="roundRect">
            <a:avLst>
              <a:gd name="adj" fmla="val 310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따옴표 없이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95728"/>
            <a:ext cx="5102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mkdir My Folder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→ 토큰: [mkdir][My][Folder]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→ directory 2개가 생겨 버림 ✗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따옴표 씌우고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95728"/>
            <a:ext cx="4782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mkdir "My Folder"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→ 토큰: [mkdir][My Folder]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→ directory 1개 정상 ✓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</a:rPr>
              <a:t>Shell은 공백을 인자 구분자로 읽는다 — 따옴표가 공백을 묶어 하나의 인자로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60520" y="5212080"/>
            <a:ext cx="38404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hlinkClick r:id="rId3" tooltip="anim/quote_lab.html"/>
          </p:cNvPr>
          <p:cNvSpPr txBox="1"/>
          <p:nvPr/>
        </p:nvSpPr>
        <p:spPr>
          <a:xfrm>
            <a:off x="4160520" y="52120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quote_lab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따옴표 실험실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S6 CLI로 만들고 다루기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S6 CLI로 만들고 다루기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del의 경고 — 휴지통이 없다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743200"/>
          </a:xfrm>
          <a:prstGeom prst="roundRect">
            <a:avLst>
              <a:gd name="adj" fmla="val 3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GUI 삭제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23160"/>
            <a:ext cx="510235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파일 → 휴지통으로 이동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복원 가능 — 되돌릴 수 있는 삭제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2743200"/>
          </a:xfrm>
          <a:prstGeom prst="roundRect">
            <a:avLst>
              <a:gd name="adj" fmla="val 3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392B"/>
                </a:solidFill>
              </a:rPr>
              <a:t>CLI del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423160"/>
            <a:ext cx="478231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E3B32"/>
                </a:solidFill>
              </a:rPr>
              <a:t>휴지통을 그대로 통과 → 즉시 소멸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E3B32"/>
                </a:solidFill>
              </a:rPr>
              <a:t>복원 경로 없음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그래서 습관 — del 전에 dir로 대상 확인, 그리고 미리보기로 결과 예측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S6 CLI로 만들고 다루기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CLI 조작 — 명령 작성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작업 5개(생성·복사·이동·이름변경·공백이름)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→ 명령 한 줄씩 손으로 적고 채점(잠김)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→ 명령 미리보기로 ①~⑤ 순서대로 대조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CLI 조작 기록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(자동 채점 5줄 + 서술 1)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command_preview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command_preview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미리보기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hlinkClick r:id="rId4" tooltip="anim/quote_lab.html"/>
          </p:cNvPr>
          <p:cNvSpPr txBox="1"/>
          <p:nvPr/>
        </p:nvSpPr>
        <p:spPr>
          <a:xfrm>
            <a:off x="379476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tooltip="anim/quote_lab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따옴표 실험실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5줄 다 맞았다 ② 일부 틀렸다 ③ 따옴표가 헷갈린다 — 번호로”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S6 CLI로 만들고 다루기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같은 결과물, 두 개의 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S7 · 같은 구조를 두 번 — GUI vs CLI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오전의 GUI와 오후의 CLI가 같은 과제 위에서 만납니다 — 시간을 재고, 100개라면 어떨지 상상하는 것까지.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S6 CLI로 만들고 다루기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16:00 · S7 같은 구조를 두 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과제 구조를 GUI로 1회 · CLI로 1회 만들고, 소요 시간과 사용 명령을 기록한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기록지(캡처 2장 포함)를 완성한다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채점은 내가 기록한 명령 기준 — 과제 4요소 포함 여부를 자동 확인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S7 GUI vs CLI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S7 GUI vs CLI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과제 구조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이 구조를 두 번 만듭니다  ·  [과제 구조는 강사 확정 시 교체]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035040" cy="3291840"/>
          </a:xfrm>
          <a:prstGeom prst="roundRect">
            <a:avLst>
              <a:gd name="adj" fmla="val 277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work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📁 docs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📁 photos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 📁 backup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 📄 report.txt (복사본)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1828800"/>
            <a:ext cx="4754880" cy="1508760"/>
          </a:xfrm>
          <a:prstGeom prst="roundRect">
            <a:avLst>
              <a:gd name="adj" fmla="val 5455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095744" y="199339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1회차 — GUI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095744" y="2359152"/>
            <a:ext cx="42793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File Explorer만으로 · 소요 시간 기록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3611880"/>
            <a:ext cx="4754880" cy="150876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095744" y="377647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2회차 — CLI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95744" y="4142232"/>
            <a:ext cx="42793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Terminal 명령만으로 · 사용한 명령을 실행 순서대로 기록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BB8"/>
                </a:solidFill>
              </a:rPr>
              <a:t>완성 기준 — dir 출력과 File Explorer 화면이 동일할 것 (비교 캡처 2장)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S7 GUI vs CLI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S7 GUI vs CLI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시범 경주 — 같은 결과물, 다른 과정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468880"/>
          </a:xfrm>
          <a:prstGeom prst="roundRect">
            <a:avLst>
              <a:gd name="adj" fmla="val 333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GUI 선수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95728"/>
            <a:ext cx="5102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클릭 17회 · 단계 8개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마우스가 개수만큼 반복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CLI 선수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95728"/>
            <a:ext cx="4782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명령 4줄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mkdir ×3 + copy ×1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gui_cli_race.html"/>
          </p:cNvPr>
          <p:cNvSpPr txBox="1"/>
          <p:nvPr/>
        </p:nvSpPr>
        <p:spPr>
          <a:xfrm>
            <a:off x="548640" y="4663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gui_cli_rac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동시 재생 경주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46634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B8"/>
                </a:solidFill>
              </a:rPr>
              <a:t>결과물은 동일 — 과정의 차이를 눈으로 확인한 뒤 내 경주를 시작합니다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S7 GUI vs CLI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7·8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같은 구조를 두 번 — 기록지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GUI 1회차 → CLI 2회차로 과제 구조 제작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소요 시간 · 사용 명령을 기록하고 채점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(명령 기록에서 과제 4요소 자동 검사)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기록지 1장 + 결과 캡처 2장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(캡처는 별도 채널 제출)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gui_cli_race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gui_cli_rac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동시 재생 경주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hlinkClick r:id="rId4" tooltip="anim/scale_100x.html"/>
          </p:cNvPr>
          <p:cNvSpPr txBox="1"/>
          <p:nvPr/>
        </p:nvSpPr>
        <p:spPr>
          <a:xfrm>
            <a:off x="379476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tooltip="anim/scale_100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100배 스케일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두 번 다 완성 ② CLI가 막힌다 ③ GUI만 했다 — 번호로”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S7 GUI vs CLI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하루를 한 장으로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S8 · 종합 — GUI–CLI 비교표 제출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실습 1~8의 재료가 비교표 한 장으로 수렴합니다 — 그리고 짝에게 1분 설명이 오늘의 도착점.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S7 GUI vs CLI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17:00 · S8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GUI 동작 ↔ CLI 명령 대응표를 완성하고, 짝에게 1분 설명을 마친 뒤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도착점 완료 화면(하루 전체 요약)을 만들어 제출한다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완료 화면 = 점수 + 내가 작성한 내용 전문 — 인쇄/PDF로 제출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S8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대응표 — 같은 일, 두 이름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83680" cy="713232"/>
          </a:xfrm>
          <a:prstGeom prst="roundRect">
            <a:avLst>
              <a:gd name="adj" fmla="val 1153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901952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새 폴더 만들기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173736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BB8"/>
                </a:solidFill>
              </a:rPr>
              <a:t>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1737360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863840" y="173736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96896"/>
            <a:ext cx="6583680" cy="713232"/>
          </a:xfrm>
          <a:prstGeom prst="roundRect">
            <a:avLst>
              <a:gd name="adj" fmla="val 1153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86384" y="2761488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복사 → 붙여넣기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59689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BB8"/>
                </a:solidFill>
              </a:rPr>
              <a:t>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63840" y="2596896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863840" y="259689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6583680" cy="713232"/>
          </a:xfrm>
          <a:prstGeom prst="roundRect">
            <a:avLst>
              <a:gd name="adj" fmla="val 1153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86384" y="3621024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잘라내기 → 붙여넣기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45643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BB8"/>
                </a:solidFill>
              </a:rPr>
              <a:t>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63840" y="3456432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863840" y="345643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315968"/>
            <a:ext cx="6583680" cy="713232"/>
          </a:xfrm>
          <a:prstGeom prst="roundRect">
            <a:avLst>
              <a:gd name="adj" fmla="val 1153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86384" y="4480560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이름 바꾸기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431596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BB8"/>
                </a:solidFill>
              </a:rPr>
              <a:t>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63840" y="4315968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863840" y="431596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175504"/>
            <a:ext cx="6583680" cy="713232"/>
          </a:xfrm>
          <a:prstGeom prst="roundRect">
            <a:avLst>
              <a:gd name="adj" fmla="val 1153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86384" y="5340096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삭제 (휴지통 없이!)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517550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BB8"/>
                </a:solidFill>
              </a:rPr>
              <a:t>↔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863840" y="5175504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7863840" y="517550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617220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>
            <a:hlinkClick r:id="rId3" tooltip="anim/mapping_flashcards.html"/>
          </p:cNvPr>
          <p:cNvSpPr txBox="1"/>
          <p:nvPr/>
        </p:nvSpPr>
        <p:spPr>
          <a:xfrm>
            <a:off x="548640" y="61722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mapping_flashcard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대응표 뒤집기 (최종 점검)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S8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오늘의 도착점 확인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E2761"/>
                </a:solidFill>
              </a:rPr>
              <a:t>같은 directory 구조를 File Explorer와 Terminal 양쪽에서 각각 만들고,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E2761"/>
                </a:solidFill>
              </a:rPr>
              <a:t>두 방법의 결과가 동일함을 확인한 GUI–CLI 비교표를 완성해 제출한다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BB8"/>
                </a:solidFill>
              </a:rPr>
              <a:t>아침에 약속한 이 문장을 방금 해냈습니다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오늘 만든 파일이, 실행되는 순간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Day 2 · Process와 자원 — 관리인의 장부를 읽는다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더블클릭 한 번에 무슨 일이 벌어지는가 — Task Manager에서 CPU·Memory 숫자가 움직이는 것을 직접 관찰하고 개입합니다.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확인 퀴즈 1 /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확인 퀴즈 1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36429A"/>
                </a:solidFill>
              </a:rPr>
              <a:t>Q  </a:t>
            </a:r>
            <a:r>
              <a:rPr lang="en-US" sz="1600" b="1" dirty="0">
                <a:solidFill>
                  <a:srgbClr val="1E2761"/>
                </a:solidFill>
              </a:rPr>
              <a:t>C:\Users\student\Documents\report.txt — 이 표기의 이름은?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①  </a:t>
            </a:r>
            <a:r>
              <a:rPr lang="en-US" sz="1400" b="1" dirty="0">
                <a:solidFill>
                  <a:srgbClr val="1E2761"/>
                </a:solidFill>
              </a:rPr>
              <a:t>상대 경로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3383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629400" y="3383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②  </a:t>
            </a:r>
            <a:r>
              <a:rPr lang="en-US" sz="1400" b="1" dirty="0">
                <a:solidFill>
                  <a:srgbClr val="1E2761"/>
                </a:solidFill>
              </a:rPr>
              <a:t>절대 경로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526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③  </a:t>
            </a:r>
            <a:r>
              <a:rPr lang="en-US" sz="1400" b="1" dirty="0">
                <a:solidFill>
                  <a:srgbClr val="1E2761"/>
                </a:solidFill>
              </a:rPr>
              <a:t>확장자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4526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629400" y="4526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④  </a:t>
            </a:r>
            <a:r>
              <a:rPr lang="en-US" sz="1400" b="1" dirty="0">
                <a:solidFill>
                  <a:srgbClr val="1E2761"/>
                </a:solidFill>
              </a:rPr>
              <a:t>Prompt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S8 종합 · 확인 퀴즈 1/3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확인 퀴즈 2 /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확인 퀴즈 2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36429A"/>
                </a:solidFill>
              </a:rPr>
              <a:t>Q  </a:t>
            </a:r>
            <a:r>
              <a:rPr lang="en-US" sz="1600" b="1" dirty="0">
                <a:solidFill>
                  <a:srgbClr val="1E2761"/>
                </a:solidFill>
              </a:rPr>
              <a:t>GUI의 「잘라내기 → 붙여넣기」와 같은 일을 하는 CLI 명령은?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①  </a:t>
            </a:r>
            <a:r>
              <a:rPr lang="en-US" sz="1400" b="1" dirty="0">
                <a:solidFill>
                  <a:srgbClr val="1E2761"/>
                </a:solidFill>
              </a:rPr>
              <a:t>copy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3383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629400" y="3383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②  </a:t>
            </a:r>
            <a:r>
              <a:rPr lang="en-US" sz="1400" b="1" dirty="0">
                <a:solidFill>
                  <a:srgbClr val="1E2761"/>
                </a:solidFill>
              </a:rPr>
              <a:t>del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526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③  </a:t>
            </a:r>
            <a:r>
              <a:rPr lang="en-US" sz="1400" b="1" dirty="0">
                <a:solidFill>
                  <a:srgbClr val="1E2761"/>
                </a:solidFill>
              </a:rPr>
              <a:t>move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4526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629400" y="4526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④  </a:t>
            </a:r>
            <a:r>
              <a:rPr lang="en-US" sz="1400" b="1" dirty="0">
                <a:solidFill>
                  <a:srgbClr val="1E2761"/>
                </a:solidFill>
              </a:rPr>
              <a:t>ren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S8 종합 · 확인 퀴즈 2/3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확인 퀴즈 3 /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확인 퀴즈 3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36429A"/>
                </a:solidFill>
              </a:rPr>
              <a:t>Q  </a:t>
            </a:r>
            <a:r>
              <a:rPr lang="en-US" sz="1600" b="1" dirty="0">
                <a:solidFill>
                  <a:srgbClr val="1E2761"/>
                </a:solidFill>
              </a:rPr>
              <a:t>파일 이름 뒤 확장자가 결정하는 것은?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①  </a:t>
            </a:r>
            <a:r>
              <a:rPr lang="en-US" sz="1400" b="1" dirty="0">
                <a:solidFill>
                  <a:srgbClr val="1E2761"/>
                </a:solidFill>
              </a:rPr>
              <a:t>여는 프로그램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3383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629400" y="3383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②  </a:t>
            </a:r>
            <a:r>
              <a:rPr lang="en-US" sz="1400" b="1" dirty="0">
                <a:solidFill>
                  <a:srgbClr val="1E2761"/>
                </a:solidFill>
              </a:rPr>
              <a:t>파일의 내용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526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③  </a:t>
            </a:r>
            <a:r>
              <a:rPr lang="en-US" sz="1400" b="1" dirty="0">
                <a:solidFill>
                  <a:srgbClr val="1E2761"/>
                </a:solidFill>
              </a:rPr>
              <a:t>파일의 크기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4526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629400" y="4526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④  </a:t>
            </a:r>
            <a:r>
              <a:rPr lang="en-US" sz="1400" b="1" dirty="0">
                <a:solidFill>
                  <a:srgbClr val="1E2761"/>
                </a:solidFill>
              </a:rPr>
              <a:t>저장 위치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S8 종합 · 확인 퀴즈 3/3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8037</Words>
  <Application>Microsoft Office PowerPoint</Application>
  <PresentationFormat>와이드스크린</PresentationFormat>
  <Paragraphs>612</Paragraphs>
  <Slides>49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2" baseType="lpstr"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디지털노마드연구소</dc:creator>
  <cp:lastModifiedBy>디지털노마드연구소</cp:lastModifiedBy>
  <cp:revision>2</cp:revision>
  <dcterms:created xsi:type="dcterms:W3CDTF">2026-08-28T00:43:35Z</dcterms:created>
  <dcterms:modified xsi:type="dcterms:W3CDTF">2026-08-28T00:47:36Z</dcterms:modified>
</cp:coreProperties>
</file>