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33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241" autoAdjust="0"/>
  </p:normalViewPr>
  <p:slideViewPr>
    <p:cSldViewPr snapToGrid="0" snapToObjects="1">
      <p:cViewPr varScale="1">
        <p:scale>
          <a:sx n="106" d="100"/>
          <a:sy n="106" d="100"/>
        </p:scale>
        <p:origin x="10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93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 · 2분] 이 시간의 도착점</a:t>
            </a:r>
          </a:p>
          <a:p>
            <a:r>
              <a:t>(0:00) 정시 시작. 말하기: "좋은 아침입니다. 어제 부품이라는 '그릇'을 배웠으니, 오늘은 그릇에 '담긴 것'입니다. 첫 시간의 도착점은 아주 물리적입니다 — 화면의 켜짐과 꺼짐을 1과 0으로 받아 적는 것. 결과물은 8자리 0/1 기록지, 두 번 기록합니다."</a:t>
            </a:r>
          </a:p>
          <a:p>
            <a:r>
              <a:t>"오늘 하루의 제목을 미리 말씀드리면 — 컴퓨터 속의 모든 것은 숫자다. 어제 마지막 퀴즈에서 여러분이 스스로 추론해 낸 그 문장입니다."</a:t>
            </a:r>
          </a:p>
          <a:p>
            <a:r>
              <a:t>주의: 아직 2진수·비트라는 단어를 쓰지 않는다. 오늘 오전의 재미는 '이름 없이 먼저 겪게' 하는 데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[S1-2 · 3분] 애니메이션 보는 법</a:t>
            </a:r>
          </a:p>
          <a:p>
            <a:r>
              <a:t>말하기: "오늘은 어제보다 애니메이션이 많습니다. 전부 이 주소 한 곳에 있습니다." (자료 채널·주소 안내)</a:t>
            </a:r>
          </a:p>
          <a:p>
            <a:r>
              <a:t>동작: 전원이 접속해 목록 화면이 뜨는 것까지 확인. "슬라이드의 ▶ 버튼은 제 화면용이고, 여러분은 이 목록에서 같은 것을 열면 됩니다. 값을 직접 바꿔 볼 수 있으니 제 시연이 끝나면 각자 만져 보세요."</a:t>
            </a:r>
          </a:p>
          <a:p>
            <a:r>
              <a:t>운영: 어제 접속에 실패했던 수강생이 있으면 여기서 재확인. 이 3분이 오늘 하루의 기술 문제를 예방한다.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3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[S1-3 · 4분] 어제의 마지막 장면 — 8GB</a:t>
            </a:r>
          </a:p>
          <a:p>
            <a:r>
              <a:t>(0:00) 말하기: "어제 마지막 장면 기억나시나요. 내 컴퓨터 소개서의 '8GB'를 클릭했더니 0과 1이 쏟아졌습니다. 오늘은 그 안으로 카메라를 완전히 들고 들어갑니다."</a:t>
            </a:r>
          </a:p>
          <a:p>
            <a:r>
              <a:t>동작: [▶ 8GB 확대경] 실행 — 소개서의 8GB에서 시작해 0/1의 바다까지 줌인하는 흐름을 보여준다.</a:t>
            </a:r>
          </a:p>
          <a:p>
            <a:r>
              <a:t>말하기: "오늘 저녁이 되면 여러분은 이 바다의 '8GB'라는 이름이 정확히 몇 칸을 뜻하는지 계산할 수 있습니다. 지금은 그냥 — 엄청나게 많은 켜짐과 꺼짐이라는 것만."</a:t>
            </a:r>
          </a:p>
          <a:p>
            <a:r>
              <a:t>전환: "그런데 왜 하필 켜짐과 꺼짐, 두 가지일까요? 부품 입장에서 생각해 봅시다."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[S1-4 · 5분] 부품은 두 가지만 구분한다 — ON/OFF</a:t>
            </a:r>
          </a:p>
          <a:p>
            <a:r>
              <a:t>(0:00) 말하기: "어제 배운 부품들은 전부 전기로 일합니다. 전기가 구분할 수 있는 가장 확실한 두 상태 — 흐른다, 안 흐른다. 켜짐과 꺼짐. 중간은 없습니다."</a:t>
            </a:r>
          </a:p>
          <a:p>
            <a:r>
              <a:t>동작: [▶ 전선 파형 읽기] 실행 — 파형이 올라갔다 내려갔다 하는 것을 보며 전체가 소리 내어 읽게 한다: "켜짐! 꺼짐! 꺼짐! 켜짐!"</a:t>
            </a:r>
          </a:p>
          <a:p>
            <a:r>
              <a:t>말하기: "왜 10가지로 구분하지 않을까요? 전압을 10단계로 나누면 조금만 흔들려도 헷갈립니다. 두 가지면 절대 안 헷갈리죠. 컴퓨터가 0과 1만 쓰는 이유는 수학이 아니라 '확실함' 때문입니다."</a:t>
            </a:r>
          </a:p>
          <a:p>
            <a:r>
              <a:t>예상 질문: "그럼 3개 쓰는 컴퓨터는 없나요?" → "역사적으로 시도는 있었지만, 확실함의 승리로 두 가지가 표준이 됐습니다. 오늘은 두 상태 세계만 다룹니다."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[S1-5 · 3분] 두 상태를 숫자로 적으면 — 1과 0</a:t>
            </a:r>
          </a:p>
          <a:p>
            <a:r>
              <a:t>말하기: "말로 '켜짐 꺼짐 꺼짐 켜짐'이라고 쓰면 너무 깁니다. 약속합시다 — 켜짐은 1, 꺼짐은 0. 이게 오늘 하루 종일, 그리고 이 과정 끝까지 쓸 표기입니다."</a:t>
            </a:r>
          </a:p>
          <a:p>
            <a:r>
              <a:t>"여덟 칸이면 여덟 자리 숫자가 됩니다. 왜 하필 여덟 칸씩 묶는지는… 오늘 오전 안에 답이 나옵니다." (복선 — S3-24에서 회수)</a:t>
            </a:r>
          </a:p>
          <a:p>
            <a:r>
              <a:t>판서: 칠판에 '켜짐=1 / 꺼짐=0' 두 줄 — 어제의 비유 사전처럼 오늘의 약속 목록을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[S1-6 · 5분] 디지털 워크시트 여는 법</a:t>
            </a:r>
          </a:p>
          <a:p>
            <a:r>
              <a:t>(0:00) 말하기: "오늘 실습은 어제처럼 전부 디지털 워크시트로 합니다. 규칙 세 가지를 다시 확인합니다."</a:t>
            </a:r>
          </a:p>
          <a:p>
            <a:r>
              <a:t>동작: 워크시트를 열어 시연하며 — ① 이름을 먼저 입력한다 ② 답은 이 브라우저에 자동 저장된다 (같은 브라우저를 하루 종일 쓸 것) ③ 완료 화면을 캡처해 노션의 내 이름 아래에 붙여넣는다.</a:t>
            </a:r>
          </a:p>
          <a:p>
            <a:r>
              <a:t>"어제 해 본 그대로입니다. 캡처 단축키 기억 안 나는 분?" (화면에 다시 표시)</a:t>
            </a:r>
          </a:p>
          <a:p>
            <a:r>
              <a:t>운영: 어제 캡처·노션에서 막혔던 수강생을 미리 파악해 두고 짝을 붙인다. 여기서 5분을 쓰는 것이 오늘 여덟 실습의 보험이다.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[S1-7 · 5분] 스위치 여덟 개</a:t>
            </a:r>
          </a:p>
          <a:p>
            <a:r>
              <a:t>(0:00) 동작: [▶ 스위치 8개] 실행 — 스위치를 하나씩 올리면 전구가 켜지는 것을 보여주고, 수강생 한 명을 지목해 마음대로 켜게 한다.</a:t>
            </a:r>
          </a:p>
          <a:p>
            <a:r>
              <a:t>말하기: "이제 전구 여덟 개를 왼쪽부터 읽습니다. 다 같이 —" (전체 낭독: "0, 1, 1, 0, 1, 0, 0, 1")</a:t>
            </a:r>
          </a:p>
          <a:p>
            <a:r>
              <a:t>"'무작위로 켜기' 버튼이 문제를 냅니다. 이게 곧 실습 1입니다 — 기계가 켠 것을 여러분이 받아 적는 것."</a:t>
            </a:r>
          </a:p>
          <a:p>
            <a:r>
              <a:t>주의: '왼쪽부터'를 두 번 강조한다 — 실습 1 최다 오답이 읽는 방향이다.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[S1-8 · 12분 · 실습 1] 켜짐 꺼짐을 0과 1로</a:t>
            </a:r>
          </a:p>
          <a:p>
            <a:r>
              <a:t>(0:00) 말하기: "실습 1. 워크시트의 실습 1 탭을 열고, 화면 전구를 왼쪽부터 읽어 8자리를 입력합니다. 무작위 문제로 2회차까지 기록하고 완료 화면을 캡처합니다."</a:t>
            </a:r>
          </a:p>
          <a:p>
            <a:r>
              <a:t>(1:00~9:00) 각자 진행. 순회 포인트: 방향 반대로 읽는 사람, 자릿수를 7개나 9개로 세는 사람.</a:t>
            </a:r>
          </a:p>
          <a:p>
            <a:r>
              <a:t>(10:00) 확인 문구(토씨 그대로): "① 두 번 다 맞았다 ② 한 번 맞았다 ③ 모르겠다 — 번호로"</a:t>
            </a:r>
          </a:p>
          <a:p>
            <a:r>
              <a:t>②·③ 대응: 방향(왼쪽부터)과 칸 수(여덟)를 먼저 점검하게 한다. 전원이 캡처·노션 붙여넣기까지 마친 것을 확인하고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[S1-9 · 4분] 대조하기</a:t>
            </a:r>
          </a:p>
          <a:p>
            <a:r>
              <a:t>말하기: "화면 아래 문자열이 정답입니다. 자기 기록과 한 자리씩 대조하세요. 틀렸다면 계산 문제가 아닙니다 — 십중팔구 '방향'입니다. 왼쪽부터."</a:t>
            </a:r>
          </a:p>
          <a:p>
            <a:r>
              <a:t>확인 문구(토씨 그대로): "고친 자리 — ① 없다 ② 있다 ③ 모르겠다 — 번호로"</a:t>
            </a:r>
          </a:p>
          <a:p>
            <a:r>
              <a:t>보너스(복선): "그런데 이 여덟 칸짜리 묶음, 이름이 있습니다. 그 이름은 오후… 아니, 오늘 오전 세 번째 시간에 나옵니다. 궁금한 채로 두세요." (S3-23에서 '아침 보너스 문제의 정답'으로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[S1-10 · 4분] 오늘의 지도</a:t>
            </a:r>
          </a:p>
          <a:p>
            <a:r>
              <a:t>말하기: "오늘 하루의 지도입니다. 오전엔 이 여덟 칸으로 '세는 법'과 '단위'(S2·S3), 오후엔 이 칸에 '정수와 문자와 색'을 담는 법(S4·S5·S6), 마무리로 '짧게 읽는 법'과 오늘 전부를 모은 '나의 데이터 카드'(S7·S8)."</a:t>
            </a:r>
          </a:p>
          <a:p>
            <a:r>
              <a:t>"어제와 구조가 같습니다 — 매시간 결과물 하나, 마지막에 전부 합쳐 제출. 오늘의 결과물 여덟 개가 저녁의 데이터 카드가 됩니다."</a:t>
            </a:r>
          </a:p>
          <a:p>
            <a:r>
              <a:t>"중요한 약속 하나: 모든 것은 이 여덟 칸 위에서 일어납니다. 길을 잃으면 언제나 여덟 칸으로 돌아오세요."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[S1-11 · 1분] 다음 시간 예고</a:t>
            </a:r>
          </a:p>
          <a:p>
            <a:r>
              <a:t>말하기: "받아 적기는 됐으니, 다음 시간엔 이 0과 1로 '세는 법'을 배웁니다. 자리마다 2배가 되는 수 — 더하기로 한 방향, 덜어내기로 반대 방향. 양방향으로 오갑니다. 10분 쉬고 10시 정각에 시작합니다."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[S2-1 · 2분] 이 시간의 도착점</a:t>
            </a:r>
          </a:p>
          <a:p>
            <a:r>
              <a:t>말하기: "이번 시간의 도착점 — 2진수와 10진수를 양방향으로 바꾸고, 검산까지 마칩니다. 결과물은 검산 완료된 변환 워크시트."</a:t>
            </a:r>
          </a:p>
          <a:p>
            <a:r>
              <a:t>"'검산까지'가 핵심입니다. 바꾸는 것보다, 바꾼 게 맞는지 스스로 확인하는 힘이 오늘의 진짜 기술입니다."</a:t>
            </a:r>
          </a:p>
          <a:p>
            <a:r>
              <a:t>주의: 이 시간이 Day 2에서 인지 부하가 가장 큰 시간이다. 서두르지 말 것 — 뒤 세션들은 전부 이 시간을 재사용하므로 여기서 시간을 쓰는 것이 남는 장사다.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[S2-2 · 4분] 10진수의 자릿값 — 익숙한 것에서 출발</a:t>
            </a:r>
          </a:p>
          <a:p>
            <a:r>
              <a:t>(0:00) 말하기: "234라는 수, 사실 여러분은 이걸 '이백삼십사'라고 자동으로 분해해 읽습니다 — 200과 30과 4. 자리마다 10배씩 커진다는 규칙, 너무 익숙해서 잊고 있었을 뿐 이미 알고 있습니다."</a:t>
            </a:r>
          </a:p>
          <a:p>
            <a:r>
              <a:t>판서: 234를 세 칸에 나눠 적고 위에 100·10·1을 단다. "칸의 이름값 × 그 칸의 숫자, 전부 더하면 234."</a:t>
            </a:r>
          </a:p>
          <a:p>
            <a:r>
              <a:t>말하기: "오늘 새로 배우는 건 이 규칙이 아닙니다. 이 규칙에서 딱 하나 — 10을 2로 바꾸는 것뿐입니다."</a:t>
            </a:r>
          </a:p>
          <a:p>
            <a:r>
              <a:t>(비전공 안심 포인트: '새 수학이 아니라 아는 규칙의 재사용'이라는 프레임을 여기서 심는다)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[S2-3 · 5분] 2진수의 자릿값 — 오늘 오전의 심장</a:t>
            </a:r>
          </a:p>
          <a:p>
            <a:r>
              <a:t>(0:00) 말하기: "자리마다 2배. 오른쪽 끝이 1, 그다음 2, 4, 8, 16, 32, 64, 128. 여덟 칸의 이름값입니다."</a:t>
            </a:r>
          </a:p>
          <a:p>
            <a:r>
              <a:t>동작: 전체가 오른쪽부터 소리 내어 두 번 왕복 낭독: "1, 2, 4, 8, 16, 32, 64, 128!" — 그리고 왼쪽부터 한 번: "128, 64, 32, 16, 8, 4, 2, 1!"</a:t>
            </a:r>
          </a:p>
          <a:p>
            <a:r>
              <a:t>말하기: "이 여덟 숫자가 이 표 하나로 오늘 오전이 끝난다고 할 만큼 중요합니다. 외우려 하지 말고, 2배씩이라는 규칙만 기억하세요 — 언제든 다시 만들 수 있습니다."</a:t>
            </a:r>
          </a:p>
          <a:p>
            <a:r>
              <a:t>판서: 칠판 상단에 128~1 여덟 칸 표를 크게 그려 오전 내내 남겨 둔다 (S2·S3 공용 참조물).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[S2-4 · 5분] 2진수를 10진수로 — 켜진 자리를 더한다</a:t>
            </a:r>
          </a:p>
          <a:p>
            <a:r>
              <a:t>(0:00) 말하기: "방법은 한 문장입니다 — 켜진 자리(1인 자리)의 자릿값을 더한다. 01100100이면 켜진 자리는 64, 32, 4. 더하면 100."</a:t>
            </a:r>
          </a:p>
          <a:p>
            <a:r>
              <a:t>동작: [▶ 자릿값 저울] 실행 — 스위치를 켜면 저울 접시에 자릿값 추가 굴러 떨어지고 합이 올라간다. 수강생 한 명이 임의로 켜게 하고 전체가 합을 예측 → 저울로 확인.</a:t>
            </a:r>
          </a:p>
          <a:p>
            <a:r>
              <a:t>말하기: "계산이 아니라 '골라서 더하기'입니다. 여덟 개 중 켜진 것만."</a:t>
            </a:r>
          </a:p>
          <a:p>
            <a:r>
              <a:t>최다 오답 예고: 자릿값을 왼쪽부터 1, 2, 4…로 매기는 실수 — "이름값은 오른쪽 끝이 1입니다. 방향 조심."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[S2-5 · 6분] 10진수를 2진수로 — 큰 것부터 덜어낸다</a:t>
            </a:r>
          </a:p>
          <a:p>
            <a:r>
              <a:t>(0:00) 말하기: "반대 방향은 '동전 바꾸기'입니다. 167원을 큰 동전부터 바꿔 봅시다. 128 들어가나요? 들어갑니다 — 1. 남은 39. 64는? 안 들어갑니다 — 0. 32는? 들어갑니다 — 1. …이렇게 128부터 1까지 여덟 번 물으면 끝."</a:t>
            </a:r>
          </a:p>
          <a:p>
            <a:r>
              <a:t>동작: [▶ 동전 교환기] 실행 — 167을 넣고 큰 동전부터 바뀌는 과정을 단계별로. 두 번째 수는 수강생이 고르게 한다.</a:t>
            </a:r>
          </a:p>
          <a:p>
            <a:r>
              <a:t>말하기: "들어가면 1, 못 들어가면 0. 질문 여덟 번이면 어떤 수든 8칸이 됩니다."</a:t>
            </a:r>
          </a:p>
          <a:p>
            <a:r>
              <a:t>예상 질문: "나머지 나누기로 배웠는데요?" → "그 방법도 맞습니다. 오늘은 자릿값 표와 짝이 되는 이 방법으로 통일합니다 — 검산할 때 같은 표를 쓰거든요."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[S2-6 · 3분] 검산 — 되돌려서 원래 수가 나오는가</a:t>
            </a:r>
          </a:p>
          <a:p>
            <a:r>
              <a:t>말하기: "바꿨으면 끝이 아닙니다. 반대 방향으로 한 번 더 가서 원래 수가 나오는지 봅니다. 10진→2진으로 바꿨다면, 그 답을 켜진 자리 더하기로 되돌려 보는 겁니다. 왕복해서 제자리면 정답."</a:t>
            </a:r>
          </a:p>
          <a:p>
            <a:r>
              <a:t>"실습 문제도 '검산까지가 문제'입니다. 답만 적고 검산 안 한 것은 절반만 푼 것."</a:t>
            </a:r>
          </a:p>
          <a:p>
            <a:r>
              <a:t>(이 습관은 Day 3 시뮬레이터 실습에서 '값 추적'으로 이어진다 — 언급은 하지 않아도 되지만 강사는 인지해 둘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[S2-7 · 14분 · 실습 2] 양방향 변환</a:t>
            </a:r>
          </a:p>
          <a:p>
            <a:r>
              <a:t>(0:00) 말하기: "실습 2. 여섯 문제 — 1부는 2진→10진 셋, 2부는 10진→2진 셋. 규칙 하나: 손으로 먼저 풉니다. 자릿값 저울은 다 푼 뒤에 검산으로만 씁니다. 저울부터 열면 연습이 안 됩니다."</a:t>
            </a:r>
          </a:p>
          <a:p>
            <a:r>
              <a:t>(1:00~10:00) 종이든 워크시트든 각자 풀이 + 검산. 순회 힌트는 질문으로만: "켜진 자리가 어디죠?" / "128 들어갑니까?"</a:t>
            </a:r>
          </a:p>
          <a:p>
            <a:r>
              <a:t>빨리 끝낸 수강생: 옆 사람과 문제를 서로 내 보기 (8자리 임의 작성 → 교환).</a:t>
            </a:r>
          </a:p>
          <a:p>
            <a:r>
              <a:t>(11:00) 워크시트 입력·완료 화면 캡처 → 노션.</a:t>
            </a:r>
          </a:p>
          <a:p>
            <a:r>
              <a:t>(12:30) 확인 문구는 다음 슬라이드 정답 공개 후 진행. 여기서는 제출 완료만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[S2-8 · 4분] 정답 확인</a:t>
            </a:r>
          </a:p>
          <a:p>
            <a:r>
              <a:t>정답 공개: 1부 — 100, 23, 178 / 2부 — 00110100, 10001101, 11010001.</a:t>
            </a:r>
          </a:p>
          <a:p>
            <a:r>
              <a:t>말하기: "틀린 답은 지우지 말고 옆에 바르게. 그리고 왜 틀렸는지 한 단어로 적어 두세요 — '방향', '자릿값', '검산 안 함' 중 하나일 겁니다."</a:t>
            </a:r>
          </a:p>
          <a:p>
            <a:r>
              <a:t>확인 문구(토씨 그대로): "고친 답 — ① 없다 ② 있다 ③ 모르겠다 — 번호로"</a:t>
            </a:r>
          </a:p>
          <a:p>
            <a:r>
              <a:t>② 다수 시: 어느 문제인지 확인 — 대부분 10진→2진 쪽이다. 동전 교환기로 그 문제 하나를 전체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[S2-9 · 3분] 빈 방도 0으로 — 8칸짜리 방</a:t>
            </a:r>
          </a:p>
          <a:p>
            <a:r>
              <a:t>말하기: "2부 정답을 보면 00110100 — 앞의 0 두 개를 꼭 적었습니다. 110100이 아니라. 왜일까요? 2진수는 8칸짜리 방이기 때문입니다. 빈 방도 방이라서 0으로 채웁니다."</a:t>
            </a:r>
          </a:p>
          <a:p>
            <a:r>
              <a:t>"칸 수가 정해져 있다는 것 — 이 한 문장이 오후 첫 시간의 주인공입니다. 칸이 정해지면 무엇이 같이 정해질까요? 생각해 두세요." (복선 — S4-2에서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[S2-10 · 1분] 다음 시간 예고</a:t>
            </a:r>
          </a:p>
          <a:p>
            <a:r>
              <a:t>말하기: "세는 법을 배웠으니, 다음 시간엔 칸을 '묶는' 이야기입니다. 여덟 칸 묶음의 이름 — 아침 보너스 문제의 답이 드디어 나옵니다. 그리고 1024배씩 커지는 사다리를 타고 어제의 8GB까지 올라갑니다. 11시에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[S3-1 · 2분] 이 시간의 도착점</a:t>
            </a:r>
          </a:p>
          <a:p>
            <a:r>
              <a:t>말하기: "이번 시간의 도착점 — 단위 사다리를 완성하고, 그 위에 내 컴퓨터를 올립니다. 결과물은 단위 사다리 표."</a:t>
            </a:r>
          </a:p>
          <a:p>
            <a:r>
              <a:t>"끝나면 '8GB가 크다'가 아니라 '8GB는 정확히 몇 칸이다'라고 말할 수 있게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[S3-2 · 4분] 여덟 칸의 이름 — 비트</a:t>
            </a:r>
          </a:p>
          <a:p>
            <a:r>
              <a:t>(0:00) 말하기: "아침에 남겨 둔 보너스 문제 — 여덟 칸 묶음의 이름. 답을 드리기 전에, 먼저 '한 칸'의 이름부터. 0 아니면 1을 담는 가장 작은 칸, 이것이 비트(bit)입니다."</a:t>
            </a:r>
          </a:p>
          <a:p>
            <a:r>
              <a:t>"오늘 아침 여러분이 받아 적은 8자리는 — 비트 여덟 개였던 겁니다."</a:t>
            </a:r>
          </a:p>
          <a:p>
            <a:r>
              <a:t>판서: 약속 목록에 추가 — '1비트 = 0/1 한 칸'.</a:t>
            </a:r>
          </a:p>
          <a:p>
            <a:r>
              <a:t>주의: 비트를 '정보의 최소 단위' 같은 교과서 정의로 확장하지 말 것. '칸'이라는 물리적 심상 유지가 오늘의 전략이다.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[S3-3 · 4분] 여덟 칸 묶음 — 바이트</a:t>
            </a:r>
          </a:p>
          <a:p>
            <a:r>
              <a:t>말하기: "그리고 여덟 칸 묶음의 이름 — 바이트(byte). 8비트가 1바이트입니다. 아침 보너스 문제의 정답이 이거였습니다."</a:t>
            </a:r>
          </a:p>
          <a:p>
            <a:r>
              <a:t>"왜 하필 8이냐 — 글자 하나가 사는 크기이기 때문입니다. 이 말의 뜻은 오후 문자 시간에 정확해집니다." (S5-9에서 회수)</a:t>
            </a:r>
          </a:p>
          <a:p>
            <a:r>
              <a:t>"미리 경고: 오늘 배울 단위 사다리에서 배율이 8인 곳은 여기 딱 한 군데뿐입니다. 유일한 예외 — 시험에 나온다면 여기서 나옵니다."</a:t>
            </a:r>
          </a:p>
          <a:p>
            <a:r>
              <a:t>판서: '8비트 = 1바이트'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[S3-4 · 5분] 1024배씩 커지는 사다리</a:t>
            </a:r>
          </a:p>
          <a:p>
            <a:r>
              <a:t>(0:00) 말하기: "바이트부터는 묶음이 커질 때마다 1,024배입니다. 바이트 → KB → MB → GB. 1,000이 아니라 1,024 — 왜인지 감이 오시나요? 1,024는 2를 열 번 곱한 수입니다. 2의 세계에서는 이게 '깔끔한 천'입니다."</a:t>
            </a:r>
          </a:p>
          <a:p>
            <a:r>
              <a:t>동작: [▶ 묶음 사다리] 실행 — 한 단씩 올라가며 배율이 쌓이는 것을 보여준다.</a:t>
            </a:r>
          </a:p>
          <a:p>
            <a:r>
              <a:t>말하기: "사다리의 배율만 기억하면 됩니다 — 8, 1024, 1024, 1024."</a:t>
            </a:r>
          </a:p>
          <a:p>
            <a:r>
              <a:t>예상 질문: "제 SSD는 1TB인데요?" → "사다리는 위로 계속 자랍니다. GB 위가 TB, 역시 1,024배. 마지막 슬라이드에서 다시 말씀드립니다."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[S3-5 · 5분] 일상 물건의 크기</a:t>
            </a:r>
          </a:p>
          <a:p>
            <a:r>
              <a:t>(0:00) 말하기: "단위에 몸감각을 붙입시다. 대략 — 문서 한 개 30KB, 사진 한 장 4MB, 노래 한 곡 8MB, 영화 한 편 4GB."</a:t>
            </a:r>
          </a:p>
          <a:p>
            <a:r>
              <a:t>동작: [▶ 용량 저울] 실행 — 물건을 저울에 올려 비교. 수강생에게 퀴즈: "사진 천 장이면 대략 몇 GB쯤일까요?" (4MB×1000 ≈ 4GB — 영화 한 편급)</a:t>
            </a:r>
          </a:p>
          <a:p>
            <a:r>
              <a:t>말하기: "정확한 수치는 파일마다 다릅니다. 우리가 갖는 건 '단위와 물건의 짝' — KB는 문서, MB는 사진·노래, GB는 영화·프로그램."</a:t>
            </a:r>
          </a:p>
          <a:p>
            <a:r>
              <a:t>주의: 수치는 '대략'임을 반드시 붙인다 (지어내기 방지 — 몸감각용 근사치라는 것을 명시).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[S3-6 · 4분] 어제의 8GB — 이제 정체를 말할 수 있다</a:t>
            </a:r>
          </a:p>
          <a:p>
            <a:r>
              <a:t>말하기: "아침에 확대경으로 본 그 0과 1의 바다. 이제 계산할 수 있습니다. 8GB = 8 × 1024 × 1024 × 1024 바이트, 곱하기 8비트 — 약 687억 칸입니다."</a:t>
            </a:r>
          </a:p>
          <a:p>
            <a:r>
              <a:t>"어제 소개서에 무심코 적은 '8GB' 세 글자가, 켜짐과 꺼짐 687억 개였던 겁니다."</a:t>
            </a:r>
          </a:p>
          <a:p>
            <a:r>
              <a:t>연출: 687억이라는 숫자를 말한 뒤 2초 침묵. "이 방(작업대)에 그만큼의 칸이 있습니다."</a:t>
            </a:r>
          </a:p>
          <a:p>
            <a:r>
              <a:t>(Day 1 연결 — 8GB는 어제 '작업대(메모리)'의 크기였다는 것도 한 문장으로 상기)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[S3-7 · 12분 · 실습 3] 단위 사다리</a:t>
            </a:r>
          </a:p>
          <a:p>
            <a:r>
              <a:t>(0:00) 말하기: "실습 3. 사다리의 빈칸 네 개(배율)를 채우고, Day 1 소개서의 내 RAM과 저장 용량을 사다리 위에 옮겨 적습니다. 완료 화면 캡처 → 노션."</a:t>
            </a:r>
          </a:p>
          <a:p>
            <a:r>
              <a:t>"묶음 사다리 애니메이션은 다 채운 뒤 검산으로만."</a:t>
            </a:r>
          </a:p>
          <a:p>
            <a:r>
              <a:t>(1:00~9:00) 각자 진행. 순회 포인트: 바이트 자리 배율에 1024를 적는 사람 (정답은 8 — 유일한 예외).</a:t>
            </a:r>
          </a:p>
          <a:p>
            <a:r>
              <a:t>(10:00) 제출 확인. 확인 문구는 정답 공개 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[S3-8 · 4분] 정답 확인</a:t>
            </a:r>
          </a:p>
          <a:p>
            <a:r>
              <a:t>정답 공개: 빈칸은 1,024와 1,024와 1,024 — 그리고 8. 예외는 바이트 하나뿐.</a:t>
            </a:r>
          </a:p>
          <a:p>
            <a:r>
              <a:t>말하기: "8 자리에 1024를 적은 분 — 예상된 함정입니다. 비트→바이트만 8배, 그 위는 전부 1024배."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[S3-9 · 3분] 사다리 꼭대기에서 — 내 컴퓨터의 자리</a:t>
            </a:r>
          </a:p>
          <a:p>
            <a:r>
              <a:t>말하기: "사다리 위에 내 컴퓨터를 올려 봅시다. RAM과 저장장치는 GB의 주민입니다. 저장장치가 1TB인 분? — 사다리는 위로 자랍니다. GB 위가 TB, 역시 1024배. 놀랄 것 없습니다, 같은 사다리의 다음 단일 뿐."</a:t>
            </a:r>
          </a:p>
          <a:p>
            <a:r>
              <a:t>"이제 사양표의 GB가 '몇 칸'인지 아는 사람이 됐습니다. 어제는 읽는 사람, 오늘은 셈하는 사람."</a:t>
            </a:r>
          </a:p>
          <a:p>
            <a:r>
              <a:t>전환: "점심 먹고 오후 — 이 칸들에 실제로 무언가를 '담기' 시작합니다. 첫 손님은 숫자입니다."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[S3-10 · 1분] 다음 시간 예고</a:t>
            </a:r>
          </a:p>
          <a:p>
            <a:r>
              <a:t>말하기: "오전에 던진 질문 — 칸 수가 정해지면 무엇이 같이 정해질까. 오후 1시에 그 답부터 시작합니다: 한계, 그리고 넘침. 255 다음에 무슨 일이 일어나는지 직접 목격하게 됩니다. 맛있게 드세요."</a:t>
            </a:r>
          </a:p>
          <a:p>
            <a:r>
              <a:t>운영: 점심시간에 오전 노션 제출(실습 1~3) 누락자를 확인해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[S4-1 · 2분] 이 시간의 도착점</a:t>
            </a:r>
          </a:p>
          <a:p>
            <a:r>
              <a:t>말하기: "오후 시작합니다. 이번 시간의 도착점 — 8칸에 양수와 음수를 담고, '넘침'을 직접 목격해 기록합니다. 결과물은 정수 표현 워크시트."</a:t>
            </a:r>
          </a:p>
          <a:p>
            <a:r>
              <a:t>"오늘 하루 중 가장 극적인 순간이 이 시간에 있습니다 — 숫자가 갑자기 미쳐 버리는 순간을 보게 됩니다." (기대 조성)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[S4-2 · 3분] 정수는 정해진 칸에 담긴다</a:t>
            </a:r>
          </a:p>
          <a:p>
            <a:r>
              <a:t>말하기: "오전에 남긴 질문 회수 — 칸 수가 정해지면 무엇이 정해지는가. 답: 한계입니다. 컴퓨터의 정수는 정해진 크기의 그릇에 담깁니다. 오늘의 기본 그릇은 아침부터 쓴 그 방 — 1바이트, 8칸."</a:t>
            </a:r>
          </a:p>
          <a:p>
            <a:r>
              <a:t>"그릇이 정해졌으니 이제 물을 수 있습니다: 이 그릇엔 얼마까지 들어가는가?"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[S4-3 · 5분] 8칸의 한계 — 0부터 255</a:t>
            </a:r>
          </a:p>
          <a:p>
            <a:r>
              <a:t>(0:00) 말하기: "여덟 칸을 전부 켜면? 11111111 — 자릿값을 다 더하면 128+64+…+1 = 255. 이게 최대입니다. 0부터 255까지, 딱 256가지."</a:t>
            </a:r>
          </a:p>
          <a:p>
            <a:r>
              <a:t>동작: [▶ 넘치는 물컵] 실행 — 컵에 물이 차오르다 255에서 찰랑거리는 상태까지.</a:t>
            </a:r>
          </a:p>
          <a:p>
            <a:r>
              <a:t>말하기: "컵이 가득 찼습니다. 여기서 한 방울 더 부으면 — 256번째에는 — 무슨 일이 일어날까요?" (추측 2~3개 받고 답하지 않는다)</a:t>
            </a:r>
          </a:p>
          <a:p>
            <a:r>
              <a:t>전환: "다음 슬라이드에서 직접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[S4-4 · 5분] 넘침 — 255 다음은 0이다</a:t>
            </a:r>
          </a:p>
          <a:p>
            <a:r>
              <a:t>(0:00) 동작: [▶ 8비트 주행계] 실행 — 자동차 주행계처럼 8칸이 11111111에서 한 칸 더 가는 순간 00000000으로 되감기는 것을 보여준다. 이 순간은 수강생이 직접 버튼을 누르게 한다.</a:t>
            </a:r>
          </a:p>
          <a:p>
            <a:r>
              <a:t>말하기: "255 다음은 256이 아니라 0입니다. 칸이 모자라면 처음으로 되감깁니다. 이름은 넘침 — 오버플로우."</a:t>
            </a:r>
          </a:p>
          <a:p>
            <a:r>
              <a:t>"버그처럼 보이지만 규칙입니다. 옛날 게임에서 점수나 아이템 개수가 갑자기 0이 되던 사건들의 정체가 이겁니다."</a:t>
            </a:r>
          </a:p>
          <a:p>
            <a:r>
              <a:t>(이 '되감기' 심상은 S4-6 음수에서 그대로 재사용된다 — 여기서 확실히 심을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[S4-5 · 4분] 음수를 담는 약속 — 맨 앞 칸이 부호다</a:t>
            </a:r>
          </a:p>
          <a:p>
            <a:r>
              <a:t>말하기: "그런데 -5는 어떻게 담을까요? 칸에는 0과 1뿐, 마이너스 기호가 없는데. 약속으로 해결합니다 — 맨 앞 칸을 부호로 쓴다. 0이면 양수, 1이면 음수."</a:t>
            </a:r>
          </a:p>
          <a:p>
            <a:r>
              <a:t>"부호에 한 칸을 내주면 범위가 바뀝니다: 0~255가 아니라 -128부터 127까지."</a:t>
            </a:r>
          </a:p>
          <a:p>
            <a:r>
              <a:t>판서: '맨 앞 칸 = 부호 (0 양수 / 1 음수)' 추가.</a:t>
            </a:r>
          </a:p>
          <a:p>
            <a:r>
              <a:t>주의: '2의 보수'라는 용어는 다음 슬라이드에서 그림과 함께 — 여기서 미리 정의하려 들지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[S4-6 · 5분] 되감기로 만드는 음수 — 수 바퀴</a:t>
            </a:r>
          </a:p>
          <a:p>
            <a:r>
              <a:t>(0:00) 말하기: "그럼 -1은 어떤 모양일까요? 주행계의 되감기를 반대로 생각해 봅시다. 0에서 한 칸 뒤로 가면? — 11111111. 그래서 -1 = 11111111입니다."</a:t>
            </a:r>
          </a:p>
          <a:p>
            <a:r>
              <a:t>동작: [▶ 수 바퀴] 실행 — 원형 바퀴에서 0의 바로 뒤가 -1, 다섯 칸 뒤가 -5임을 돌려 가며 확인. 수강생이 -3, -7 등을 찍어 보게 한다.</a:t>
            </a:r>
          </a:p>
          <a:p>
            <a:r>
              <a:t>말하기: "이 방식의 이름이 '2의 보수'입니다. 이름은 어렵지만 그림은 하나죠 — 바퀴에서 뒤로 가기."</a:t>
            </a:r>
          </a:p>
          <a:p>
            <a:r>
              <a:t>예상 질문: "부호만 1로 바꾸면 안 되나요? (-5 = 10000101?)" → "좋은 직감인데, 그러면 덧셈이 망가집니다. 바퀴 방식은 덧셈 기계 하나로 음수까지 처리됩니다 — 그 우아함은 내일 CPU에서 실감하게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[S4-7 · 13분 · 실습 4] 정수 표현</a:t>
            </a:r>
          </a:p>
          <a:p>
            <a:r>
              <a:t>(0:00) 말하기: "실습 4. 1부(양수 8칸 담기)와 2부(음수 — 수 바퀴 손놀림)는 손으로 먼저 풉니다. 3부가 오늘의 하이라이트 — 주행계에서 127에 1을 더하는 순간을 직접 보고, 목격한 그대로 기록합니다."</a:t>
            </a:r>
          </a:p>
          <a:p>
            <a:r>
              <a:t>"주행계는 3부 목격과 검산에만 씁니다."</a:t>
            </a:r>
          </a:p>
          <a:p>
            <a:r>
              <a:t>(1:00~10:00) 각자 진행. 순회 포인트: 음수에서 부호 칸만 바꾸는 오답(-5를 10000101로), 3부를 '예상'으로 적고 실제로 안 눌러 본 사람.</a:t>
            </a:r>
          </a:p>
          <a:p>
            <a:r>
              <a:t>(11:00) 제출(캡처→노션) 확인. 확인 문구는 정답 공개 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[S4-8 · 4분] 정답 확인</a:t>
            </a:r>
          </a:p>
          <a:p>
            <a:r>
              <a:t>정답 공개: -5는 11111011 — 부호 칸은 1. / 127 다음은 10000000, 읽으면 -128.</a:t>
            </a:r>
          </a:p>
          <a:p>
            <a:r>
              <a:t>말하기: "-5를 10000101로 적은 분 — 아까 그 직감입니다. 바퀴로 다시: 0에서 다섯 칸 뒤로." (수 바퀴로 즉석 재시연)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[S4-9 · 3분] 127에서 한 칸 더 — 부호가 뒤집히는 순간</a:t>
            </a:r>
          </a:p>
          <a:p>
            <a:r>
              <a:t>말하기: "3부에서 목격한 것을 말로 정리합시다. 01111111(127)에 1을 더했더니 10000000 — 부호 칸이 1로 뒤집혀 갑자기 -128. 가장 큰 양수에서 한 칸 더 갔더니 가장 작은 음수."</a:t>
            </a:r>
          </a:p>
          <a:p>
            <a:r>
              <a:t>"게임 점수가 최대치에서 갑자기 마이너스가 되는 사고의 정체입니다. 그리고 이 장면 — 내일 CPU의 레지스터에서 실제로 다시 만납니다." (Day 3 복선)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[S4-10 · 1분] 다음 시간 예고</a:t>
            </a:r>
          </a:p>
          <a:p>
            <a:r>
              <a:t>말하기: "숫자를 담았으니 다음 손님은 글자입니다. 컴퓨터는 글자를 모릅니다 — 그래서 글자마다 번호를 붙인 약속표를 만들었습니다. 다음 시간, 여러분의 이니셜을 8칸으로 적게 됩니다. 2시에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[S5-1 · 2분] 이 시간의 도착점</a:t>
            </a:r>
          </a:p>
          <a:p>
            <a:r>
              <a:t>말하기: "이번 시간의 도착점 — 내 이니셜을 번호와 8칸 2진수로 적습니다. 결과물은 2진수로 적힌 내 이니셜 카드. 저녁 데이터 카드의 첫 재료입니다."</a:t>
            </a:r>
          </a:p>
          <a:p>
            <a:r>
              <a:t>"이번 시간이 끝나면, 여러분 이름의 첫 글자가 컴퓨터 안에서 어떤 모습인지 정확히 알게 됩니다 — 세상에서 제일 개인적인 2진수죠."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[S5-2 · 3분] 컴퓨터는 글자를 모른다</a:t>
            </a:r>
          </a:p>
          <a:p>
            <a:r>
              <a:t>말하기: "충격적인 사실부터 — 컴퓨터는 글자를 모릅니다. A라는 모양을 아는 부품은 어디에도 없습니다. 아는 것은 오전 내내 다룬 그것, 숫자뿐."</a:t>
            </a:r>
          </a:p>
          <a:p>
            <a:r>
              <a:t>"그래서 사람들이 약속을 만들었습니다: 글자마다 번호를 붙이자. 그 약속표의 이름이 ASCII(아스키)입니다."</a:t>
            </a:r>
          </a:p>
          <a:p>
            <a:r>
              <a:t>"약속이라는 단어가 중요합니다 — 자연법칙이 아니라 사람들끼리 정한 표. 전 세계 컴퓨터가 같은 표를 쓰기로 한 덕분에 제 컴퓨터의 글이 여러분 화면에서도 같은 글자로 보입니다."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[S5-3 · 5분 · [강사 확정] ASCII 표 배포 형식(인쇄물/화면) 확정] ASCII 표 읽는 법</a:t>
            </a:r>
          </a:p>
          <a:p>
            <a:r>
              <a:t>(0:00) 표를 배포(또는 화면 표시)하고 1분간 훑어보게 한다.</a:t>
            </a:r>
          </a:p>
          <a:p>
            <a:r>
              <a:t>말하기: "읽는 법은 사전과 같습니다 — 글자를 찾고, 옆의 번호를 읽는다. A를 찾아보세요. 몇 번입니까?" — 전체 답: "65!"</a:t>
            </a:r>
          </a:p>
          <a:p>
            <a:r>
              <a:t>"대문자에는 지름길이 있습니다: 64 + 알파벳 순번. A는 64+1=65, K는 64+11=75. 표 없이도 계산이 됩니다."</a:t>
            </a:r>
          </a:p>
          <a:p>
            <a:r>
              <a:t>확인 연습: 두어 명 지목 — "M은?" (64+13=77) "B는?" (66).</a:t>
            </a:r>
          </a:p>
          <a:p>
            <a:r>
              <a:t>운영: 표 형식이 화면이면 실습 중에도 계속 띄워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[S5-4 · 5분] 글자에서 8칸까지 — 세 정거장</a:t>
            </a:r>
          </a:p>
          <a:p>
            <a:r>
              <a:t>(0:00) 말하기: "글자가 칸에 담기는 길은 세 정거장입니다: 글자 → 번호 → 2진수. K로 가 봅시다. 표에서 75. 그리고 75를 8칸으로 — 이건 오전의 손놀림 그대로입니다. 64 들어가고, 8 들어가고, 2 들어가고, 1 들어가고 — 01001011."</a:t>
            </a:r>
          </a:p>
          <a:p>
            <a:r>
              <a:t>동작: [▶ 글자 컨베이어] 실행 — 글자가 벨트를 타고 번호를 거쳐 8칸으로 변신하는 과정. 수강생이 다른 글자를 넣어 보게 한다.</a:t>
            </a:r>
          </a:p>
          <a:p>
            <a:r>
              <a:t>말하기: "새로 배운 건 '표 읽기' 하나뿐입니다. 나머지는 오전에 이미 하던 일 — 오늘 하루가 이렇게 쌓입니다."</a:t>
            </a:r>
          </a:p>
          <a:p>
            <a:r>
              <a:t>"그리고 방금 확인한 것: 글자 하나가 정확히 1바이트. 오전에 예고한 '글자 하나가 사는 크기'가 이 뜻이었습니다." (S3-3 회수)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[S5-5 · 4분] 대문자와 소문자 — 번호가 다르다</a:t>
            </a:r>
          </a:p>
          <a:p>
            <a:r>
              <a:t>말하기: "A와 a는 컴퓨터에게 완전히 다른 글자입니다. A는 65, a는 97. 차이는? 32. 어떤 대소문자 짝이든 차이는 언제나 32입니다."</a:t>
            </a:r>
          </a:p>
          <a:p>
            <a:r>
              <a:t>동작: [▶ 한 비트 차이] 실행 — A(01000001)와 a(01100001)를 나란히 놓고 다른 칸을 찾게 한다. "여덟 칸 중 다른 칸은 딱 하나 — 32 자리."</a:t>
            </a:r>
          </a:p>
          <a:p>
            <a:r>
              <a:t>말하기: "비밀번호에서 대소문자를 구분하는 이유, 검색이 가끔 대소문자에 민감한 이유가 이겁니다 — 번호가 다르니까."</a:t>
            </a:r>
          </a:p>
          <a:p>
            <a:r>
              <a:t>(32 = 2^5라는 우연 아닌 설계까지는 들어가지 않는다 — '한 칸 차이'라는 관찰까지만)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[S5-6 · 13분 · 실습 5] 내 이니셜 카드</a:t>
            </a:r>
          </a:p>
          <a:p>
            <a:r>
              <a:t>(0:00) 말하기: "실습 5. 표에서 내 이니셜(영문 첫 글자) 번호를 찾고, 오전의 손놀림으로 8칸으로 바꿉니다. 이니셜 두 글자면 두 줄. 컨베이어는 다 적은 뒤 검산으로만."</a:t>
            </a:r>
          </a:p>
          <a:p>
            <a:r>
              <a:t>(1:00~9:00) 각자 진행. 순회 포인트: ① 번호는 맞는데 2진수가 7칸(앞의 0 누락 — "빈 방도 0으로!") ② 소문자 번호로 찾은 사람(대문자 기준 안내).</a:t>
            </a:r>
          </a:p>
          <a:p>
            <a:r>
              <a:t>빨리 끝낸 수강생: 옆 사람 이니셜을 넘겨받아 변환해 주고 서로 대조.</a:t>
            </a:r>
          </a:p>
          <a:p>
            <a:r>
              <a:t>(10:00) 완료 화면 캡처 → 노션. 확인 문구는 정답 확인 슬라이드에서.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[S5-7 · 4분] 정답 확인 — 스스로 대조하는 법</a:t>
            </a:r>
          </a:p>
          <a:p>
            <a:r>
              <a:t>말하기: "이니셜은 사람마다 다르니 정답표 대신 대조법을 드립니다. 첫째, 번호 검산 — 대문자는 64+순번. 둘째, 번호가 맞는데 틀렸다면 칸 수를 세세요 — 여덟 칸인지. 셋째, 컨베이어에 넣어 최종 확인."</a:t>
            </a:r>
          </a:p>
          <a:p>
            <a:r>
              <a:t>확인 문구(토씨 그대로): "고친 답 — ① 없다 ② 있다 ③ 모르겠다 — 번호로"</a:t>
            </a:r>
          </a:p>
          <a:p>
            <a:r>
              <a:t>② 다수 시 최다 원인: 앞의 0 누락(7칸) — "오전의 그 규칙, 빈 방도 0으로."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[S5-8 · 3분] 비밀 편지 — 반대 방향 (심화)</a:t>
            </a:r>
          </a:p>
          <a:p>
            <a:r>
              <a:t>말하기: "빨리 끝낸 분들을 위한 코너 — 반대 방향도 됩니다. 2진수를 받아 번호로, 번호를 표에서 글자로."</a:t>
            </a:r>
          </a:p>
          <a:p>
            <a:r>
              <a:t>동작: [▶ 비밀 편지 해독] 실행 — 8칸 몇 줄이 글자로 풀리는 것을 한 단어만 함께 해독해 본다.</a:t>
            </a:r>
          </a:p>
          <a:p>
            <a:r>
              <a:t>말하기: "쉬는 시간이나 저녁에 옆 사람에게 2진수로 비밀 편지를 보내 보세요. 받는 사람이 오늘 수업을 들었어야 읽을 수 있다는 게 이 편지의 매력입니다." (부담 없는 심화 — 필수 아님을 명시)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[S5-9 · 3분] 글자 하나는 1바이트</a:t>
            </a:r>
          </a:p>
          <a:p>
            <a:r>
              <a:t>말하기: "정리 — 글자 하나 = 번호 하나 = 1바이트. 그러면 영문 이름 세 글자는? 3바이트. 긴 글은 바이트가 줄줄이 늘어선 행렬입니다."</a:t>
            </a:r>
          </a:p>
          <a:p>
            <a:r>
              <a:t>"오전 사다리와 연결해 봅시다 — 30KB짜리 문서라면 대략 글자 3만 개쯤이 들어 있다는 뜻입니다. 단위가 이제 '내용물'로 읽히기 시작하죠."</a:t>
            </a:r>
          </a:p>
          <a:p>
            <a:r>
              <a:t>(한글은? 질문이 나오면: "한글은 약속표가 달라서 글자당 더 많은 바이트를 씁니다. 오늘은 영문 약속표까지 — 원리는 같습니다.")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[S5-10 · 1분] 다음 시간 예고</a:t>
            </a:r>
          </a:p>
          <a:p>
            <a:r>
              <a:t>말하기: "숫자, 글자 — 다음 손님은 색입니다. 화면의 모든 색이 숫자 세 개라는 이야기. 손전등 세 개로 시작합니다. 3시에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[S6-1 · 2분] 이 시간의 도착점</a:t>
            </a:r>
          </a:p>
          <a:p>
            <a:r>
              <a:t>말하기: "이번 시간의 도착점 — 색을 숫자 세 개로 읽고, 내가 좋아하는 색을 직접 만들어 그 숫자를 적습니다. 결과물은 RGB 기록 워크시트. 데이터 카드의 두 번째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[S6-2 · 5분] 빛의 삼원색 — 빨강, 초록, 파랑</a:t>
            </a:r>
          </a:p>
          <a:p>
            <a:r>
              <a:t>(0:00) 말하기: "화면의 모든 색은 세 가지 빛의 조합입니다 — 빨강, 초록, 파랑. 영어 머리글자로 RGB."</a:t>
            </a:r>
          </a:p>
          <a:p>
            <a:r>
              <a:t>동작: [▶ 손전등 3개] 실행 — 세 손전등을 하나씩 켜고 겹쳐 본다. 수강생이 조합을 골라 보게 한다.</a:t>
            </a:r>
          </a:p>
          <a:p>
            <a:r>
              <a:t>말하기: "왜 하필 이 셋이냐 — 우리 눈이 이 세 가지 빛에 반응하는 센서를 갖고 있기 때문입니다. 화면은 눈을 속이는 게 아니라 눈의 방식 그대로 말을 거는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[S6-3 · 4분] 섞을수록 밝아진다 — 물감과 반대</a:t>
            </a:r>
          </a:p>
          <a:p>
            <a:r>
              <a:t>말하기: "여기서 많은 분이 넘어지는 지점 — 빛은 물감과 반대입니다. 물감은 섞을수록 어두워지지만, 빛은 섞을수록 밝아집니다. 빨강 빛 + 초록 빛 = 노랑. 셋 다 켜면? 검정이 아니라 흰색."</a:t>
            </a:r>
          </a:p>
          <a:p>
            <a:r>
              <a:t>"미술 시간의 직감을 오늘은 잠시 꺼 두세요. 이 함정은 이따 정답 확인에서 다시 등장합니다." (S6-7 함정 예고)</a:t>
            </a:r>
          </a:p>
          <a:p>
            <a:r>
              <a:t>전체 문답: "셋 다 끄면?" — "검정!" "셋 다 켜면?" — "흰색!"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[S6-4 · 3분] 채널 하나는 0부터 255 — 어디서 본 범위인가</a:t>
            </a:r>
          </a:p>
          <a:p>
            <a:r>
              <a:t>말하기: "각 빛의 밝기는 0부터 255까지 조절합니다. 이 범위… 오늘 어디서 봤죠?" — 전체 답: "1바이트!"</a:t>
            </a:r>
          </a:p>
          <a:p>
            <a:r>
              <a:t>"정확합니다. 채널 하나 = 1바이트. 색은 새로운 수학이 아니라 점심 전에 배운 그릇(S4)을 세 개 쓰는 것뿐입니다."</a:t>
            </a:r>
          </a:p>
          <a:p>
            <a:r>
              <a:t>(하루의 재사용 구조를 명시적으로 짚는 순간 — 비전공 수강생의 자신감이 올라가는 지점)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[S6-5 · 5분] 색 하나는 숫자 셋 — 픽셀마다 3바이트</a:t>
            </a:r>
          </a:p>
          <a:p>
            <a:r>
              <a:t>(0:00) 말하기: "그래서 색 하나는 숫자 세 개입니다. (255, 107, 0) — 빨강 최대, 초록 중간, 파랑 없음. 무슨 색일까요?" (주황 계열 — 추측 받고 확인)</a:t>
            </a:r>
          </a:p>
          <a:p>
            <a:r>
              <a:t>동작: [▶ 픽셀 확대경] 실행 — 사진 위를 짚으면 그 점의 숫자 세 개가 나온다. 수강생이 몇 군데 찍어 보게 한다.</a:t>
            </a:r>
          </a:p>
          <a:p>
            <a:r>
              <a:t>말하기: "사진 위 어디를 짚어도 숫자 셋. 한 점 = 3바이트. 이 '점'의 이름은 마지막 슬라이드에서."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[S6-6 · 13분 · 실습 6] 내 색을 숫자로</a:t>
            </a:r>
          </a:p>
          <a:p>
            <a:r>
              <a:t>(0:00) 말하기: "실습 6. 1부는 도구 없이 추리부터 — 워크시트의 색 세 개가 어떤 숫자일지 감으로 적습니다. 그다음 빛 혼합기로 좋아하는 색을 만들고, 세 숫자를 옮겨 적습니다. 혼합기는 1부를 다 적은 뒤에."</a:t>
            </a:r>
          </a:p>
          <a:p>
            <a:r>
              <a:t>(1:00~9:00) 각자 진행. 순회 재미 포인트: "그 색 예쁘네요, 숫자가 뭡니까?"라고 물어 숫자로 답하게 하기 — 색을 숫자로 말하는 연습이 자연스럽게 된다.</a:t>
            </a:r>
          </a:p>
          <a:p>
            <a:r>
              <a:t>(10:00) 완료 화면 캡처 → 노션. 확인 문구는 정답 확인에서.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[S6-7 · 4분] 정답 확인 — 세 색의 정체</a:t>
            </a:r>
          </a:p>
          <a:p>
            <a:r>
              <a:t>정답 공개: 1부의 셋은 빨강, 파랑, 그리고 노랑. 특히 (255,255,0) — 초록이 아니라 노랑.</a:t>
            </a:r>
          </a:p>
          <a:p>
            <a:r>
              <a:t>말하기: "(255,255,0)을 초록이라 적은 분 — 물감의 직감입니다. 빛은 섞을수록 밝아집니다. 빨강+초록=노랑."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[S6-8 · 4분] 숫자만 있으면 같은 색</a:t>
            </a:r>
          </a:p>
          <a:p>
            <a:r>
              <a:t>동작: 수강생 두 명 지목 — 각자 만든 색의 숫자 세 개를 '말로만' 부르게 한다. 강사(또는 다른 수강생)가 혼합기에 그 숫자를 입력 → 같은 색이 재현되는 것을 확인.</a:t>
            </a:r>
          </a:p>
          <a:p>
            <a:r>
              <a:t>말하기: "색을 한 번도 보여주지 않고 숫자만 불렀는데 같은 색이 나왔습니다. 숫자가 곧 색이라는 증거입니다. 사진이 어느 컴퓨터에서나 같은 색으로 보이는 이유 — 숫자로 전달되니까."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[S6-9 · 3분] 화면의 모든 점 — 픽셀</a:t>
            </a:r>
          </a:p>
          <a:p>
            <a:r>
              <a:t>말하기: "아까 그 '점'의 이름 — 픽셀입니다. 화면은 픽셀의 바둑판이고, 한 점이 3바이트입니다."</a:t>
            </a:r>
          </a:p>
          <a:p>
            <a:r>
              <a:t>"그럼 계산해 봅시다 — 점이 수백만 개인 사진 한 장은? 3바이트 × 수백만 = 수 MB. 오전 용량 저울에서 사진이 4MB였던 이유가 여기서 풀립니다." (S3-5 회수)</a:t>
            </a:r>
          </a:p>
          <a:p>
            <a:r>
              <a:t>전환: "숫자, 글자, 색 — 다 담았습니다. 남은 문제는 하나, 이 여덟 칸짜리 표기가 너무 길다는 것."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[S6-10 · 1분] 다음 시간 예고</a:t>
            </a:r>
          </a:p>
          <a:p>
            <a:r>
              <a:t>말하기: "01001011을 매번 읽을 수는 없죠. 다음 시간엔 2진수를 '짧게 읽는 법'을 배웁니다 — 4칸이 글자 하나가 됩니다. 그리고 웹에서 본 #FF6B00 같은 색상 코드의 정체가 밝혀집니다. 4시에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[S7-1 · 2분] 이 시간의 도착점</a:t>
            </a:r>
          </a:p>
          <a:p>
            <a:r>
              <a:t>말하기: "이번 시간의 도착점 — 오늘 적은 것들을 16진수로 다시 읽습니다. 결과물은 16진수 변환 워크시트."</a:t>
            </a:r>
          </a:p>
          <a:p>
            <a:r>
              <a:t>"미리 말씀드립니다: 이번 시간엔 새로운 계산이 없습니다. 새로운 '읽기'만 있습니다. 오늘 중 가장 가벼운 시간이 될 겁니다." (마지막 학습 시간의 피로를 고려한 프레임)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[S7-2 · 3분] 여덟 칸은 길다</a:t>
            </a:r>
          </a:p>
          <a:p>
            <a:r>
              <a:t>말하기: "01001011 — 오늘 하루 종일 적었지만, 솔직히 길죠. 사람이 읽고 옮겨 적기엔 실수하기 좋은 길이입니다."</a:t>
            </a:r>
          </a:p>
          <a:p>
            <a:r>
              <a:t>"컴퓨터는 그대로 두고, 사람이 읽기 좋은 줄임 표기를 만듭시다. 수를 바꾸는 게 아니라 읽는 법만 바꾸는 겁니다 — 같은 사람을 이름으로도, 별명으로도 부르듯이."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[S7-3 · 5분] 4칸이 한 글자 — 0~9와 A~F</a:t>
            </a:r>
          </a:p>
          <a:p>
            <a:r>
              <a:t>(0:00) 말하기: "네 칸 묶음의 조합은 몇 가지일까요? 2×2×2×2 = 정확히 열여섯. 그래서 이름표 열여섯 개를 만듭니다 — 0부터 9까지 쓰고, 모자라는 여섯 개는 A, B, C, D, E, F를 빌립니다."</a:t>
            </a:r>
          </a:p>
          <a:p>
            <a:r>
              <a:t>동작: [▶ 열여섯 이름표] 실행 — 4칸 조합과 이름표의 짝을 넘겨 보며 몇 개를 전체가 읽는다: "1011은?" — "B!" (11이니까 B)</a:t>
            </a:r>
          </a:p>
          <a:p>
            <a:r>
              <a:t>말하기: "A가 10, F가 15. 글자처럼 보여도 숫자입니다 — 열 손가락이 모자라서 알파벳을 빌린 것뿐."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[S7-4 · 5분] 칼질은 한가운데 — 4칸, 4칸</a:t>
            </a:r>
          </a:p>
          <a:p>
            <a:r>
              <a:t>(0:00) 말하기: "여덟 칸을 읽는 법: 한가운데를 자릅니다. 앞 네 칸이 한 글자, 뒤 네 칸이 한 글자. 01001011 → 0100 | 1011 → 4와 B → 4B. 여덟 칸이 두 글자가 됐습니다."</a:t>
            </a:r>
          </a:p>
          <a:p>
            <a:r>
              <a:t>동작: [▶ 4칸 묶기] 실행 — 8칸이 반으로 접혀 두 글자가 되는 것을 몇 번 시연. 아침의 K(01001011)가 4B가 되는 것을 꼭 포함.</a:t>
            </a:r>
          </a:p>
          <a:p>
            <a:r>
              <a:t>말하기: "제 이니셜 K는 75, 01001011, 그리고 4B — 셋 다 같은 것의 다른 옷입니다."</a:t>
            </a:r>
          </a:p>
          <a:p>
            <a:r>
              <a:t>최다 오답 예고: 칼질 위치 — 반드시 한가운데(4|4). 3|5나 5|3으로 자르면 다른 수가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[S7-5 · 4분] 색상 코드의 정체 — #FF6B00</a:t>
            </a:r>
          </a:p>
          <a:p>
            <a:r>
              <a:t>말하기: "웹에서 #FF6B00 같은 코드, 보신 적 있죠. 이제 읽을 수 있습니다 — 두 글자씩 자릅니다: FF | 6B | 00. 빨강, 초록, 파랑. FF는 255, 00은 0."</a:t>
            </a:r>
          </a:p>
          <a:p>
            <a:r>
              <a:t>동작: [▶ 색상코드 해부] 실행 — 코드가 세 바이트로 분해되어 지난 시간의 (255, 107, 0)과 같은 색임을 확인.</a:t>
            </a:r>
          </a:p>
          <a:p>
            <a:r>
              <a:t>말하기: "지난 시간의 숫자 셋과 이번 시간의 두 글자 읽기가 만나서, 인터넷의 색상 코드가 전부 읽히게 됐습니다. 오늘 배운 것들이 서로 맞물리는 순간입니다."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[S7-6 · 13분 · 실습 7] 16진수 변환</a:t>
            </a:r>
          </a:p>
          <a:p>
            <a:r>
              <a:t>(0:00) 말하기: "실습 7. 워크시트를 열면 실습 5의 내 이니셜 2진수가 자동으로 나타납니다. 4칸씩 갈라 두 글자로 적으세요. 그리고 색상 코드 하나를 숫자 셋으로 풀어 봅니다. 4칸 묶기 애니메이션은 검산용."</a:t>
            </a:r>
          </a:p>
          <a:p>
            <a:r>
              <a:t>(1:00~9:00) 각자 진행. 순회 포인트: 칼질 위치(4|4), A~F를 10~15로 되읽지 못하는 사람(이름표 다시 참조 안내).</a:t>
            </a:r>
          </a:p>
          <a:p>
            <a:r>
              <a:t>(10:00) 완료 화면 캡처 → 노션. 확인 문구는 정답 확인에서.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[S7-7 · 4분] 정답 확인</a:t>
            </a:r>
          </a:p>
          <a:p>
            <a:r>
              <a:t>정답 공개: 100은 16진수로 64 — 같은 수, 다른 표기라는 점을 강조 ("10진수 64가 아닙니다, 16진수 표기 64입니다"). / #4B96FF는 75와 150과 255.</a:t>
            </a:r>
          </a:p>
          <a:p>
            <a:r>
              <a:t>말하기: "'64'라고 적고 헷갈린 분 — 표기가 다르면 같은 글자도 다른 수입니다. 그래서 실무에선 16진수 앞에 표시를 붙이곤 하죠. 오늘은 문맥으로 구분합니다."</a:t>
            </a:r>
          </a:p>
          <a:p>
            <a:r>
              <a:t>확인 문구(토씨 그대로): "고친 답 — ① 없다 ② 있다 ③ 모르겠다 — 번호로"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[S7-8 · 3분] 같은 수, 다른 표기</a:t>
            </a:r>
          </a:p>
          <a:p>
            <a:r>
              <a:t>말하기: "정리 — 100 = 01100100 = 64(16진). 표기가 셋이어도 수는 하나입니다. 용도에 맞는 옷을 입을 뿐: 사람의 일상엔 10진, 기계의 칸엔 2진, 사람이 기계의 칸을 읽을 땐 16진."</a:t>
            </a:r>
          </a:p>
          <a:p>
            <a:r>
              <a:t>전체 문답: "컴퓨터 안이 바뀌었나요?" — "아니요!" "바뀐 건?" — "읽는 법!"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[S7-9 · 2분] 새 계산은 없었다</a:t>
            </a:r>
          </a:p>
          <a:p>
            <a:r>
              <a:t>말하기: "약속대로 이번 시간, 새 계산은 없었습니다. 오늘 배운 조각을 세어 봅시다 — 변환, 단위, 정수, 문자, 색, 그리고 읽기. 여섯 조각."</a:t>
            </a:r>
          </a:p>
          <a:p>
            <a:r>
              <a:t>"이제 마지막 시간, 이 전부를 한 장에 모읍니다 — 나의 데이터 카드."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[S7-10 · 1분] 다음 시간 예고</a:t>
            </a:r>
          </a:p>
          <a:p>
            <a:r>
              <a:t>말하기: "마지막 시간은 새로 배우는 것 없이 모으고 제출합니다. 어제처럼, 제출까지가 도착점입니다. 5시 정각에 시작합니다."</a:t>
            </a:r>
          </a:p>
          <a:p>
            <a:r>
              <a:t>운영: 쉬는 시간에 노션 제출 채널([강사 확정] 위치) 준비 상태와 오후 제출(실습 4~7) 누락자를 점검.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[S8-1 · 2분] 오늘의 도착점</a:t>
            </a:r>
          </a:p>
          <a:p>
            <a:r>
              <a:t>말하기: "마지막 시간입니다. 오늘의 도착점을 다 같이 읽어 봅시다 —" (전체 낭독: "문자와 숫자와 색이 2진수로 저장된 모습을 적고, 같은 데이터를 16진수로도 읽어낸다")</a:t>
            </a:r>
          </a:p>
          <a:p>
            <a:r>
              <a:t>"아침엔 약속이었고, 사실 여러분은 이미 다 했습니다. 지금부터는 흩어진 것을 한 장에 모아 제출하는 일만 남았습니다. 결과물: 제출된 나의 데이터 카드."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[S8-2 · 3분] 재료 점검</a:t>
            </a:r>
          </a:p>
          <a:p>
            <a:r>
              <a:t>말하기: "재료를 점검합시다. 워크시트가 오늘의 답을 자동으로 모아 줍니다 — 실습 5와 7의 내 이니셜(2진·16진), 실습 6의 내 색, 그리고 실습 4의 되감기 손놀림."</a:t>
            </a:r>
          </a:p>
          <a:p>
            <a:r>
              <a:t>동작: 워크시트 실습 8 탭을 열어 재료가 자동으로 채워진 상태를 시연. "빠진 재료가 있으면 어느 탭이 미완인지 워크시트가 알려 줍니다. 지금 확인하세요."</a:t>
            </a:r>
          </a:p>
          <a:p>
            <a:r>
              <a:t>운영: 여기서 미완 수강생을 파악해 실습 시간에 우선 순회.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[S8-3 · 16분 · 실습 8 · [강사 확정] 노션 제출 위치 기입] 나의 데이터 카드</a:t>
            </a:r>
          </a:p>
          <a:p>
            <a:r>
              <a:t>(0:00) 말하기: "실습 8, 오늘의 마지막 실습. ① 내 정수 하나를 고릅니다 — 음수를 권장합니다, 오늘 배운 것 중 가장 어려운 걸 카드에 남기는 거니까요. ② 8칸과 16진수, 색 코드까지 채웁니다. ③ 완성 화면을 캡처해 노션에 제출합니다."</a:t>
            </a:r>
          </a:p>
          <a:p>
            <a:r>
              <a:t>"카드가 완성되면 내 이니셜·내 색·내 정수가 전부 세 가지 표기로 나란히 적혀 있게 됩니다."</a:t>
            </a:r>
          </a:p>
          <a:p>
            <a:r>
              <a:t>(1:00~12:00) 작성. 순회 기준: 재료가 다 들어갔는지만 본다. 음수 8칸에서 막히면 수 바퀴로 힌트.</a:t>
            </a:r>
          </a:p>
          <a:p>
            <a:r>
              <a:t>(13:00) 제출 안내(노션 위치 화면 표시) → 캡처 → 붙여넣기.</a:t>
            </a:r>
          </a:p>
          <a:p>
            <a:r>
              <a:t>(15:00) 확인: "노션에 카드 올라간 분?" — 전원 제출 확인이 이 시간의 유일한 통과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[S8-4 · 3분] 카드 돌아보기</a:t>
            </a:r>
          </a:p>
          <a:p>
            <a:r>
              <a:t>말하기: "카드를 봅시다. 아침 9시의 여러분은 스위치와 전구를 받아 적고 있었습니다. 지금 여러분 카드에는 모든 값이 10진·2진·16진 세 가지 표기로 나란히 있습니다 — 아침의 스위치가 저녁의 카드가 됐습니다."</a:t>
            </a:r>
          </a:p>
          <a:p>
            <a:r>
              <a:t>연출: 한두 명의 카드(노션 화면)를 띄워 함께 읽는다 — 본인이 자기 카드를 소리 내어 읽게 하면 더 좋다. (사전에 동의 구하기)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[S8-5 · 3분 · [강사 확정] 퀴즈 1 문항 기입] 확인 퀴즈 1</a:t>
            </a:r>
          </a:p>
          <a:p>
            <a:r>
              <a:t>진행 절차: 문항 표시 → 전체가 번호로 답 → 정답 공개 → 한 줄 해설. 문항당 3분.</a:t>
            </a:r>
          </a:p>
          <a:p>
            <a:r>
              <a:t>말하기(도입): "어제처럼 세 문제로 하루를 확인합니다. 틀려도 아무 일도 일어나지 않습니다."</a:t>
            </a:r>
          </a:p>
          <a:p>
            <a:r>
              <a:t>문항 작성 규칙(확정 시 준수): 정답 번호 분산 · 정답이 가장 긴 보기 금지 · 오답은 분명히 틀리게.</a:t>
            </a:r>
          </a:p>
          <a:p>
            <a:r>
              <a:t>권장 출제(1번): 적용형 워밍업 — 예: 2진↔10진 변환 한 문제(자릿값 적용)로 정답률 높게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[S8-6 · 3분 · [강사 확정] 퀴즈 2 문항 기입] 확인 퀴즈 2</a:t>
            </a:r>
          </a:p>
          <a:p>
            <a:r>
              <a:t>동일 절차. 권장 출제(2번): 오늘의 핵심 대비 — 넘침(255 다음/127 다음) 또는 두 GB… 아니, 오늘 범위로는 '빈 방도 0으로'나 부호 칸 해석을 상황형으로.</a:t>
            </a:r>
          </a:p>
          <a:p>
            <a:r>
              <a:t>해설 팁: 정답 발표 후 오답 보기가 왜 틀렸는지 한 문장씩 소거 — 그것이 복습이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[S8-7 · 3분 · [강사 확정] 퀴즈 3 문항 기입] 확인 퀴즈 3</a:t>
            </a:r>
          </a:p>
          <a:p>
            <a:r>
              <a:t>권장 출제(3번): Day 3 예고형 — '메모리의 8칸을 CPU가 꺼내면 무슨 일이 일어나는가' 방향으로, 정답 공개가 내일 예고(인출–해석–실행)와 자연스럽게 이어지게.</a:t>
            </a:r>
          </a:p>
          <a:p>
            <a:r>
              <a:t>퀴즈 종료 후: "세 문제 모두 오늘 여러분이 직접 손으로 한 것들입니다."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[S8-8 · 4분] 메모리 한 줄 보기 — 이름표를 지우면</a:t>
            </a:r>
          </a:p>
          <a:p>
            <a:r>
              <a:t>(0:00) 동작: [▶ 메모리 한 줄 보기] 실행 — 01001011, 11111011 같은 8칸들이 이름표 없이 줄지어 있는 화면.</a:t>
            </a:r>
          </a:p>
          <a:p>
            <a:r>
              <a:t>말하기: "마지막으로 중요한 관찰 하나. 이 두 줄 — 하나는 아까 여러분이 적은 글자 K, 하나는 -5입니다. 그런데 이름표를 지우면? 구분할 수 없습니다. 문자든 색이든 정수든, 메모리 안에서는 전부 똑같은 8칸입니다."</a:t>
            </a:r>
          </a:p>
          <a:p>
            <a:r>
              <a:t>"무엇인지 아는 것은 칸이 아니라 '읽는 규칙'입니다. 같은 8칸도 문자 규칙으로 읽으면 K, 정수 규칙으로 읽으면 75."</a:t>
            </a:r>
          </a:p>
          <a:p>
            <a:r>
              <a:t>(이 통찰이 Day 2의 지적 정점 — 서두르지 말고 침묵을 한 번 줄 것)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[S8-9 · 3분] 내일 — CPU가 이 칸들을 꺼내 움직인다</a:t>
            </a:r>
          </a:p>
          <a:p>
            <a:r>
              <a:t>말하기: "그럼 그 '읽는 규칙'은 누가 정할까요? 내일의 주인공 — CPU입니다. 내일은 CPU가 이 칸들을 꺼내서(인출), 무슨 뜻인지 읽고(해석), 실행하는 것을 시뮬레이터에서 직접 봅니다."</a:t>
            </a:r>
          </a:p>
          <a:p>
            <a:r>
              <a:t>"오늘 만든 데이터 카드가 내일의 재료입니다 — 여러분이 적은 그 8칸들이 내일 움직이기 시작합니다. 그리고 어제 예고한 장면, 127+1의 사고를 레지스터에서 실제로 다시 만납니다."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[S8-10 · 2분] 마침 — 컴퓨터 속의 모든 것은 숫자다</a:t>
            </a:r>
          </a:p>
          <a:p>
            <a:r>
              <a:t>말하기: "오늘의 제목을 회수하며 마칩니다 — 컴퓨터 속의 모든 것은 숫자다. 아침엔 문장이었고, 지금은 여러분이 손으로 증명한 사실입니다. 글자로, 색으로, 음수로, 세 가지 표기로."</a:t>
            </a:r>
          </a:p>
          <a:p>
            <a:r>
              <a:t>"수고 많으셨습니다. 내일 아침 9시, 이 숫자들이 움직이는 날입니다. 준비물은 오늘과 같습니다. 내일 아침에 만납니다."</a:t>
            </a:r>
          </a:p>
          <a:p>
            <a:r>
              <a:t>운영: 데이터 카드 미제출자 최종 확인 후 종료. 내일 공지사항이 있으면 여기서.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anim/s1_zoom8gb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anim/s1_waveform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anim/s1_switch8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&#52980;&#54504;&#53552;&#44396;&#51312;_Day2_&#46356;&#51648;&#53560;&#50892;&#53356;&#49884;&#53944;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anim/s2_scale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anim/s2_coin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2_scale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anim/s3_ladder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anim/s3_balance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3_ladder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anim/s4_cup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anim/s4_odometer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anim/s4_wheel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4_odometer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anim/s5_conveyor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anim/s5_onebit.htm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5_conveyor.htm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hyperlink" Target="anim/s5_letter.htm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anim/s6_flashlight.html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anim/s6_pixel.html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6_mixer.html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hyperlink" Target="anim/s7_cards.html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hyperlink" Target="anim/s7_fold.html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hyperlink" Target="anim/s7_hexcolor.html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&#52980;&#54504;&#53552;&#44396;&#51312;_Day2_&#46356;&#51648;&#53560;&#50892;&#53356;&#49884;&#53944;.html" TargetMode="External"/><Relationship Id="rId4" Type="http://schemas.openxmlformats.org/officeDocument/2006/relationships/hyperlink" Target="anim/s7_fold.html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hyperlink" Target="&#52980;&#54504;&#53552;&#44396;&#51312;_Day2_&#46356;&#51648;&#53560;&#50892;&#53356;&#49884;&#53944;.html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hyperlink" Target="anim/s8_memory.html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켜짐과 꺼짐을 1과 0으로 받아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8자리 0/1 기록지 (2회차)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보는</a:t>
            </a:r>
            <a:r>
              <a:rPr lang="en-US" sz="3200" b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2000" b="1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애니메이션은 </a:t>
            </a:r>
            <a:r>
              <a:rPr lang="en-US" sz="2000" b="1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01E5C8-77C3-7322-C653-B43757A10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21" y="2326740"/>
            <a:ext cx="3690752" cy="38341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EC68D6-B3C8-558A-C34B-44F6341ED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630" y="1824123"/>
            <a:ext cx="3943900" cy="241968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253E1D-2EF4-E587-5F81-AF5423287191}"/>
              </a:ext>
            </a:extLst>
          </p:cNvPr>
          <p:cNvSpPr/>
          <p:nvPr/>
        </p:nvSpPr>
        <p:spPr>
          <a:xfrm>
            <a:off x="7804087" y="3612333"/>
            <a:ext cx="1530036" cy="344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5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마지막 장면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소개서의 8GB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GB 안에는 무엇이 담겨 있을까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부품 속으로 들어가는 날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8GB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확대경 · anim/s1_zoom8gb.html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부품은 두 가지만 구분한다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전기가 흐른다, 흐르지 않는다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켜짐과 꺼짐 — 두 상태뿐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중간은 없다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/ OFF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전선 파형 읽기 · anim/s1_waveform.html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상태를 숫자로 적으면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켜짐은 1, 꺼짐은 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칸이면 여덟 자리 숫자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내내 쓸 표기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워크시트 여는 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답은 전부 여기에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먼저 입력한다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브라우저에 자동 저장된다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화면을 캡처해 노션에 붙여넣는다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29C57A-489D-1DC8-3304-34DBFDF79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156" y="1676154"/>
            <a:ext cx="3924848" cy="175284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A743DE-F793-4123-C72C-197F97F9C296}"/>
              </a:ext>
            </a:extLst>
          </p:cNvPr>
          <p:cNvSpPr/>
          <p:nvPr/>
        </p:nvSpPr>
        <p:spPr>
          <a:xfrm>
            <a:off x="7749766" y="2860895"/>
            <a:ext cx="2109458" cy="334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 여덟 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스위치를 올리면 전구가 켜진다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전구 여덟 개를 왼쪽부터 읽는다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무작위로 켜기 버튼이 문제를 낸다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01101001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 8개 · anim/s1_switch8.html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켜짐 꺼짐을 0과 1로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실습 1 탭을 연다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전구를 왼쪽부터 읽어 8자리를 입력한다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2회차까지 기록하고 완료 화면을 캡처한다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8자리 0/1 기록지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두 번 다 맞았다 ② 한 번 맞았다 ③ 모르겠다 — 번호로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대조하기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아래 문자열이 정답이다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틀렸다면 방향부터 의심한다 — 왼쪽부터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보너스: 이 여덟 칸의 이름은 오후에 나온다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자리 — ① 없다 ② 있다 ③ 모르겠다 — 번호로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것은 이 여덟 칸 위에서 일어난다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세는 법과 단위 (S2, S3)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정수와 문자와 색 (S4, S5, S6)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마무리: 짧게 읽기와 데이터 카드 (S7, S8)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1로 세는 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2배가 되는 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더하기와 덜어내기 — 양방향 변환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S1 브리지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2진수와 10진수를 양방향으로 바꾸고 검산까지 마친다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검산 완료된 변환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10진수의 자릿값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234는 200과 30과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10배씩 커진다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익숙해서 잊고 있던 규칙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100  10  1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2진수의 자릿값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자리마다 2배가 되는 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이름값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 하나로 오늘 오전이 끝난다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128 64 32 16 8 4 2 1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2진수를 10진수로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켜진 자리의 자릿값을 더한다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01100100은 64와 32와 4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저울 접시에 자릿값이 굴러 떨어진다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01100100 → 100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자릿값 저울 · anim/s2_scale.html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10진수를 2진수로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자릿값부터 덜어낸다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128부터 순서대로 물어본다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들어가면 1, 못 들어가면 0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 → 10100111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 교환기 · anim/s2_coin.html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되돌려서 원래 수가 나오는가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방향의 반대로 한 번 더 간다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검산까지가 문제다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2: 양방향 변환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먼저 푼다 — 여섯 문제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방향으로 되돌려 검산한다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푼 뒤에만 자릿값 저울로 확인한다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검산 완료된 변환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자릿값 저울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여섯 개 다 검산했다 ② 일부만 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문제의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1부: 100, 23, 178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2부: 00110100, 10001101, 11010001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검산 = 왕복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방도 0으로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2진수는 8칸짜리 방이다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110100이 아니라 00110100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수가 정해져 있다는 것 — 오후의 복선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00110100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묶는 단위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1024배씩 커지는 사다리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S2 자릿값과 변환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사다리를 완성하고 내 컴퓨터를 그 위에 올린다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단위 사다리 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칸의 이름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칸이 비트다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보너스 문제의 정답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아니면 1을 담는 가장 작은 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1비트 = 0/1 한 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 묶음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8비트가 1바이트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하나가 사는 크기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사다리의 유일한 예외 배율 — 8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8비트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1024배씩 커지는 사다리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바이트, KB, MB, GB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묶음이 커질 때마다 1,024배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10이 아니라 1,024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×1024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 사다리 · anim/s3_ladder.html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물건의 크기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문서, 사진, 노래, 영화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30KB, 4MB, 8MB, 4GB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단위와 물건을 짝지어 둔다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저울 · anim/s3_balance.html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8GB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정체를 말할 수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확대경으로 본 그 바다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사다리로 읽은 숫자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8GB = 687억 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3: 단위 사다리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빈칸 네 개를 채운다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소개서의 RAM과 저장 용량을 옮겨 적는다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화면을 캡처해 노션에 붙여넣는다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사다리 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묶음 사다리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 채웠다 ② 일부만 채웠다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사다리의 빈칸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1,024와 1,024와 1,024 — 그리고 8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예외는 바이트 하나뿐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/ 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 꼭대기에서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컴퓨터의 자리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RAM과 저장장치는 GB의 주민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TB가 나와도 놀라지 않는다 — 사다리는 위로 자란다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칸 안에 숫자 넣기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8칸의 한계와 넘침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음수를 담는 약속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S3 비트와 바이트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8칸에 양수와 음수를 담고 넘침을 목격해 기록한다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정수 표현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정수는 정해진 칸에 담긴다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그릇은 1바이트, 8칸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8칸짜리 방이 여기서 회수된다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수가 정해지면 한계도 정해진다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8칸의 한계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0부터 255까지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담을 수 있는 가장 큰 수는 255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256번째에는 무슨 일이 일어날까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255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넘치는 물컵 · anim/s4_cup.html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255 다음은 0이다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모자라면 처음으로 되감긴다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넘침 — 오버플로우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→ 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주행계 · anim/s4_odometer.html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음수를 담는 약속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 칸이 부호다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0이면 양수, 1이면 음수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부호가 생기면 범위는 -128부터 127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1_______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되감기로 만드는 음수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0의 바로 뒤 칸이 -1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-1은 11111111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-5는 0에서 다섯 칸 뒤 — 2의 보수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= 11111111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바퀴 · anim/s4_wheel.html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4: 정수 표현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1부와 2부는 손으로 먼저 푼다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주행계에서 127에 1을 더하는 순간을 본다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3부에 목격한 그대로 기록한다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표현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8비트 주행계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넘침까지 다 적었다 ② 일부만 적었다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음수와 넘침의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-5는 11111011 — 부호 칸은 1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 다음은 10000000, 읽으면 -128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11111011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127에서 한 칸 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부호가 뒤집히는 순간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 음수가 되는 사고의 정체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레지스터에서 다시 만난다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01111111 → 10000000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문자가 숫자가 되는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글자마다 번호를 붙인 약속표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이니셜을 8칸으로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S4 정수의 구조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이니셜을 번호와 8칸 2진수로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2진수로 적힌 내 이니셜 카드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글자를 모른다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숫자뿐이다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글자마다 번호를 붙이자는 약속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약속표의 이름이 ASCII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ASCII 표 읽는 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찾고 옆의 번호를 읽는다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번호는 64에 알파벳 순번을 더한 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A는 65, K는 75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65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1042416"/>
          </a:xfrm>
          <a:prstGeom prst="roundRect">
            <a:avLst>
              <a:gd name="adj" fmla="val 10526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06640" y="3246120"/>
            <a:ext cx="36118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배포 형식 — 인쇄물 또는 화면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글자에서 8칸까지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글자, 번호, 2진수의 순서로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번호까지 찾으면 나머지는 오전의 손놀림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하나가 정확히 1바이트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→ 75 → 01001011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컨베이어 · anim/s5_conveyor.html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대문자와 소문자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다르다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언제나 32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중 다른 칸은 하나뿐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65 / a 97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비트 차이 · anim/s5_onebit.html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5: 내 이니셜 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 내 이니셜의 번호를 찾는다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오전의 손놀림으로 8칸으로 바꾼다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컨베이어는 다 적은 뒤 검산으로만 쓴다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2진수로 적힌 내 이니셜 카드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글자 컨베이어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이니셜 전부 8칸까지 적었다 ② 번호까지만 찾았다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답을 스스로 대조하는 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번호는 64에 순번을 더한 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번호가 맞는데 틀렸다면 칸 수를 센다 — 8칸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+ 순번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편지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방향도 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2진수에서 글자로 돌아오기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사람의 심화 코너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편지 해독 · anim/s5_letter.html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하나는 1바이트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S3의 바이트가 여기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세 글자면 3바이트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글은 바이트의 행렬이다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1글자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숫자가 되는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삼원색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하나가 1바이트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S5 ASCII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숫자 세 개로 읽고 내 색을 만들어 적는다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RGB 기록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삼원색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빨강, 초록, 파랑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색은 세 빛의 조합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세 개로 확인한다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178040" y="17830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78040" y="24780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손전등 3개 · anim/s6_flashlight.html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섞을수록 밝아진다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물감과 반대다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빛과 초록 빛을 합치면 노랑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켜면 흰색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빛 ≠ 물감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하나는 0부터 255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본 범위인가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배운 1바이트의 범위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S4를 그대로 재사용한다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~ 255 = 1바이트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하나는 숫자 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픽셀마다 3바이트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위 어디를 짚어도 숫자 세 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돋보기로 직접 확인한다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(255, 107, 0)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확대경 · anim/s6_pixel.html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6: 내 색을 숫자로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1부는 도구 없이 먼저 추리한다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 혼합기로 좋아하는 색을 만든다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숫자를 워크시트에 옮겨 적는다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기록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빛 혼합기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내 색 숫자 3개를 적었다 ② 색만 만들었다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색의 정체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빨강, 파랑, 그리고 노랑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(255, 255, 0)이 초록이 아닌 이유 — 빛은 밝아진다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(255,255,0) = 노랑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있으면 같은 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숫자를 부르면 재현된다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명을 지목해 자기 색의 숫자를 부르게 한다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곧 색이라는 증거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모든 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픽셀의 바둑판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점이 3바이트라면 사진 한 장은 MB가 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1픽셀 = 3바이트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2진수를 짧게 읽는 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칸은 길다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4칸이 한 글자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S6 RGB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적은 것을 16진수로 다시 읽는다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16진수 변환 워크시트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칸은 길다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01001011을 매번 읽을 수는 없다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읽기 좋은 줄임 표기가 필요하다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계산이 아니라 새 읽기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4칸이 한 글자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0부터 9, 그리고 A부터 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칸의 조합은 정확히 열여섯 가지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조합에 이름표 하나씩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 = 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열여섯 이름표 · anim/s7_cards.html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칼질은 한가운데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4칸, 4칸으로 가른다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네 칸이 한 글자, 뒤 네 칸이 한 글자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칸이 두 글자가 된다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 → 4B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 묶기 · anim/s7_fold.html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코드의 정체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#FF6B00은 세 바이트다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글자씩 빨강, 초록, 파랑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웹에서 본 그 코드가 방금 배운 것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색상코드 해부 · anim/s7_hexcolor.html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7: 16진수 변환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5의 이니셜이 자동으로 나타난다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4칸씩 갈라 두 글자로 적는다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코드 하나를 숫자 셋으로 푼다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16진수 변환 워크시트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69480" y="38404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4칸 묶기 (검산용)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세 부 다 적었다 ② 일부만 적었다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확인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글자로 접힌 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100은 16진수로 64 — 같은 수, 다른 표기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#4B96FF는 75와 150과 255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3977640"/>
          </a:xfrm>
          <a:prstGeom prst="roundRect">
            <a:avLst>
              <a:gd name="adj" fmla="val 321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= 64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답 — ① 없다 ② 있다 ③ 모르겠다 — 번호로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수 다른 표기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10진, 2진, 16진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표기가 달라도 수는 하나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용도에 맞는 옷을 입을 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= 01100100 = 64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계산은 없었다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마지막 조각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변환, 단위, 정수, 문자, 색 — 그리고 읽기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전부를 한 장에 모은다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데이터 카드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하루를 한 장으로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제출까지가 도착점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S7 16진수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숫자와 색이 2진수로 저장된 모습을 적고, 같은 데이터를 16진수로도 읽어낸다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결과물: 제출된 나의 데이터 카드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점검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답들이 자동으로 모인다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5와 7 — 내 이니셜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 — 내 색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— 되감기의 손놀림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4 5 6 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8: 나의 데이터 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정수 하나를 고른다 — 음수 권장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8칸과 16진수, 색 코드까지 채운다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화면을 캡처해 노션에 제출한다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709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C4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26948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나의 데이터 카드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69480" y="3063240"/>
            <a:ext cx="3977640" cy="6217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269480" y="306324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디지털 워크시트 열기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69480" y="3840480"/>
            <a:ext cx="3977640" cy="950976"/>
          </a:xfrm>
          <a:prstGeom prst="roundRect">
            <a:avLst>
              <a:gd name="adj" fmla="val 11538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0" y="3840480"/>
            <a:ext cx="3520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채널 — 노션 위치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제출했다 ② 작성 중이다 ③ 모르겠다 — 번호로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돌아보기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하루가 한 장에 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아침의 스위치가 저녁의 카드가 됐다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값이 세 가지 표기로 나란히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10진 2진 16진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10C80D-09B1-7FE6-237D-3D9777266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019" y="1520494"/>
            <a:ext cx="8211961" cy="462168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515AD4-E247-9546-E5EF-13F50B90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287" y="1512000"/>
            <a:ext cx="8603426" cy="4842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34DDD5F-6A92-15F6-7A33-08664F005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07" y="1410336"/>
            <a:ext cx="8603426" cy="484199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한 줄 보기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이름표를 지우면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색과 정수가 전부 똑같은 8칸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무엇인지 아는 것은 읽는 규칙뿐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800600" cy="4663440"/>
          </a:xfrm>
          <a:prstGeom prst="roundRect">
            <a:avLst>
              <a:gd name="adj" fmla="val 274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69480" y="1783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01001011 11111011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78040" y="3246120"/>
            <a:ext cx="4069080" cy="658368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178040" y="3246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애니메이션으로 보기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39410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한 줄 보기 · anim/s8_memory.html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이 칸들을 꺼내 움직인다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— 인출, 해석, 실행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카드가 내일의 재료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속의 모든 것은 숫자다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제목의 회수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아침에 만납니다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556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1556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68249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9424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6352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816352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5394960"/>
            <a:ext cx="457200" cy="566928"/>
          </a:xfrm>
          <a:prstGeom prst="roundRect">
            <a:avLst>
              <a:gd name="adj" fmla="val 16000"/>
            </a:avLst>
          </a:prstGeom>
          <a:ln w="1905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38328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50208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0208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7136" y="5394960"/>
            <a:ext cx="457200" cy="566928"/>
          </a:xfrm>
          <a:prstGeom prst="roundRect">
            <a:avLst>
              <a:gd name="adj" fmla="val 16000"/>
            </a:avLst>
          </a:prstGeom>
          <a:solidFill>
            <a:srgbClr val="FFC24B"/>
          </a:solidFill>
          <a:ln w="190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17136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2 · S8 종합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3359</Words>
  <Application>Microsoft Office PowerPoint</Application>
  <PresentationFormat>와이드스크린</PresentationFormat>
  <Paragraphs>816</Paragraphs>
  <Slides>81</Slides>
  <Notes>81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5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3</cp:revision>
  <dcterms:created xsi:type="dcterms:W3CDTF">2026-08-25T07:12:35Z</dcterms:created>
  <dcterms:modified xsi:type="dcterms:W3CDTF">2026-08-25T22:35:07Z</dcterms:modified>
</cp:coreProperties>
</file>