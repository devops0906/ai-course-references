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4는 모델에 넣기 전 음성을 정리하는 날입니다. D2에서 형식을 통일했고, D3에서 특징을 뽑았다면, 오늘은 그 사이에서 잡음을 줄이고 크기를 맞추고 말소리 구간만 잘라 내는 전처리기 preprocess()를 완성합니다.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수업이 끝나면 다섯 질문에 수식 하나와 한 문장으로 답할 수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Part 1~2, 2교시 Part 3~4, 3교시 Part 5, 4교시 Part 6과 노션 제출입니다.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파워는 제곱의 평균. 파워 비라서 10log10, 진폭 비로 쓰면 20log10. 0 dB여도 사람은 알아듣습니다. 애니메이션 D4-2에서 SNR 슬라이더로 들려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잡음에 g를 곱하면 잡음 파워는 g²배. SNR 식에 넣고 g에 대해 풀면 됩니다. 데이터 증강에서도 같은 식을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하나 때문에 peak 정규화가 무력해지는 장면을 꼭 보여 주세요. RMS는 클리핑 상한이 필요합니다. DC가 있으면 RMS가 부풀어 VAD 에너지까지 틀어집니다.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x에 복소 사인파 e^{jωn}을 넣어 H(ω)=1−αe^{−jω}를 얻고, 크기를 제곱하면 됩니다. Whisper는 pre-emphasis를 쓰지 않는다는 점도 짚어 주세요: 학습 때와 같은 전처리가 가장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잡음은 앞 0.5초 무음의 평균 스펙트럼으로 추정합니다. 위상은 noisy 그대로 씁니다. β를 1로 두면 평균보다 큰 잡음 칸이 남아 뮤지컬 노이즈가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E|S−GY|²를 G로 미분해서 0으로 두는 유도를 단계별로 보여 주세요. ξ는 모르니 |Y|²/N̂² − 1로 추정합니다. 잡음 추정 구간이 음성까지 넘어가면 결과가 나빠집니다.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noisereduce의 원리입니다. 마스크를 시간 · 주파수로 평활해 뮤지컬 노이즈를 줄이고, prop_decrease로 세기를 조절합니다. y_noise를 주는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noisereduce는 무음 잡음을 크게 지우지만 음성도 깎여 파형 SNR은 낮게 나옵니다. ASR 앞에서는 약하게 쓰거나 VAD로 무음만 자르는 경우가 많습니다. 항상 CER/WER로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VAD의 쓰임새 세 가지를 먼저 말하고 특징 두 개로 넘어갑니다. ZCR은 사인파 f Hz에서 2f/fs. 모음은 낮고 마찰음 · 백색잡음은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문턱 하나면 경계에서 켜졌다 꺼졌다를 반복합니다. 잡음 바닥(하위 10%)에 상대적으로 문턱을 두면 녹음마다 자동으로 맞춰집니다. 애니메이션 D4-7에서 마이크로 직접 말해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SNR이 5 dB 이하로 내려가면 잡음 바닥이 올라와 음성과 차이가 줄고 에너지 VAD가 무너집니다. 이것이 학습된 VAD(Silero)가 필요한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패키지에 모델이 들어 있어 다운로드가 필요 없습니다. 512샘플(16 kHz) 조각마다 확률을 내고 내부 상태를 기억합니다. 파라미터 표를 애니메이션 D4-8과 함께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모델을 직접 조각마다 호출해 확률 곡선을 그려 봅니다. reset_states()를 잊지 마세요. SNR 0 dB에서도 일치율이 90% 이상, RTF는 0.03 안팎입니다.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VAD를 잡음 제거보다 먼저 하는 이유가 핵심입니다. VAD가 찾은 무음이 곧 잡음 견본이 되어 y_noise를 자동으로 만듭니다. 결과는 D3 extract_features와 D6 Whisper로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줄을 학생에게 한 문장으로 말하게 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질문이 많이 나오는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탭을 채점한 뒤 노션에 캡처해 제출하게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nr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nr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norm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filter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pecsub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gate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animation.html#vad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ilero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pip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worksheet.html" TargetMode="External"/><Relationship Id="rId2" Type="http://schemas.openxmlformats.org/officeDocument/2006/relationships/hyperlink" Target="animation.html" TargetMode="External"/><Relationship Id="rId3" Type="http://schemas.openxmlformats.org/officeDocument/2006/relationships/hyperlink" Target="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전처리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· 노이즈 제거 · VAD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SNR → 정규화 · 필터 → 스펙트럼 차감 · Wiener → spectral gating → 에너지 VAD → Silero VAD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CPU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97280"/>
            <a:ext cx="4791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 = preprocess("noisy_pink.wav")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구간 4개, 음성 비율 84%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0.85 ~  5.91초  RMS -25.7 dBFS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6.03 ~  8.66초  RMS -22.6 dBFS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R.keys()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· segments · timestamps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speech_ratio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 (값은 녹음마다 다름)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시끄러운 녹음을 모델이 좋아하는 음성으로 바꾸려면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시끄러운지 숫자로 어떻게 말할까? 원하는 SNR로 어떻게 섞을까?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80015" y="1508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2199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22199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크기는 peak로 맞출까 RMS로 맞출까? 저음 험은 어떻게 지울까?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180015" y="22219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93522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935224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스펙트럼을 빼면 왜 "삐릭삐릭" 소리가 남을까?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180015" y="29352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64845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64845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noisereduce는 무엇을 문턱으로 쓰고, ASR 앞에서는 왜 조심할까?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180015" y="36484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36168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361688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말소리 구간은 어떻게 찾고, 잡음이 커져도 버티는 방법은?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180015" y="4361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 · 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다섯 질문 모두에 수식 하나와 한 문장으로 답할 수 있어야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잡음과 SNR에서 Silero VAD 파이프라인까지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· SNR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30069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31237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76957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· 필터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2666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13834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9554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차감 · Wiener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95264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96432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42152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spectral gating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7861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079029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4749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VAD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60458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961626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07346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Silero · 파이프라인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52160"/>
                <a:gridCol w="41422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잡음과 SNR, dBFS, peak · RMS 정규화, DC, pre-emphasis, high-pass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1 ~ 2 · 빈칸 1 ~ 3 · 워크시트 1교시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스펙트럼 차감, Wiener 이득, spectral gating(noisereduce)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~ 4 · 빈칸 4 ~ 6 · 워크시트 2교시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원리: 프레임 에너지, ZCR, 두 문턱, hangover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· 빈칸 7 · 워크시트 3교시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 VAD, 전처리 파이프라인 preprocess()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8 ~ 9 · 워크시트 4교시 · 노션 제출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48920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5800" y="4892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D4-1 오늘의 흐름 (Part 1~6)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잡음과 SNR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SNR = 10·log₁₀(Ps / Pn): 얼마나 시끄러운가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SNR별 파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4415" cy="295693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675120" cy="1051560"/>
          </a:xfrm>
          <a:prstGeom prst="roundRect">
            <a:avLst>
              <a:gd name="adj" fmla="val 521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617720"/>
            <a:ext cx="6345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(1/L)·Σ x[n]²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SNR(dB) = 10·log₁₀(Ps/Pn) = 20·log₁₀(RMSs/RMSn)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dB = 파워 100배 = 진폭 10배 · 0 dB = 같음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406640" y="4526280"/>
            <a:ext cx="4233672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43800" y="46177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세 가지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543800" y="5020056"/>
            <a:ext cx="3959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white(모든 주파수) · pink(1/f, 팬 · 바람) · hum(60 Hz 전원 + 배음)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576072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5760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D4-2 잡음과 SNR (슬라이더 · 소리)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원하는 SNR로 섞기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 = √(Ps / (Pn·10^(SNR/10)))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섞기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s + g·n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 파워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P(g·n) = g²·Pn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대입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SNR = 10·log₁₀(Ps / (g²·Pn))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 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10^(SNR/10) = Ps / (g²·Pn)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 정리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√(Ps / (Pn·10^(SNR/10)))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dB 비율 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4754880" cy="154183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425196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42519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np.sqrt(power(s) / (power(n) * 10 ** (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10)))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snr_db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548640" y="484632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13232" y="4937760"/>
            <a:ext cx="107652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 20 dB → 측정  20.00 dB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 10 dB → 측정  10.00 dB      목표 0 dB → 측정 0.00 dB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57607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85800" y="5760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D4-2 g 유도 단계 (다음 단계 ▶)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정규화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peak는 한 점을, RMS는 체감 크기를 맞춘다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peak vs RMS 정규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173276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2926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peak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· 0.9 / max|x|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 하나가 전체 크기 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· 10^((T − RMSdB)/20)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1을 넘으면 클리핑 → 0.99 제한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 제거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− mean(x)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61772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6177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2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** (Δ /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20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7680960" y="525780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18120" y="525780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D4-3 정규화 (클리핑 · DC)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pre-emphasis · high-pass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y[n] = x[n] − α·x[n−1]  →  |H|² = 1 + α² − 2α·cos 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pre-emphasis와 high-pass 응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4330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983480"/>
            <a:ext cx="5705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H(ω) = 1 − α·e^(−jω)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ω=0: 1−α = 0.03 (−30 dB)   ω=π: 1+α (+5.9 dB)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66560" y="4892040"/>
            <a:ext cx="48737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03720" y="489204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3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x[1:] -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x[:-1]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alpha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66560" y="5440680"/>
            <a:ext cx="48737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03720" y="544068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D4-4 pre-emphasis · high-pass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스펙트럼 차감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|Y|² ≈ |S|² + |N|²: 잡음 파워를 빼자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스펙트럼 차감 한 프레임과 이득 곡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503920" cy="31154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89720" y="1371600"/>
            <a:ext cx="2450592" cy="3063240"/>
          </a:xfrm>
          <a:prstGeom prst="roundRect">
            <a:avLst>
              <a:gd name="adj" fmla="val 223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354312" y="1463040"/>
            <a:ext cx="212140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N̂²[k] =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앞 M₀ 프레임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 |Y|²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|Ŝ|² = max(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|Y|² − β·N̂²,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γ·|Y|² 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Ŝ = |Ŝ|·e^(j∠Y)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ISTFT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66344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663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np.maximum(P -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Nhat, floor * P)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beta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663440"/>
          <a:ext cx="4325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535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β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5 dB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13.2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30352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85800" y="5303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D4-5 스펙트럼 차감 · Wiener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Wiener 이득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 = ξ / (1 + ξ): 칸마다 음성의 몫만 통과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303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= S + N,  E|Y|² = |S|² + |N|²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E|S − G·Y|² = (1 − G)²|S|² + G²|N|²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미분 =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|S|² / (|S|² + |N|²)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ξ로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ξ / (1 + ξ),  ξ = |S|²/|N|²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ξ̂ = max(|Y|²/N̂² − 1, 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463040"/>
          <a:ext cx="4233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ξ (dB)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397764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3977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xi / (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xi)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1</a:t>
            </a:r>
            <a:endParaRPr lang="en-US" sz="11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8620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 추정 구간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2.0초 (음성까지 포함)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차감 β=2 결과 SNR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추정이 결과를 좌우한다: 무음 구간만으로, 충분히 길게.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spectral gating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 Tₖ = μₖ + 1.5·σₖ로 만든 마스크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spectral gating 세 단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22221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stationary=True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잡음이 일정하다고 보고 문턱 한 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y_noise=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잡음만 있는 구간 → 정확한 문턱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prop_decrease=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 완전히 · 0.5 절반만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70916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7091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6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noisy[:int(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SR)]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0.5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7680960" y="534924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18120" y="53492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D4-6 spectral gating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무엇이 더 좋은가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하나로 판단하지 않는다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194560"/>
                <a:gridCol w="2560320"/>
                <a:gridCol w="2221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 (white 5 dB 입력)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(파형)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무음 구간 잡음 감소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구간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스펙트럼 차감 β=2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−1.1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Wiener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7.7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−1.0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noisereduce (전체로 문턱)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34.6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−10.5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noisereduce (y_noise 0.5초)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5.3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27.7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−6.6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report() 출력 예 (값은 음성에 따라 다름)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42062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4297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들을 때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5800" y="4700016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통화, 녹취 정리, TTS 학습 데이터 정제 → 효과 큼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15968" y="42062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453128" y="4297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입력일 때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53128" y="4700016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제거는 왜곡(뮤지컬 노이즈, 깎인 자음) → 인식률이 떨어지기도. prop_decrease 0.5~0.8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83296" y="4206240"/>
            <a:ext cx="3557016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0456" y="429768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잡음 제거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220456" y="4700016"/>
            <a:ext cx="32826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DeepFilterNet · RNNoise · Demucs: 변하는 잡음(대화, 키보드)까지 (선택 실습)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VAD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사람이 말하고 있는가: 에너지와 ZCR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554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자르기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95681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계산량 감소, 무음에서 생기는 환각 방지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53128" y="1554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감지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53128" y="195681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에이전트에서 말이 끝난 순간 → 응답 시작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83296" y="1463040"/>
            <a:ext cx="3557016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0456" y="155448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견본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0456" y="1956816"/>
            <a:ext cx="3282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구간 = 잡음만 → 잡음 제거 문턱 (Part 3 · 4)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154680"/>
            <a:ext cx="107652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E[m]   = 20·log₁₀ √( (1/N)·Σ x_m[n]² )        N = 400 (25 ms), hop 160 (10 ms) → 1초 100 프레임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ZCR[m] = (1/2N)·Σ |sgn x[n] − sgn x[n−1]|      사인파 f Hz → ZCR ≈ 2f / fs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017520"/>
                <a:gridCol w="30449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ZCR (측정)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2f/fs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 Hz 사인파 (모음 f₀ 근처)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 Hz 사인파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백색잡음 · 마찰음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0.50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히스테리시스 VAD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 두 개 + hangover + 최소 길이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에너지 VAD 동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167398"/>
          </a:xfrm>
          <a:prstGeom prst="rect">
            <a:avLst/>
          </a:prstGeom>
        </p:spPr>
      </p:pic>
      <p:pic>
        <p:nvPicPr>
          <p:cNvPr id="7" name="Image 1" descr="두 상태 전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3959352" cy="12838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788920"/>
          <a:ext cx="39593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134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T_high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+ 12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T_low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+ 6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hangover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음성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0.25초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9" name="Shape 3"/>
          <p:cNvSpPr/>
          <p:nvPr/>
        </p:nvSpPr>
        <p:spPr>
          <a:xfrm>
            <a:off x="548640" y="470916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85800" y="47091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log10(rms)  ·  if v &lt;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20, T_lo</a:t>
            </a:r>
            <a:endParaRPr lang="en-US" sz="1150" dirty="0"/>
          </a:p>
        </p:txBody>
      </p:sp>
      <p:sp>
        <p:nvSpPr>
          <p:cNvPr id="11" name="Shape 5"/>
          <p:cNvSpPr/>
          <p:nvPr/>
        </p:nvSpPr>
        <p:spPr>
          <a:xfrm>
            <a:off x="7680960" y="470916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7818120" y="470916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D4-7 에너지 · ZCR VAD (마이크)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문턱 사이에서는 상태를 유지한다 → 채터링 방지.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· 에너지 VAD의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잡음도 에너지가 크다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SNR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검출 구간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깨끗한 음성 기준 일치율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91.2%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82.7%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수식 검증 5 출력 예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7589520" y="1463040"/>
            <a:ext cx="405079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9050">
            <a:solidFill>
              <a:srgbClr val="F0716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무너질까?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26680" y="1956816"/>
            <a:ext cx="37764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floor = 하위 10% 에너지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잡음이 크면 floor가 올라와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T_high = floor + 12 dB를 음성이 넘지 못함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구간 0개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160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에너지는 "소리가 있다"만 안다. "말소리다"를 알려면 학습된 모델이 필요하다 → Silero VAD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Silero VAD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ms마다 음성 확률, 같은 히스테리시스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Silero 처리 흐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1895924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560527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threshold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시작 확률 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neg_threshold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θ − 0.15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끝 확률 (낮은 문턱)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min_speech_duration_ms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이보다 짧은 구간 버림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min_silence_duration_ms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이만큼 조용해야 끊음 (hangover)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speech_pad_ms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앞뒤 여유 (첫 자음 보호)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return_seconds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False면 샘플 번호 → 바로 자르기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046720" y="1325880"/>
            <a:ext cx="3593592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11312" y="1417320"/>
            <a:ext cx="3264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silero_vad import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load_silero_vad,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get_speech_timestamps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load_silero_vad()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get_speech_timestamps(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wav, model,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sampling_rate=16000)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548640" y="585216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85800" y="5852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D4-8 Silero VAD 파라미터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확률 곡선과 강인성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잡음이 커져도 확률은 0과 1로 갈린다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Silero 확률 곡선 (설명용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29229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=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32 ms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512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4434840"/>
          <a:ext cx="51480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647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SNR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 VAD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02920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13232" y="5120640"/>
            <a:ext cx="5431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VAD_MODEL.reset_states()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VAD_MODEL(wav[i:i+512], 16000).item()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미니 프로젝트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preprocess(): 정리된 구간들을 돌려주는 전처리기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형식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kHz mono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60549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25141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70861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DC · HPF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Hz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37050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01642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7362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VAD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Silero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13552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78144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3864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잡음 제거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y_noise = 무음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90053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054645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00365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정규화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 −20 dBFS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66554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931146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76866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자르기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seg_00.wav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2377440"/>
            <a:ext cx="6949440" cy="274320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2468880"/>
            <a:ext cx="66202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get_speech_timestamps(torch.from_numpy(y),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VAD_MODEL, sampling_rate=SR, speech_pad_ms=50)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noise_mask = np.ones(len(y), bool)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 in ts: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noise_mask[d["start"]:d["end"]] =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nr.reduce_noise(y=y, sr=SR, y_noise=y[noise_mask],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stationary=True, prop_decrease=0.8)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rms_normalize(y, target_db=-20)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80960" y="2377440"/>
            <a:ext cx="3959352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24688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18120" y="2871216"/>
            <a:ext cx="36850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False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구간을 "잡음 아님"으로 → 남은 무음만 잡음 견본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680960" y="4114800"/>
            <a:ext cx="3959352" cy="1005840"/>
          </a:xfrm>
          <a:prstGeom prst="roundRect">
            <a:avLst>
              <a:gd name="adj" fmla="val 7273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18120" y="42062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돌려주는 값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818120" y="4608576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 · segments · timestamps · speech_ratio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5349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D4-9 전처리 파이프라인 (단계 켜고 끄기)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 make_model_ready → D4 preprocess → D3 extract_features → 모델 (D6~ Whisper)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수식으로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열두 줄로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8620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10·log₁₀(Ps/Pn),  P = mean(x²)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SNR = 목표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섞기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√(Ps / (Pn·10^(SNR/10)))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dBFS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20·log₁₀ max|x|,  20·log₁₀ RMS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 = 0 dBFS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 정규화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10^((T − RMSdB)/20), peak ≤ 0.99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pre-emphasis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x[n] − αx[n−1],  |H|² = 1 + α² − 2α·cos 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−30 / +5.9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스펙트럼 차감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max(|Y|² − β·N̂², γ·|Y|²), 위상 ∠Y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Wiener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ξ = |Y|²/N̂² − 1,  G = ξ/(1+ξ)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Tₖ = μₖ + 1.5·σₖ (dB)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 · ZCR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20·log₁₀ RMS,  ZCR ≈ 2f/fs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검증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히스테리시스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floor + 12 / floor + 6 dB, hangover 0.2 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512샘플 = 32 ms,  p &gt; 0.5 시작, &lt; 0.35 끝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preprocess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DC·HPF → VAD → 잡음 제거 → 정규화 → 자르기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헷갈리기 쉬운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10·log10 vs 20·log10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파워(SNR, |Y|²)는 10, 진폭(RMS, peak, dBFS)은 20. 같은 비율이면 같은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SNR이 생각보다 낮다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SNR은 전체 평균 파워 기준. 앞뒤 무음이 길면 Ps가 작아져 SNR이 낮게 나옴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RMS가 목표보다 낮다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peak 0.99 제한(클리핑 방지)이 전체를 다시 낮춘 것. peak_limit를 끄면 정확히 목표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preemphasis 첫 샘플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librosa는 첫 샘플을 다르게 처리(zi). 두 번째 샘플부터 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 제거 후 SNR 하락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음성까지 깎이면 파형 SNR은 떨어짐. 무음 잡음 감소 · 음성 크기 · 귀로 함께 판단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 모델 다운로드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 패키지 안에 모델 포함. 인터넷 없이 load_silero_vad()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결과 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return_seconds=True면 초, 기본은 샘플 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dB를 볼 때마다 "파워인가, 진폭인가"를 먼저 묻는다.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SNR로 잡음을 섞고 측정 SNR로 확인했다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 정규화와 클리핑 제한, DC 제거를 구현했다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pre-emphasis 응답을 예측하고 측정값과 비교했다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스펙트럼 차감 · Wiener · noisereduce를 세 지표로 비교했다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히스테리시스 에너지 VAD를 만들고 잡음에서 무너지는 것을 봤다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Silero VAD와 preprocess()로 구간을 잘라 저장했다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5 이후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56816"/>
            <a:ext cx="377647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preprocess()(정리) → D3 extract_features()(특징) 흐름을 데이터 준비와 Whisper(D6~) 입력에서 계속 씁니다.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1의 녹음 파일을 가져오세요.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D4_오디오전처리_실습.ipynb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레포 위치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04-voice-ai/day04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D4 오디오 전처리</dc:title>
  <dc:subject>PptxGenJS Presentation</dc:subject>
  <dc:creator>디지털노마드연구소</dc:creator>
  <cp:lastModifiedBy>디지털노마드연구소</cp:lastModifiedBy>
  <cp:revision>1</cp:revision>
  <dcterms:created xsi:type="dcterms:W3CDTF">2026-10-08T08:26:33Z</dcterms:created>
  <dcterms:modified xsi:type="dcterms:W3CDTF">2026-10-08T08:26:33Z</dcterms:modified>
</cp:coreProperties>
</file>