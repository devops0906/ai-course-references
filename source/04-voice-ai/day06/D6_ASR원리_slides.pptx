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Day 6는 2주차(ASR) 첫날입니다. D5는 1초 → 단어 하나였지만 오늘은 길이가 제각각인 소리를 글자열로 바꿉니다. 정렬을 모르는 채 학습하는 세 가지 방법(CTC, Attention Encoder-Decoder, Transducer)과, 라벨 없이 인코더를 먼저 학습하는 자기지도 학습(wav2vec 2.0, HuBERT)을 수식과 코드로 다룹니다. 오른쪽은 오늘 빈칸 1 · 4 · 5를 마치면 직접 얻는 결과입니다.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다섯 질문에 한 문장으로 답할 수 있으면 오늘 목표 달성입니다.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1교시 Part 0~2(CTC 원리), 2교시 Part 3(Wav2Vec2 실전), 3교시 Part 4~5(AED · Transducer), 4교시 Part 6(자기지도)과 노션 제출입니다. 처음 실행 때 모델 4개(약 1.2 GB)를 내려받으니 Part 0과 Part 3 첫 셀은 일찍 실행시킵니다.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라벨에는 글자열만 있습니다. 프레임마다 정답을 다는 것은 너무 비쌉니다. 오늘 세 방법은 모두 정렬을 모르는 채로 P(Y|X)를 배우는 방법입니다. 경로 수가 천문학적이라는 것을 숫자로 보여 주세요.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순서가 핵심입니다. blank를 먼저 지우면 l-l이 ll이 되고 다시 l 하나로 합쳐집니다. 같은 글자가 연속되려면 사이에 blank가 반드시 하나 있어야 하므로 T ≥ U + 연속 중복 수입니다.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프레임끼리 독립이라는 가정 덕분에 경로 확률이 곱으로 쪼개지고, 그래서 동적 계획법이 됩니다. 동시에 이 가정이 CTC의 약점(문맥을 모름)입니다. 경로 수 공식은 연속 중복이 없을 때입니다.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두 칸 건너뛰기 조건이 빈칸 2입니다. cat에서는 조건을 빼먹어도 결과가 같아 보이지만 baa에서 틀립니다. 수식 검증 1에서 전부 더하기, α, F.ctc_loss 세 값이 같은 것을 꼭 확인시키세요.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D5의 출력 크기 공식을 패딩 0으로 일곱 번 적용한 것입니다. 바닥 함수를 한 번에 써도 결과가 같은 이유는 floor(floor(x)/n) = floor(x/n)입니다. 1초가 49프레임이라는 숫자를 기억시키세요.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모양 (1, T, 32)에서 어휘 방향은 마지막 축입니다. greedy는 가장 좋은 경로이지 가장 좋은 글자열을 보장하지 않지만 실전에서 차이가 작습니다. blank 비율을 직접 읽게 하세요(보통 60~80%).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스파이크는 글자의 시작이 아니라 중간 어딘가에서 나올 수 있고 수용 영역 25 ms만큼 오차가 있습니다. 정답 글자를 알고 가장 좋은 경로를 찾는 forced alignment가 D9 WhisperX의 바탕입니다.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조건부 독립을 버리면 문맥을 쓸 수 있지만, 출력 길이만큼 디코더를 돌려야 합니다. attention 가중치가 대각선을 그리며 정렬 역할을 한다는 것을 그림과 실제 Whisper 결과로 연결하세요.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q·k는 성분 d개의 곱의 합이라 분산이 d입니다. 수식 검증 2의 표를 함께 읽고, 슬라이더(D6-6 아래)로 포화를 보여 주세요. 합을 1로 만드는 것은 softmax이지 √d가 아니라는 점도 짚습니다.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generate()와 같은 결과가 나오려면 suppress_tokens를 같이 막아야 합니다(셀에 이미 들어 있음). 한 번 틀린 토큰이 다음 입력이 되는 구조가 D7의 반복·환각 문제로 이어집니다. cross-attention 그림의 대각선을 꼭 보여 주세요.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Prediction network가 CTC에 없는 앞 글자 참고(언어 모델 역할)를 합니다. 한 프레임에서 여러 글자를 낼 수 있어 T &lt; U여도 됩니다. 마지막 걸음이 항상 ∅라서 경로 수가 C(T+U−1, U)입니다.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실무에서는 CTC + Attention 하이브리드, CTC로 빠르게 후보를 내고 AED로 다시 점수 매기기도 많이 씁니다. D6-8로 글자가 나오는 시점 차이를 보여 주고 과제 3(콜센터 설계)과 연결하세요.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InfoNCE는 정답 칸이 항상 0번인 cross-entropy입니다. D5의 softmax + CE와 같은 모양이라는 점을 강조하세요. transformers의 mask_prob는 p × M이라는 함정도 짚습니다(0.65, 10).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피치 +4 실험에서 HuBERT 6층 쪽이 같은 번호 비율이 높게 나오는 것을 함께 읽습니다. 이 번호가 음성 토큰으로 TTS · Speech-to-Speech에서도 쓰인다는 것을 4주차 · 6주차 예고로 연결하세요.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각 줄을 학생에게 한 문장으로 말하게 해 보세요.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학생 질문이 많이 나오는 부분입니다.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체크리스트로 마무리하고 워크시트 4교시 탭을 채점한 뒤 노션에 캡처해 제출하게 합니다. 과제 1(한국어 XLS-R 모델)은 3주차 한국어 Fine-tuning의 예습입니다.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animation.html#flow" TargetMode="External"/><Relationship Id="rId1" Type="http://schemas.openxmlformats.org/officeDocument/2006/relationships/image" Target="../media/image-3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animation.html#align" TargetMode="External"/><Relationship Id="rId1" Type="http://schemas.openxmlformats.org/officeDocument/2006/relationships/image" Target="../media/image-4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hyperlink" Target="animation.html#ctc" TargetMode="External"/><Relationship Id="rId1" Type="http://schemas.openxmlformats.org/officeDocument/2006/relationships/image" Target="../media/image-5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animation.html#ctcloss" TargetMode="External"/><Relationship Id="rId1" Type="http://schemas.openxmlformats.org/officeDocument/2006/relationships/image" Target="../media/image-7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hyperlink" Target="animation.html#w2v" TargetMode="External"/><Relationship Id="rId1" Type="http://schemas.openxmlformats.org/officeDocument/2006/relationships/image" Target="../media/image-8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hyperlink" Target="animation.html#attn" TargetMode="External"/><Relationship Id="rId1" Type="http://schemas.openxmlformats.org/officeDocument/2006/relationships/image" Target="../media/image-11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hyperlink" Target="animation.html#attn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hyperlink" Target="animation.html#rnnt" TargetMode="External"/><Relationship Id="rId1" Type="http://schemas.openxmlformats.org/officeDocument/2006/relationships/image" Target="../media/image-14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hyperlink" Target="animation.html#compare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hyperlink" Target="animation.html#ssl" TargetMode="External"/><Relationship Id="rId1" Type="http://schemas.openxmlformats.org/officeDocument/2006/relationships/image" Target="../media/image-16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hyperlink" Target="animation.html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15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822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음성 AI 전문가 과정 · Day 6 / 40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1234440"/>
            <a:ext cx="5486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Day 06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548640" y="2331720"/>
            <a:ext cx="58521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2B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ASR 원리</a:t>
            </a:r>
            <a:endParaRPr lang="en-US" sz="2200" dirty="0"/>
          </a:p>
          <a:p>
            <a:pPr indent="0" marL="0">
              <a:buNone/>
            </a:pPr>
            <a:r>
              <a:rPr lang="en-US" sz="2200" b="1" dirty="0">
                <a:solidFill>
                  <a:srgbClr val="F2B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CTC · Attention · Transducer</a:t>
            </a:r>
            <a:endParaRPr lang="en-US" sz="2200" dirty="0"/>
          </a:p>
          <a:p>
            <a:pPr indent="0" marL="0">
              <a:buNone/>
            </a:pPr>
            <a:r>
              <a:rPr lang="en-US" sz="2200" b="1" dirty="0">
                <a:solidFill>
                  <a:srgbClr val="F2B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자기지도 학습 (wav2vec 2.0 · HuBERT)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48640" y="3931920"/>
            <a:ext cx="5760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AA4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정렬 문제 → CTC blank · 접기 · forward α → Wav2Vec2 + CTC 디코딩 · 타임스탬프 → Attention Enc-Dec(Whisper) → Transducer 격자 → wav2vec 2.0 · HuBERT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AA4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2주차 M2 · 4시간 · Colab (CPU도 가능) · 실습 노트북 Part 1 ~ 6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92240" y="1005840"/>
            <a:ext cx="5120640" cy="3017520"/>
          </a:xfrm>
          <a:prstGeom prst="roundRect">
            <a:avLst>
              <a:gd name="adj" fmla="val 1818"/>
            </a:avLst>
          </a:prstGeom>
          <a:solidFill>
            <a:srgbClr val="0B0F15"/>
          </a:solidFill>
          <a:ln w="12700">
            <a:solidFill>
              <a:srgbClr val="2A334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656832" y="1078992"/>
            <a:ext cx="4791456" cy="2871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9AA4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프레임별 경로 (- = blank):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--S-PP-EE--CH-----|--R-E-CC-O-G-N-II-T--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I-O-N---|-T-U-RR-N-S--|--S-OU-N-D-|...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5C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&gt;&gt;&gt; ctc_collapse(path)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5FD3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'SPEECH RECOGNITION TURNS SOUND INTO TEXT'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0.12 ~ 0.58 s  SPEECH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0.62 ~ 1.30 s  RECOGNITION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92240" y="406908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출력 예시 (값은 실행마다 다름)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115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0.0 · 오늘 답할 질문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소리 200프레임을 글자 11개로, 정렬도 모른 채 어떻게 배울까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982712" y="64465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음성 AI 전문가 과정 · Day 6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548640" y="1463040"/>
            <a:ext cx="11094415" cy="566928"/>
          </a:xfrm>
          <a:prstGeom prst="roundRect">
            <a:avLst>
              <a:gd name="adj" fmla="val 9677"/>
            </a:avLst>
          </a:prstGeom>
          <a:solidFill>
            <a:srgbClr val="161D29"/>
          </a:solidFill>
          <a:ln w="12700">
            <a:solidFill>
              <a:srgbClr val="2A3344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31520" y="1463040"/>
            <a:ext cx="365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2B3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188720" y="1463040"/>
            <a:ext cx="8778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음성 인식이 이미지 분류(D5)보다 어려운 이유는? 정렬 문제란?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10180015" y="1463040"/>
            <a:ext cx="1280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C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Part 1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548640" y="2176272"/>
            <a:ext cx="11094415" cy="566928"/>
          </a:xfrm>
          <a:prstGeom prst="roundRect">
            <a:avLst>
              <a:gd name="adj" fmla="val 9677"/>
            </a:avLst>
          </a:prstGeom>
          <a:solidFill>
            <a:srgbClr val="161D29"/>
          </a:solidFill>
          <a:ln w="12700">
            <a:solidFill>
              <a:srgbClr val="2A3344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31520" y="2176272"/>
            <a:ext cx="365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2B3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1188720" y="2176272"/>
            <a:ext cx="8778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CTC는 blank와 접기 규칙으로 어떻게 "모든 정렬"을 더할까?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10180015" y="2176272"/>
            <a:ext cx="1280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C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Part 2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548640" y="2889504"/>
            <a:ext cx="11094415" cy="566928"/>
          </a:xfrm>
          <a:prstGeom prst="roundRect">
            <a:avLst>
              <a:gd name="adj" fmla="val 9677"/>
            </a:avLst>
          </a:prstGeom>
          <a:solidFill>
            <a:srgbClr val="161D29"/>
          </a:solidFill>
          <a:ln w="12700">
            <a:solidFill>
              <a:srgbClr val="2A3344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31520" y="2889504"/>
            <a:ext cx="365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2B3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1188720" y="2889504"/>
            <a:ext cx="8778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Wav2Vec2는 1초를 몇 프레임으로 만들고, 출력을 어떻게 글자로 바꿀까?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10180015" y="2889504"/>
            <a:ext cx="1280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C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Part 3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548640" y="3602736"/>
            <a:ext cx="11094415" cy="566928"/>
          </a:xfrm>
          <a:prstGeom prst="roundRect">
            <a:avLst>
              <a:gd name="adj" fmla="val 9677"/>
            </a:avLst>
          </a:prstGeom>
          <a:solidFill>
            <a:srgbClr val="161D29"/>
          </a:solidFill>
          <a:ln w="12700">
            <a:solidFill>
              <a:srgbClr val="2A3344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731520" y="3602736"/>
            <a:ext cx="365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2B3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500" dirty="0"/>
          </a:p>
        </p:txBody>
      </p:sp>
      <p:sp>
        <p:nvSpPr>
          <p:cNvPr id="20" name="Text 17"/>
          <p:cNvSpPr/>
          <p:nvPr/>
        </p:nvSpPr>
        <p:spPr>
          <a:xfrm>
            <a:off x="1188720" y="3602736"/>
            <a:ext cx="8778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Whisper 같은 AED는 왜 한 토큰씩 생성하고, attention이 정렬이 될까?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10180015" y="3602736"/>
            <a:ext cx="1280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C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Part 4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548640" y="4315968"/>
            <a:ext cx="11094415" cy="566928"/>
          </a:xfrm>
          <a:prstGeom prst="roundRect">
            <a:avLst>
              <a:gd name="adj" fmla="val 9677"/>
            </a:avLst>
          </a:prstGeom>
          <a:solidFill>
            <a:srgbClr val="161D29"/>
          </a:solidFill>
          <a:ln w="12700">
            <a:solidFill>
              <a:srgbClr val="2A3344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731520" y="4315968"/>
            <a:ext cx="365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2B3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1500" dirty="0"/>
          </a:p>
        </p:txBody>
      </p:sp>
      <p:sp>
        <p:nvSpPr>
          <p:cNvPr id="24" name="Text 21"/>
          <p:cNvSpPr/>
          <p:nvPr/>
        </p:nvSpPr>
        <p:spPr>
          <a:xfrm>
            <a:off x="1188720" y="4315968"/>
            <a:ext cx="8778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스트리밍 자막에는 왜 Transducer를 쓸까? 세 방식의 차이는?</a:t>
            </a:r>
            <a:endParaRPr lang="en-US" sz="1400" dirty="0"/>
          </a:p>
        </p:txBody>
      </p:sp>
      <p:sp>
        <p:nvSpPr>
          <p:cNvPr id="25" name="Text 22"/>
          <p:cNvSpPr/>
          <p:nvPr/>
        </p:nvSpPr>
        <p:spPr>
          <a:xfrm>
            <a:off x="10180015" y="4315968"/>
            <a:ext cx="1280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C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Part 5</a:t>
            </a:r>
            <a:endParaRPr lang="en-US" sz="1100" dirty="0"/>
          </a:p>
        </p:txBody>
      </p:sp>
      <p:sp>
        <p:nvSpPr>
          <p:cNvPr id="26" name="Shape 23"/>
          <p:cNvSpPr/>
          <p:nvPr/>
        </p:nvSpPr>
        <p:spPr>
          <a:xfrm>
            <a:off x="548640" y="5029200"/>
            <a:ext cx="11094415" cy="566928"/>
          </a:xfrm>
          <a:prstGeom prst="roundRect">
            <a:avLst>
              <a:gd name="adj" fmla="val 9677"/>
            </a:avLst>
          </a:prstGeom>
          <a:solidFill>
            <a:srgbClr val="161D29"/>
          </a:solidFill>
          <a:ln w="12700">
            <a:solidFill>
              <a:srgbClr val="2A3344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731520" y="5029200"/>
            <a:ext cx="365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2B3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endParaRPr lang="en-US" sz="1500" dirty="0"/>
          </a:p>
        </p:txBody>
      </p:sp>
      <p:sp>
        <p:nvSpPr>
          <p:cNvPr id="28" name="Text 25"/>
          <p:cNvSpPr/>
          <p:nvPr/>
        </p:nvSpPr>
        <p:spPr>
          <a:xfrm>
            <a:off x="1188720" y="5029200"/>
            <a:ext cx="8778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라벨 없는 음성으로 무엇을 어떻게 미리 배울까? (wav2vec 2.0 · HuBERT)</a:t>
            </a:r>
            <a:endParaRPr lang="en-US" sz="1400" dirty="0"/>
          </a:p>
        </p:txBody>
      </p:sp>
      <p:sp>
        <p:nvSpPr>
          <p:cNvPr id="29" name="Text 26"/>
          <p:cNvSpPr/>
          <p:nvPr/>
        </p:nvSpPr>
        <p:spPr>
          <a:xfrm>
            <a:off x="10180015" y="5029200"/>
            <a:ext cx="1280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C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Part 6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115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0.0 · 오늘의 흐름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 가지 방법 + 자기지도 사전학습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982712" y="64465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음성 AI 전문가 과정 · Day 6</a:t>
            </a:r>
            <a:endParaRPr lang="en-US" sz="900" dirty="0"/>
          </a:p>
        </p:txBody>
      </p:sp>
      <p:pic>
        <p:nvPicPr>
          <p:cNvPr id="6" name="Image 0" descr="/home/claude/d6/build/fig_dark/flo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79982" y="1371600"/>
            <a:ext cx="9031731" cy="2743200"/>
          </a:xfrm>
          <a:prstGeom prst="rect">
            <a:avLst/>
          </a:prstGeom>
        </p:spPr>
      </p:pic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4343400"/>
          <a:ext cx="11094415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5852160"/>
                <a:gridCol w="4142232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5CC8E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교시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5CC8E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내용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5CC8E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실습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1교시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정렬 문제, CTC blank · 접기 · 경로 수 · forward α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Part 0 ~ 2 · 빈칸 1 ~ 2 · 워크시트 1교시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2교시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Wav2Vec2 + CTC: 프레임 수 공식, greedy 디코딩, 스파이크, 타임스탬프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Part 3 · 빈칸 3 ~ 5 · 워크시트 2교시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3교시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Attention Enc-Dec(Whisper-tiny), Transducer 격자, 세 방식 비교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Part 4 ~ 5 · 빈칸 6 ~ 8 · 워크시트 3교시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4교시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wav2vec 2.0 마스킹 · 양자화 · InfoNCE, HuBERT 가짜 라벨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Part 6 ~ 7 · 빈칸 9 · 워크시트 4교시 · 노션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</a:tr>
            </a:tbl>
          </a:graphicData>
        </a:graphic>
      </p:graphicFrame>
      <p:sp>
        <p:nvSpPr>
          <p:cNvPr id="8" name="Shape 3"/>
          <p:cNvSpPr/>
          <p:nvPr/>
        </p:nvSpPr>
        <p:spPr>
          <a:xfrm>
            <a:off x="548640" y="5897880"/>
            <a:ext cx="3108960" cy="384048"/>
          </a:xfrm>
          <a:prstGeom prst="roundRect">
            <a:avLst>
              <a:gd name="adj" fmla="val 19048"/>
            </a:avLst>
          </a:prstGeom>
          <a:solidFill>
            <a:srgbClr val="3A2E12"/>
          </a:solidFill>
          <a:ln w="12700">
            <a:solidFill>
              <a:srgbClr val="F2B33D"/>
            </a:solidFill>
            <a:prstDash val="solid"/>
          </a:ln>
        </p:spPr>
      </p:sp>
      <p:sp>
        <p:nvSpPr>
          <p:cNvPr id="9" name="Text 4"/>
          <p:cNvSpPr/>
          <p:nvPr/>
        </p:nvSpPr>
        <p:spPr>
          <a:xfrm>
            <a:off x="685800" y="5897880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2B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 애니메이션 </a:t>
            </a:r>
            <a:pPr indent="0" marL="0">
              <a:buNone/>
            </a:pPr>
            <a:r>
              <a:rPr lang="en-US" sz="1150" u="sng" dirty="0">
                <a:solidFill>
                  <a:srgbClr val="F2B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D6-1 오늘의 흐름 (Part 1~6)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115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1.1 · 정렬 문제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 ≫ U, 그리고 어느 프레임이 어느 글자인지 모른다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982712" y="64465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음성 AI 전문가 과정 · Day 6</a:t>
            </a:r>
            <a:endParaRPr lang="en-US" sz="900" dirty="0"/>
          </a:p>
        </p:txBody>
      </p:sp>
      <p:pic>
        <p:nvPicPr>
          <p:cNvPr id="6" name="Image 0" descr="/home/claude/d6/build/fig_dark/alig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71600"/>
            <a:ext cx="7223760" cy="2498785"/>
          </a:xfrm>
          <a:prstGeom prst="rect">
            <a:avLst/>
          </a:prstGeom>
        </p:spPr>
      </p:pic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001000" y="1417320"/>
          <a:ext cx="3639312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2359152"/>
              </a:tblGrid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5CC8E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방법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5CC8E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정렬을 다루는 방식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CTC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경로를 모두 더함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AED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attention으로 찾아봄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Transducer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T×U 격자 경로 합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</a:tr>
            </a:tbl>
          </a:graphicData>
        </a:graphic>
      </p:graphicFrame>
      <p:sp>
        <p:nvSpPr>
          <p:cNvPr id="8" name="Shape 3"/>
          <p:cNvSpPr/>
          <p:nvPr/>
        </p:nvSpPr>
        <p:spPr>
          <a:xfrm>
            <a:off x="548640" y="4251960"/>
            <a:ext cx="11094415" cy="868680"/>
          </a:xfrm>
          <a:prstGeom prst="roundRect">
            <a:avLst>
              <a:gd name="adj" fmla="val 6316"/>
            </a:avLst>
          </a:prstGeom>
          <a:solidFill>
            <a:srgbClr val="0B0F15"/>
          </a:solidFill>
          <a:ln w="12700">
            <a:solidFill>
              <a:srgbClr val="2A3344"/>
            </a:solidFill>
            <a:prstDash val="solid"/>
          </a:ln>
        </p:spPr>
      </p:sp>
      <p:sp>
        <p:nvSpPr>
          <p:cNvPr id="9" name="Text 4"/>
          <p:cNvSpPr/>
          <p:nvPr/>
        </p:nvSpPr>
        <p:spPr>
          <a:xfrm>
            <a:off x="713232" y="4325112"/>
            <a:ext cx="10765231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 = (x₁, …, x_T)  10 ms(또는 20 ms)마다 한 프레임     Y = (y₁, …, y_U)  글자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F2B3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Ŷ = argmax_Y P(Y | X)       2초: T = 200 (10 ms) vs U ≈ 11</a:t>
            </a:r>
            <a:endParaRPr lang="en-US" sz="1300" dirty="0"/>
          </a:p>
        </p:txBody>
      </p:sp>
      <p:sp>
        <p:nvSpPr>
          <p:cNvPr id="10" name="Text 5"/>
          <p:cNvSpPr/>
          <p:nvPr/>
        </p:nvSpPr>
        <p:spPr>
          <a:xfrm>
            <a:off x="548640" y="5303520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2B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학습 데이터 = "이 녹음 = hello world" 뿐. 프레임 ↔ 글자 대응(정렬)은 없다</a:t>
            </a:r>
            <a:endParaRPr lang="en-US" sz="1350" dirty="0"/>
          </a:p>
        </p:txBody>
      </p:sp>
      <p:sp>
        <p:nvSpPr>
          <p:cNvPr id="11" name="Shape 6"/>
          <p:cNvSpPr/>
          <p:nvPr/>
        </p:nvSpPr>
        <p:spPr>
          <a:xfrm>
            <a:off x="8092440" y="5303520"/>
            <a:ext cx="3547872" cy="384048"/>
          </a:xfrm>
          <a:prstGeom prst="roundRect">
            <a:avLst>
              <a:gd name="adj" fmla="val 19048"/>
            </a:avLst>
          </a:prstGeom>
          <a:solidFill>
            <a:srgbClr val="3A2E12"/>
          </a:solidFill>
          <a:ln w="12700">
            <a:solidFill>
              <a:srgbClr val="F2B33D"/>
            </a:solidFill>
            <a:prstDash val="solid"/>
          </a:ln>
        </p:spPr>
      </p:sp>
      <p:sp>
        <p:nvSpPr>
          <p:cNvPr id="12" name="Text 7"/>
          <p:cNvSpPr/>
          <p:nvPr/>
        </p:nvSpPr>
        <p:spPr>
          <a:xfrm>
            <a:off x="8229600" y="5303520"/>
            <a:ext cx="32735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2B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 애니메이션 </a:t>
            </a:r>
            <a:pPr indent="0" marL="0">
              <a:buNone/>
            </a:pPr>
            <a:r>
              <a:rPr lang="en-US" sz="1150" u="sng" dirty="0">
                <a:solidFill>
                  <a:srgbClr val="F2B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D6-2 정렬 문제 (속도 · 경로 수)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115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2.1 · CTC blank와 접기 규칙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𝓑: ① 연속 반복을 하나로 → ② blank 지우기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982712" y="64465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음성 AI 전문가 과정 · Day 6</a:t>
            </a:r>
            <a:endParaRPr lang="en-US" sz="900" dirty="0"/>
          </a:p>
        </p:txBody>
      </p:sp>
      <p:pic>
        <p:nvPicPr>
          <p:cNvPr id="6" name="Image 0" descr="/home/claude/d6/build/fig_dark/collaps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27704" y="1325880"/>
            <a:ext cx="9736288" cy="329184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548640" y="4846320"/>
            <a:ext cx="5486400" cy="960120"/>
          </a:xfrm>
          <a:prstGeom prst="roundRect">
            <a:avLst>
              <a:gd name="adj" fmla="val 5714"/>
            </a:avLst>
          </a:prstGeom>
          <a:solidFill>
            <a:srgbClr val="161D29"/>
          </a:solidFill>
          <a:ln w="15875">
            <a:solidFill>
              <a:srgbClr val="5FD38D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685800" y="4919472"/>
            <a:ext cx="5212080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5FD38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🧩 빈칸 실습 1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return [k for k in merged if k != ____]      정답: blank</a:t>
            </a:r>
            <a:endParaRPr lang="en-US" sz="1200" dirty="0"/>
          </a:p>
        </p:txBody>
      </p:sp>
      <p:sp>
        <p:nvSpPr>
          <p:cNvPr id="9" name="Shape 5"/>
          <p:cNvSpPr/>
          <p:nvPr/>
        </p:nvSpPr>
        <p:spPr>
          <a:xfrm>
            <a:off x="6400800" y="4846320"/>
            <a:ext cx="5239512" cy="384048"/>
          </a:xfrm>
          <a:prstGeom prst="roundRect">
            <a:avLst>
              <a:gd name="adj" fmla="val 19048"/>
            </a:avLst>
          </a:prstGeom>
          <a:solidFill>
            <a:srgbClr val="3A2E12"/>
          </a:solidFill>
          <a:ln w="12700">
            <a:solidFill>
              <a:srgbClr val="F2B33D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6537960" y="4846320"/>
            <a:ext cx="49651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2B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 애니메이션 </a:t>
            </a:r>
            <a:pPr indent="0" marL="0">
              <a:buNone/>
            </a:pPr>
            <a:r>
              <a:rPr lang="en-US" sz="1150" u="sng" dirty="0">
                <a:solidFill>
                  <a:srgbClr val="F2B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D6-3 CTC 접기 (경로 직접 바꾸기)</a:t>
            </a:r>
            <a:endParaRPr lang="en-US" sz="1150" dirty="0"/>
          </a:p>
        </p:txBody>
      </p:sp>
      <p:sp>
        <p:nvSpPr>
          <p:cNvPr id="11" name="Text 7"/>
          <p:cNvSpPr/>
          <p:nvPr/>
        </p:nvSpPr>
        <p:spPr>
          <a:xfrm>
            <a:off x="6400800" y="5349240"/>
            <a:ext cx="5239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5FD38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blank = 같은 글자를 "나누는" 칸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115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2.2 · CTC 확률과 경로 수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정답으로 접히는 경로를 "모두" 더한다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982712" y="64465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음성 AI 전문가 과정 · Day 6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548640" y="1463040"/>
            <a:ext cx="6766560" cy="1828800"/>
          </a:xfrm>
          <a:prstGeom prst="roundRect">
            <a:avLst>
              <a:gd name="adj" fmla="val 3000"/>
            </a:avLst>
          </a:prstGeom>
          <a:solidFill>
            <a:srgbClr val="0B0F15"/>
          </a:solidFill>
          <a:ln w="12700">
            <a:solidFill>
              <a:srgbClr val="2A3344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13232" y="1536192"/>
            <a:ext cx="6437376" cy="1682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50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P(π | X) = Π_t p_t(π_t)           ← 조건부 독립 가정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50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500" b="1" dirty="0">
                <a:solidFill>
                  <a:srgbClr val="F2B3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P(Y | X) = Σ_{π ∈ 𝓑⁻¹(Y)} Π_t p_t(π_t)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50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500" dirty="0">
                <a:solidFill>
                  <a:srgbClr val="5FD3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L_CTC = −log P(Y | X)</a:t>
            </a:r>
            <a:endParaRPr lang="en-US" sz="15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589520" y="1463040"/>
          <a:ext cx="4050792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2587752"/>
              </a:tblGrid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5CC8E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T, U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5CC8E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경로 수 C(T+U, 2U)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5, 3 (cat)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28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6, 3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84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50, 10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≈ 10¹⁶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150, 40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≈ 10⁵⁵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</a:tr>
            </a:tbl>
          </a:graphicData>
        </a:graphic>
      </p:graphicFrame>
      <p:sp>
        <p:nvSpPr>
          <p:cNvPr id="9" name="Shape 5"/>
          <p:cNvSpPr/>
          <p:nvPr/>
        </p:nvSpPr>
        <p:spPr>
          <a:xfrm>
            <a:off x="548640" y="3566160"/>
            <a:ext cx="11094415" cy="1188720"/>
          </a:xfrm>
          <a:prstGeom prst="roundRect">
            <a:avLst>
              <a:gd name="adj" fmla="val 4615"/>
            </a:avLst>
          </a:prstGeom>
          <a:solidFill>
            <a:srgbClr val="0B0F15"/>
          </a:solidFill>
          <a:ln w="12700">
            <a:solidFill>
              <a:srgbClr val="2A3344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713232" y="3639312"/>
            <a:ext cx="10765231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9AA4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paths = all_alignments("cat", 5, ["-", "c", "a", "t"])     # 4⁵ = 1024개를 전부 만들어 보고 접기</a:t>
            </a:r>
            <a:endParaRPr lang="en-US" sz="12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len(paths) → 28 = C(8, 6)    예: '--cat', '-c-at', 'cc-at', 'caatt', …</a:t>
            </a:r>
            <a:endParaRPr lang="en-US" sz="12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F2B3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실제 3초 · 40글자 → 약 10⁵⁵개 → 하나씩 더하기는 불가능 → 동적 계획법(α)</a:t>
            </a:r>
            <a:endParaRPr lang="en-US" sz="1250" dirty="0"/>
          </a:p>
        </p:txBody>
      </p:sp>
      <p:sp>
        <p:nvSpPr>
          <p:cNvPr id="11" name="Text 7"/>
          <p:cNvSpPr/>
          <p:nvPr/>
        </p:nvSpPr>
        <p:spPr>
          <a:xfrm>
            <a:off x="548640" y="502920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2B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조건부 독립 = 앞에서 무엇을 썼는지 모른 채 고른다 → 빠르지만 문맥(동음이의어)에 약하다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115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2.3 · forward(α) 알고리즘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확장 라벨 위에서 겹치는 계산을 재사용: O(T·S)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982712" y="64465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음성 AI 전문가 과정 · Day 6</a:t>
            </a:r>
            <a:endParaRPr lang="en-US" sz="900" dirty="0"/>
          </a:p>
        </p:txBody>
      </p:sp>
      <p:pic>
        <p:nvPicPr>
          <p:cNvPr id="6" name="Image 0" descr="/home/claude/d6/build/fig_dark/lattic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25880"/>
            <a:ext cx="6766560" cy="3030501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7498080" y="1371600"/>
            <a:ext cx="4142232" cy="3017520"/>
          </a:xfrm>
          <a:prstGeom prst="roundRect">
            <a:avLst>
              <a:gd name="adj" fmla="val 1818"/>
            </a:avLst>
          </a:prstGeom>
          <a:solidFill>
            <a:srgbClr val="0B0F15"/>
          </a:solidFill>
          <a:ln w="12700">
            <a:solidFill>
              <a:srgbClr val="2A3344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7662672" y="1444752"/>
            <a:ext cx="3813048" cy="2871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9AA4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l′ = − y₁ − y₂ … − (S = 2U+1)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α_t(s) = ( α_{t−1}(s)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+ α_{t−1}(s−1)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+ α_{t−1}(s−2)* ) · p_t(l′_s)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36A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 l′_s ≠ blank 그리고 l′_s ≠ l′_{s−2}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F2B3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 = α_T(S−1) + α_T(S−2)</a:t>
            </a:r>
            <a:endParaRPr lang="en-US" sz="1200" dirty="0"/>
          </a:p>
        </p:txBody>
      </p:sp>
      <p:sp>
        <p:nvSpPr>
          <p:cNvPr id="9" name="Shape 5"/>
          <p:cNvSpPr/>
          <p:nvPr/>
        </p:nvSpPr>
        <p:spPr>
          <a:xfrm>
            <a:off x="548640" y="4709160"/>
            <a:ext cx="5486400" cy="1005840"/>
          </a:xfrm>
          <a:prstGeom prst="roundRect">
            <a:avLst>
              <a:gd name="adj" fmla="val 5455"/>
            </a:avLst>
          </a:prstGeom>
          <a:solidFill>
            <a:srgbClr val="161D29"/>
          </a:solidFill>
          <a:ln w="15875">
            <a:solidFill>
              <a:srgbClr val="5FD38D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685800" y="4782312"/>
            <a:ext cx="521208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5FD38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🧩 빈칸 실습 2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if s &gt;= 2 and lp[s] != blank and lp[s] != ____:      정답: lp[s - 2]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6400800" y="4709160"/>
            <a:ext cx="5239512" cy="384048"/>
          </a:xfrm>
          <a:prstGeom prst="roundRect">
            <a:avLst>
              <a:gd name="adj" fmla="val 19048"/>
            </a:avLst>
          </a:prstGeom>
          <a:solidFill>
            <a:srgbClr val="3A2E12"/>
          </a:solidFill>
          <a:ln w="12700">
            <a:solidFill>
              <a:srgbClr val="F2B33D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6537960" y="4709160"/>
            <a:ext cx="49651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2B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 애니메이션 </a:t>
            </a:r>
            <a:pPr indent="0" marL="0">
              <a:buNone/>
            </a:pPr>
            <a:r>
              <a:rPr lang="en-US" sz="1150" u="sng" dirty="0">
                <a:solidFill>
                  <a:srgbClr val="F2B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D6-4 CTC 격자 · α (경로 수 세기)</a:t>
            </a:r>
            <a:endParaRPr lang="en-US" sz="1150" dirty="0"/>
          </a:p>
        </p:txBody>
      </p:sp>
      <p:sp>
        <p:nvSpPr>
          <p:cNvPr id="13" name="Text 9"/>
          <p:cNvSpPr/>
          <p:nvPr/>
        </p:nvSpPr>
        <p:spPr>
          <a:xfrm>
            <a:off x="6400800" y="5212080"/>
            <a:ext cx="5239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5FD38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수식 검증 1: 전부 더하기 = α = F.ctc_loss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115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3.1 · Wav2Vec2 프레임 수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파형을 CNN 7층에 바로: 보폭 320 (20 ms), 수용 영역 400 (25 ms)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982712" y="64465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음성 AI 전문가 과정 · Day 6</a:t>
            </a:r>
            <a:endParaRPr lang="en-US" sz="900" dirty="0"/>
          </a:p>
        </p:txBody>
      </p:sp>
      <p:pic>
        <p:nvPicPr>
          <p:cNvPr id="6" name="Image 0" descr="/home/claude/d6/build/fig_dark/w2v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4435" y="1325880"/>
            <a:ext cx="10622826" cy="320040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548640" y="4663440"/>
            <a:ext cx="6766560" cy="1234440"/>
          </a:xfrm>
          <a:prstGeom prst="roundRect">
            <a:avLst>
              <a:gd name="adj" fmla="val 4444"/>
            </a:avLst>
          </a:prstGeom>
          <a:solidFill>
            <a:srgbClr val="0B0F15"/>
          </a:solidFill>
          <a:ln w="12700">
            <a:solidFill>
              <a:srgbClr val="2A3344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713232" y="4736592"/>
            <a:ext cx="6437376" cy="1088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L_i = ⌊(L_{i−1} − K_i) / S_i⌋ + 1</a:t>
            </a:r>
            <a:endParaRPr lang="en-US" sz="12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9AA4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 = (10,3,3,3,3,2,2)   S = (5,2,2,2,2,2,2)</a:t>
            </a:r>
            <a:endParaRPr lang="en-US" sz="12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50" b="1" dirty="0">
                <a:solidFill>
                  <a:srgbClr val="F2B3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 = ⌊(L − 400) / 320⌋ + 1      1초 → 49 프레임</a:t>
            </a:r>
            <a:endParaRPr lang="en-US" sz="1250" dirty="0"/>
          </a:p>
        </p:txBody>
      </p:sp>
      <p:sp>
        <p:nvSpPr>
          <p:cNvPr id="9" name="Shape 5"/>
          <p:cNvSpPr/>
          <p:nvPr/>
        </p:nvSpPr>
        <p:spPr>
          <a:xfrm>
            <a:off x="7498080" y="4709160"/>
            <a:ext cx="4142232" cy="685800"/>
          </a:xfrm>
          <a:prstGeom prst="roundRect">
            <a:avLst>
              <a:gd name="adj" fmla="val 8000"/>
            </a:avLst>
          </a:prstGeom>
          <a:solidFill>
            <a:srgbClr val="161D29"/>
          </a:solidFill>
          <a:ln w="15875">
            <a:solidFill>
              <a:srgbClr val="5FD38D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7635240" y="4782312"/>
            <a:ext cx="3867912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5FD38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🧩 빈칸 실습 3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T_formula = (L - R) // ____ + 1   정답: S_TOT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7498080" y="5486400"/>
            <a:ext cx="4142232" cy="384048"/>
          </a:xfrm>
          <a:prstGeom prst="roundRect">
            <a:avLst>
              <a:gd name="adj" fmla="val 19048"/>
            </a:avLst>
          </a:prstGeom>
          <a:solidFill>
            <a:srgbClr val="3A2E12"/>
          </a:solidFill>
          <a:ln w="12700">
            <a:solidFill>
              <a:srgbClr val="F2B33D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7635240" y="5486400"/>
            <a:ext cx="38679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2B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 애니메이션 </a:t>
            </a:r>
            <a:pPr indent="0" marL="0">
              <a:buNone/>
            </a:pPr>
            <a:r>
              <a:rPr lang="en-US" sz="1150" u="sng" dirty="0">
                <a:solidFill>
                  <a:srgbClr val="F2B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D6-5 Wav2Vec2 프레임 · 디코딩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115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3.2 · greedy 디코딩과 CTC 스파이크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프레임마다 argmax → 접기, 대부분은 blank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982712" y="64465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음성 AI 전문가 과정 · Day 6</a:t>
            </a:r>
            <a:endParaRPr lang="en-US" sz="900" dirty="0"/>
          </a:p>
        </p:txBody>
      </p:sp>
      <p:pic>
        <p:nvPicPr>
          <p:cNvPr id="6" name="Image 0" descr="/home/claude/d6/build/fig_dark/spik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25880"/>
            <a:ext cx="6949440" cy="2378005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7680960" y="1371600"/>
            <a:ext cx="3959352" cy="2514600"/>
          </a:xfrm>
          <a:prstGeom prst="roundRect">
            <a:avLst>
              <a:gd name="adj" fmla="val 2182"/>
            </a:avLst>
          </a:prstGeom>
          <a:solidFill>
            <a:srgbClr val="0B0F15"/>
          </a:solidFill>
          <a:ln w="12700">
            <a:solidFill>
              <a:srgbClr val="2A3344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7845552" y="1444752"/>
            <a:ext cx="3630168" cy="2368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ids = logits.argmax(dim=-1)[0]</a:t>
            </a:r>
            <a:endParaRPr lang="en-US" sz="11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path = [id2tok[i] for i in ids]</a:t>
            </a:r>
            <a:endParaRPr lang="en-US" sz="11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text = "".join(</a:t>
            </a:r>
            <a:endParaRPr lang="en-US" sz="11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ctc_collapse(path, "&lt;pad&gt;"))</a:t>
            </a:r>
            <a:endParaRPr lang="en-US" sz="11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.replace("|", " ")</a:t>
            </a:r>
            <a:endParaRPr lang="en-US" sz="11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5C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processor.batch_decode(ids)</a:t>
            </a:r>
            <a:endParaRPr lang="en-US" sz="11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9AA4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같은 일: 합치기 → &lt;pad&gt; 제거 → | → 공백</a:t>
            </a:r>
            <a:endParaRPr lang="en-US" sz="115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4114800"/>
          <a:ext cx="694944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4937760"/>
              </a:tblGrid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5CC8E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토큰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5CC8E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역할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6EAF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&lt;pad&gt; (0번)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CTC blank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6EAF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|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띄어쓰기를 글자 하나로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6EAF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A–Z, '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대문자 글자 (960h 모델)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</a:tr>
            </a:tbl>
          </a:graphicData>
        </a:graphic>
      </p:graphicFrame>
      <p:sp>
        <p:nvSpPr>
          <p:cNvPr id="10" name="Shape 5"/>
          <p:cNvSpPr/>
          <p:nvPr/>
        </p:nvSpPr>
        <p:spPr>
          <a:xfrm>
            <a:off x="7680960" y="4114800"/>
            <a:ext cx="3959352" cy="777240"/>
          </a:xfrm>
          <a:prstGeom prst="roundRect">
            <a:avLst>
              <a:gd name="adj" fmla="val 7059"/>
            </a:avLst>
          </a:prstGeom>
          <a:solidFill>
            <a:srgbClr val="161D29"/>
          </a:solidFill>
          <a:ln w="15875">
            <a:solidFill>
              <a:srgbClr val="5FD38D"/>
            </a:solidFill>
            <a:prstDash val="solid"/>
          </a:ln>
        </p:spPr>
      </p:sp>
      <p:sp>
        <p:nvSpPr>
          <p:cNvPr id="11" name="Text 6"/>
          <p:cNvSpPr/>
          <p:nvPr/>
        </p:nvSpPr>
        <p:spPr>
          <a:xfrm>
            <a:off x="7818120" y="4187952"/>
            <a:ext cx="3685032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5FD38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🧩 빈칸 실습 4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ids = logits.argmax(dim=____)[0]    정답: -1</a:t>
            </a:r>
            <a:endParaRPr lang="en-US" sz="1200" dirty="0"/>
          </a:p>
        </p:txBody>
      </p:sp>
      <p:sp>
        <p:nvSpPr>
          <p:cNvPr id="12" name="Text 7"/>
          <p:cNvSpPr/>
          <p:nvPr/>
        </p:nvSpPr>
        <p:spPr>
          <a:xfrm>
            <a:off x="7680960" y="5029200"/>
            <a:ext cx="39593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2B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π*_t = argmax_k p_t(k),  Ŷ = 𝓑(π*)</a:t>
            </a:r>
            <a:endParaRPr lang="en-US" sz="13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115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3.3 · CTC 타임스탬프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스파이크 프레임 × 0.02 s = 글자의 대략적인 시각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982712" y="64465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음성 AI 전문가 과정 · Day 6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548640" y="1463040"/>
            <a:ext cx="6766560" cy="2651760"/>
          </a:xfrm>
          <a:prstGeom prst="roundRect">
            <a:avLst>
              <a:gd name="adj" fmla="val 2069"/>
            </a:avLst>
          </a:prstGeom>
          <a:solidFill>
            <a:srgbClr val="0B0F15"/>
          </a:solidFill>
          <a:ln w="12700">
            <a:solidFill>
              <a:srgbClr val="2A3344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13232" y="1536192"/>
            <a:ext cx="6437376" cy="2505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F2B3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FRAME_SEC = S_TOT / SR          # 320 / 16000 = 0.02</a:t>
            </a:r>
            <a:endParaRPr lang="en-US" sz="12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2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t, p in enumerate(path):</a:t>
            </a:r>
            <a:endParaRPr lang="en-US" sz="12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p != "&lt;pad&gt;" and (t == 0 or p != path[t-1]):</a:t>
            </a:r>
            <a:endParaRPr lang="en-US" sz="12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char_times.append((p, t * FRAME_SEC))</a:t>
            </a:r>
            <a:endParaRPr lang="en-US" sz="12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2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9AA4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'|' 가 나올 때마다 단어 하나 완성</a:t>
            </a:r>
            <a:endParaRPr lang="en-US" sz="125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589520" y="1463040"/>
          <a:ext cx="4050792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2313432"/>
              </a:tblGrid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5CC8E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단어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5CC8E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시작 ~ 끝 (예시)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SPEECH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0.12 ~ 0.58 s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RECOGNITION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0.62 ~ 1.30 s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TURNS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1.36 ~ 1.62 s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SOUND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1.70 ~ 2.02 s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</a:tr>
            </a:tbl>
          </a:graphicData>
        </a:graphic>
      </p:graphicFrame>
      <p:sp>
        <p:nvSpPr>
          <p:cNvPr id="9" name="Shape 5"/>
          <p:cNvSpPr/>
          <p:nvPr/>
        </p:nvSpPr>
        <p:spPr>
          <a:xfrm>
            <a:off x="548640" y="4389120"/>
            <a:ext cx="5486400" cy="868680"/>
          </a:xfrm>
          <a:prstGeom prst="roundRect">
            <a:avLst>
              <a:gd name="adj" fmla="val 6316"/>
            </a:avLst>
          </a:prstGeom>
          <a:solidFill>
            <a:srgbClr val="161D29"/>
          </a:solidFill>
          <a:ln w="15875">
            <a:solidFill>
              <a:srgbClr val="5FD38D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685800" y="4462272"/>
            <a:ext cx="5212080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5FD38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🧩 빈칸 실습 5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FRAME_SEC = ____       정답: S_TOT / SR (0.02)</a:t>
            </a:r>
            <a:endParaRPr lang="en-US" sz="1200" dirty="0"/>
          </a:p>
        </p:txBody>
      </p:sp>
      <p:sp>
        <p:nvSpPr>
          <p:cNvPr id="11" name="Text 7"/>
          <p:cNvSpPr/>
          <p:nvPr/>
        </p:nvSpPr>
        <p:spPr>
          <a:xfrm>
            <a:off x="6400800" y="4434840"/>
            <a:ext cx="5239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5CC8E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D9 WhisperX 단어 정렬(forced alignment)의 출발점</a:t>
            </a:r>
            <a:endParaRPr lang="en-US" sz="1350" dirty="0"/>
          </a:p>
        </p:txBody>
      </p:sp>
      <p:sp>
        <p:nvSpPr>
          <p:cNvPr id="12" name="Text 8"/>
          <p:cNvSpPr/>
          <p:nvPr/>
        </p:nvSpPr>
        <p:spPr>
          <a:xfrm>
            <a:off x="548640" y="548640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2B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 ms(Log-Mel hop)와 헷갈리지 않기: Wav2Vec2 프레임은 20 ms</a:t>
            </a:r>
            <a:endParaRPr lang="en-US" sz="13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115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4.1 · Attention Encoder-Decoder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연쇄 법칙 그대로: 앞 글자를 보며 한 토큰씩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982712" y="64465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음성 AI 전문가 과정 · Day 6</a:t>
            </a:r>
            <a:endParaRPr lang="en-US" sz="900" dirty="0"/>
          </a:p>
        </p:txBody>
      </p:sp>
      <p:pic>
        <p:nvPicPr>
          <p:cNvPr id="6" name="Image 0" descr="/home/claude/d6/build/fig_dark/att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64090" y="1325880"/>
            <a:ext cx="9263516" cy="329184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548640" y="4754880"/>
            <a:ext cx="6949440" cy="1143000"/>
          </a:xfrm>
          <a:prstGeom prst="roundRect">
            <a:avLst>
              <a:gd name="adj" fmla="val 4800"/>
            </a:avLst>
          </a:prstGeom>
          <a:solidFill>
            <a:srgbClr val="0B0F15"/>
          </a:solidFill>
          <a:ln w="12700">
            <a:solidFill>
              <a:srgbClr val="2A3344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713232" y="4828032"/>
            <a:ext cx="6620256" cy="996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50" b="1" dirty="0">
                <a:solidFill>
                  <a:srgbClr val="F2B3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P(Y | X) = Π_u P(y_u | y_&lt;u, X)</a:t>
            </a:r>
            <a:endParaRPr lang="en-US" sz="12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Attention(Q, K, V) = softmax(QKᵀ / √d_k) V</a:t>
            </a:r>
            <a:endParaRPr lang="en-US" sz="12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9AA4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 = 디코더 상태,  K = V = 인코더 출력 H</a:t>
            </a:r>
            <a:endParaRPr lang="en-US" sz="1250" dirty="0"/>
          </a:p>
        </p:txBody>
      </p:sp>
      <p:sp>
        <p:nvSpPr>
          <p:cNvPr id="9" name="Shape 5"/>
          <p:cNvSpPr/>
          <p:nvPr/>
        </p:nvSpPr>
        <p:spPr>
          <a:xfrm>
            <a:off x="7680960" y="4800600"/>
            <a:ext cx="3959352" cy="384048"/>
          </a:xfrm>
          <a:prstGeom prst="roundRect">
            <a:avLst>
              <a:gd name="adj" fmla="val 19048"/>
            </a:avLst>
          </a:prstGeom>
          <a:solidFill>
            <a:srgbClr val="3A2E12"/>
          </a:solidFill>
          <a:ln w="12700">
            <a:solidFill>
              <a:srgbClr val="F2B33D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7818120" y="4800600"/>
            <a:ext cx="36850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2B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 애니메이션 </a:t>
            </a:r>
            <a:pPr indent="0" marL="0">
              <a:buNone/>
            </a:pPr>
            <a:r>
              <a:rPr lang="en-US" sz="1150" u="sng" dirty="0">
                <a:solidFill>
                  <a:srgbClr val="F2B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D6-6 Cross-attention 정렬</a:t>
            </a:r>
            <a:endParaRPr lang="en-US" sz="11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115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4.2 · scaled dot-product attention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√d_k로 나누지 않으면 softmax가 한 칸에 몰린다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982712" y="64465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음성 AI 전문가 과정 · Day 6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548640" y="1463040"/>
            <a:ext cx="6035040" cy="2377440"/>
          </a:xfrm>
          <a:prstGeom prst="roundRect">
            <a:avLst>
              <a:gd name="adj" fmla="val 2308"/>
            </a:avLst>
          </a:prstGeom>
          <a:solidFill>
            <a:srgbClr val="0B0F15"/>
          </a:solidFill>
          <a:ln w="12700">
            <a:solidFill>
              <a:srgbClr val="2A3344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13232" y="1536192"/>
            <a:ext cx="5705856" cy="2231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attention(Q, K, V):</a:t>
            </a:r>
            <a:endParaRPr lang="en-US" sz="12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 = Q.shape[-1]</a:t>
            </a:r>
            <a:endParaRPr lang="en-US" sz="12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F2B3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scores = Q @ K.transpose(-2, -1) / math.sqrt(d)</a:t>
            </a:r>
            <a:endParaRPr lang="en-US" sz="12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w = scores.softmax(dim=-1)     # 프레임 방향 합 = 1</a:t>
            </a:r>
            <a:endParaRPr lang="en-US" sz="12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w @ V, w</a:t>
            </a:r>
            <a:endParaRPr lang="en-US" sz="12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2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9AA4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== F.scaled_dot_product_attention(Q, K, V)</a:t>
            </a:r>
            <a:endParaRPr lang="en-US" sz="125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0" y="1463040"/>
          <a:ext cx="4782312" cy="914400"/>
        </p:xfrm>
        <a:graphic>
          <a:graphicData uri="http://schemas.openxmlformats.org/drawingml/2006/table">
            <a:tbl>
              <a:tblPr/>
              <a:tblGrid>
                <a:gridCol w="640080"/>
                <a:gridCol w="914400"/>
                <a:gridCol w="1097280"/>
                <a:gridCol w="2130552"/>
              </a:tblGrid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5CC8E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5CC8E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q·k 분산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5CC8E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√d로 나눈 뒤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5CC8E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최대 가중치 (안 나눔 → 나눔)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6EAF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16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6EAF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16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6EAF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1.0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6EAF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0.61 → 0.14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6EAF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64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6EAF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64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6EAF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1.0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6EAF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0.81 → 0.14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6EAF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256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6EAF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256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6EAF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1.0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6EAF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0.91 → 0.14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6EAF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1024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6EAF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1024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6EAF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1.0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6EAF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0.95 → 0.14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</a:tr>
            </a:tbl>
          </a:graphicData>
        </a:graphic>
      </p:graphicFrame>
      <p:sp>
        <p:nvSpPr>
          <p:cNvPr id="9" name="Shape 5"/>
          <p:cNvSpPr/>
          <p:nvPr/>
        </p:nvSpPr>
        <p:spPr>
          <a:xfrm>
            <a:off x="548640" y="4114800"/>
            <a:ext cx="6035040" cy="868680"/>
          </a:xfrm>
          <a:prstGeom prst="roundRect">
            <a:avLst>
              <a:gd name="adj" fmla="val 6316"/>
            </a:avLst>
          </a:prstGeom>
          <a:solidFill>
            <a:srgbClr val="161D29"/>
          </a:solidFill>
          <a:ln w="15875">
            <a:solidFill>
              <a:srgbClr val="5FD38D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685800" y="4187952"/>
            <a:ext cx="5760720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5FD38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🧩 빈칸 실습 6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scores = Q @ K.transpose(-2, -1) / ____     정답: math.sqrt(d)</a:t>
            </a:r>
            <a:endParaRPr lang="en-US" sz="1200" dirty="0"/>
          </a:p>
        </p:txBody>
      </p:sp>
      <p:sp>
        <p:nvSpPr>
          <p:cNvPr id="11" name="Text 7"/>
          <p:cNvSpPr/>
          <p:nvPr/>
        </p:nvSpPr>
        <p:spPr>
          <a:xfrm>
            <a:off x="6858000" y="4160520"/>
            <a:ext cx="47823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5FD38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Var(q·k) = d_k  →  √d_k로 나누면 1</a:t>
            </a:r>
            <a:endParaRPr lang="en-US" sz="1350" dirty="0"/>
          </a:p>
        </p:txBody>
      </p:sp>
      <p:sp>
        <p:nvSpPr>
          <p:cNvPr id="12" name="Shape 8"/>
          <p:cNvSpPr/>
          <p:nvPr/>
        </p:nvSpPr>
        <p:spPr>
          <a:xfrm>
            <a:off x="6858000" y="4663440"/>
            <a:ext cx="4782312" cy="384048"/>
          </a:xfrm>
          <a:prstGeom prst="roundRect">
            <a:avLst>
              <a:gd name="adj" fmla="val 19048"/>
            </a:avLst>
          </a:prstGeom>
          <a:solidFill>
            <a:srgbClr val="3A2E12"/>
          </a:solidFill>
          <a:ln w="12700">
            <a:solidFill>
              <a:srgbClr val="F2B33D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6995160" y="4663440"/>
            <a:ext cx="45079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2B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 애니메이션 </a:t>
            </a:r>
            <a:pPr indent="0" marL="0">
              <a:buNone/>
            </a:pPr>
            <a:r>
              <a:rPr lang="en-US" sz="1150" u="sng" dirty="0">
                <a:solidFill>
                  <a:srgbClr val="F2B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D6-6 √d 스케일 슬라이더 (아래쪽)</a:t>
            </a:r>
            <a:endParaRPr lang="en-US" sz="11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115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4.3 · Whisper로 직접 확인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인코더는 한 번, 디코더는 토큰마다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982712" y="64465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음성 AI 전문가 과정 · Day 6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548640" y="1463040"/>
            <a:ext cx="6949440" cy="3017520"/>
          </a:xfrm>
          <a:prstGeom prst="roundRect">
            <a:avLst>
              <a:gd name="adj" fmla="val 1818"/>
            </a:avLst>
          </a:prstGeom>
          <a:solidFill>
            <a:srgbClr val="0B0F15"/>
          </a:solidFill>
          <a:ln w="12700">
            <a:solidFill>
              <a:srgbClr val="2A3344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13232" y="1536192"/>
            <a:ext cx="6620256" cy="2871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9AA4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enc = whisper.model.encoder(feats).last_hidden_state   # (1, 1500, 384)</a:t>
            </a:r>
            <a:endParaRPr lang="en-US" sz="11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ids = [&lt;|startoftranscript|&gt;, &lt;|en|&gt;, &lt;|transcribe|&gt;, &lt;|notimestamps|&gt;]</a:t>
            </a:r>
            <a:endParaRPr lang="en-US" sz="11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step in range(100):</a:t>
            </a:r>
            <a:endParaRPr lang="en-US" sz="11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logits = whisper(encoder_outputs=enc, decoder_input_ids=ids).logits</a:t>
            </a:r>
            <a:endParaRPr lang="en-US" sz="11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F2B3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nxt = logits[0, -1].argmax()        # 마지막 위치 = 다음 토큰</a:t>
            </a:r>
            <a:endParaRPr lang="en-US" sz="11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ids.append(nxt)</a:t>
            </a:r>
            <a:endParaRPr lang="en-US" sz="11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nxt == EOS: break</a:t>
            </a:r>
            <a:endParaRPr lang="en-US" sz="11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5FD3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내 루프 == whisper.generate(feats, language="en", task="transcribe")</a:t>
            </a:r>
            <a:endParaRPr lang="en-US" sz="115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80960" y="1463040"/>
          <a:ext cx="3959352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2770632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5CC8E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Whisper-tiny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입력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80-mel, 30초 패딩 (1, 80, 3000)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Encoder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Conv 2층 → 1500 × 20 ms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Decoder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BPE 토큰 약 5만 개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attention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eager로 가중치 꺼내기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</a:tr>
            </a:tbl>
          </a:graphicData>
        </a:graphic>
      </p:graphicFrame>
      <p:sp>
        <p:nvSpPr>
          <p:cNvPr id="9" name="Shape 5"/>
          <p:cNvSpPr/>
          <p:nvPr/>
        </p:nvSpPr>
        <p:spPr>
          <a:xfrm>
            <a:off x="548640" y="4709160"/>
            <a:ext cx="5486400" cy="868680"/>
          </a:xfrm>
          <a:prstGeom prst="roundRect">
            <a:avLst>
              <a:gd name="adj" fmla="val 6316"/>
            </a:avLst>
          </a:prstGeom>
          <a:solidFill>
            <a:srgbClr val="161D29"/>
          </a:solidFill>
          <a:ln w="15875">
            <a:solidFill>
              <a:srgbClr val="5FD38D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685800" y="4782312"/>
            <a:ext cx="5212080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5FD38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🧩 빈칸 실습 7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nxt_scores = logits_w[0, ____].clone()     정답: -1</a:t>
            </a:r>
            <a:endParaRPr lang="en-US" sz="1200" dirty="0"/>
          </a:p>
        </p:txBody>
      </p:sp>
      <p:sp>
        <p:nvSpPr>
          <p:cNvPr id="11" name="Text 7"/>
          <p:cNvSpPr/>
          <p:nvPr/>
        </p:nvSpPr>
        <p:spPr>
          <a:xfrm>
            <a:off x="6400800" y="4754880"/>
            <a:ext cx="5239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36A9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약점: 토큰 수만큼 반복, 틀린 토큰이 다음 입력 → D7 환각</a:t>
            </a:r>
            <a:endParaRPr lang="en-US" sz="13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115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5.1 · Transducer (RNN-T)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 × (U+1) 격자: ∅면 오른쪽, 글자면 위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982712" y="64465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음성 AI 전문가 과정 · Day 6</a:t>
            </a:r>
            <a:endParaRPr lang="en-US" sz="900" dirty="0"/>
          </a:p>
        </p:txBody>
      </p:sp>
      <p:pic>
        <p:nvPicPr>
          <p:cNvPr id="6" name="Image 0" descr="/home/claude/d6/build/fig_dark/rn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51964" y="1325880"/>
            <a:ext cx="8287767" cy="310896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548640" y="4617720"/>
            <a:ext cx="6949440" cy="1188720"/>
          </a:xfrm>
          <a:prstGeom prst="roundRect">
            <a:avLst>
              <a:gd name="adj" fmla="val 4615"/>
            </a:avLst>
          </a:prstGeom>
          <a:solidFill>
            <a:srgbClr val="0B0F15"/>
          </a:solidFill>
          <a:ln w="12700">
            <a:solidFill>
              <a:srgbClr val="2A3344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713232" y="4690872"/>
            <a:ext cx="6620256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α(t, u) = α(t−1, u)·∅(t−1, u) + α(t, u−1)·y(t, u−1)</a:t>
            </a:r>
            <a:endParaRPr lang="en-US" sz="12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50" b="1" dirty="0">
                <a:solidFill>
                  <a:srgbClr val="F2B3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P(Y | X) = α(T−1, U)·∅(T−1, U)     경로 수 C(T+U−1, U)</a:t>
            </a:r>
            <a:endParaRPr lang="en-US" sz="1250" dirty="0"/>
          </a:p>
        </p:txBody>
      </p:sp>
      <p:sp>
        <p:nvSpPr>
          <p:cNvPr id="9" name="Shape 5"/>
          <p:cNvSpPr/>
          <p:nvPr/>
        </p:nvSpPr>
        <p:spPr>
          <a:xfrm>
            <a:off x="7680960" y="4617720"/>
            <a:ext cx="3959352" cy="731520"/>
          </a:xfrm>
          <a:prstGeom prst="roundRect">
            <a:avLst>
              <a:gd name="adj" fmla="val 7500"/>
            </a:avLst>
          </a:prstGeom>
          <a:solidFill>
            <a:srgbClr val="161D29"/>
          </a:solidFill>
          <a:ln w="15875">
            <a:solidFill>
              <a:srgbClr val="5FD38D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7818120" y="4690872"/>
            <a:ext cx="368503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5FD38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🧩 빈칸 실습 8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logp[t, u - 1, y[____]]   정답: u - 1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7680960" y="5440680"/>
            <a:ext cx="3959352" cy="384048"/>
          </a:xfrm>
          <a:prstGeom prst="roundRect">
            <a:avLst>
              <a:gd name="adj" fmla="val 19048"/>
            </a:avLst>
          </a:prstGeom>
          <a:solidFill>
            <a:srgbClr val="3A2E12"/>
          </a:solidFill>
          <a:ln w="12700">
            <a:solidFill>
              <a:srgbClr val="F2B33D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7818120" y="5440680"/>
            <a:ext cx="36850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2B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 애니메이션 </a:t>
            </a:r>
            <a:pPr indent="0" marL="0">
              <a:buNone/>
            </a:pPr>
            <a:r>
              <a:rPr lang="en-US" sz="1150" u="sng" dirty="0">
                <a:solidFill>
                  <a:srgbClr val="F2B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D6-7 Transducer 격자 걷기</a:t>
            </a:r>
            <a:endParaRPr lang="en-US" sz="11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115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5.2 · 세 방식 비교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도구 상자: 빠른 CTC, 똑똑한 AED, 스트리밍 Transducer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982712" y="64465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음성 AI 전문가 과정 · Day 6</a:t>
            </a:r>
            <a:endParaRPr lang="en-US" sz="9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94415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3017520"/>
                <a:gridCol w="3108960"/>
                <a:gridCol w="3136392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5CC8E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CTC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5CC8E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Attention Enc-Dec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5CC8E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Transducer (RNN-T)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9AA4B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P(Y|X)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Σ_π Π_t p_t(π_t)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Π_u P(y_u | y_&lt;u, X)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Σ 격자 경로 Π P(· | t, u)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9AA4B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앞 글자 참고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안 봄 (조건부 독립)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봄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봄 (prediction net)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9AA4B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정렬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경로 합 · 단조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attention · 부드러움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경로 합 · 단조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9AA4B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출력 길이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U ≤ T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제한 없음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제한 없음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9AA4B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스트리밍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쉬움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어려움 (전체 입력)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쉬움 (설계 목적)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9AA4B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디코딩 속도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가장 빠름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느림 (토큰마다)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중간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9AA4B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흔한 실패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철자 · 동음이의어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반복 · 환각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학습 메모리 T×U×V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9AA4B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대표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Wav2Vec2, HuBERT + CTC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Whisper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Conformer-Transducer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</a:tr>
            </a:tbl>
          </a:graphicData>
        </a:graphic>
      </p:graphicFrame>
      <p:sp>
        <p:nvSpPr>
          <p:cNvPr id="7" name="Shape 3"/>
          <p:cNvSpPr/>
          <p:nvPr/>
        </p:nvSpPr>
        <p:spPr>
          <a:xfrm>
            <a:off x="548640" y="5257800"/>
            <a:ext cx="4206240" cy="384048"/>
          </a:xfrm>
          <a:prstGeom prst="roundRect">
            <a:avLst>
              <a:gd name="adj" fmla="val 19048"/>
            </a:avLst>
          </a:prstGeom>
          <a:solidFill>
            <a:srgbClr val="3A2E12"/>
          </a:solidFill>
          <a:ln w="12700">
            <a:solidFill>
              <a:srgbClr val="F2B33D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685800" y="5257800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2B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 애니메이션 </a:t>
            </a:r>
            <a:pPr indent="0" marL="0">
              <a:buNone/>
            </a:pPr>
            <a:r>
              <a:rPr lang="en-US" sz="1150" u="sng" dirty="0">
                <a:solidFill>
                  <a:srgbClr val="F2B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D6-8 세 방식 비교 (스트리밍 타이밍)</a:t>
            </a:r>
            <a:endParaRPr lang="en-US" sz="1150" dirty="0"/>
          </a:p>
        </p:txBody>
      </p:sp>
      <p:sp>
        <p:nvSpPr>
          <p:cNvPr id="9" name="Text 5"/>
          <p:cNvSpPr/>
          <p:nvPr/>
        </p:nvSpPr>
        <p:spPr>
          <a:xfrm>
            <a:off x="5029200" y="5257800"/>
            <a:ext cx="66111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5FD38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실시간 자막 = CTC · Transducer,  최종 녹취록 = AED도 후보</a:t>
            </a:r>
            <a:endParaRPr lang="en-US" sz="13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115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6.1 · wav2vec 2.0 사전학습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가리고, 진짜 소리 코드를 가짜 100개 사이에서 고르기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982712" y="64465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음성 AI 전문가 과정 · Day 6</a:t>
            </a:r>
            <a:endParaRPr lang="en-US" sz="900" dirty="0"/>
          </a:p>
        </p:txBody>
      </p:sp>
      <p:pic>
        <p:nvPicPr>
          <p:cNvPr id="6" name="Image 0" descr="/home/claude/d6/build/fig_dark/ss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60513" y="1325880"/>
            <a:ext cx="8470669" cy="301752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548640" y="4526280"/>
            <a:ext cx="6949440" cy="1325880"/>
          </a:xfrm>
          <a:prstGeom prst="roundRect">
            <a:avLst>
              <a:gd name="adj" fmla="val 4138"/>
            </a:avLst>
          </a:prstGeom>
          <a:solidFill>
            <a:srgbClr val="0B0F15"/>
          </a:solidFill>
          <a:ln w="12700">
            <a:solidFill>
              <a:srgbClr val="2A3344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713232" y="4599432"/>
            <a:ext cx="6620256" cy="1179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P(가려짐) = 1 − (1 − p)^M = 1 − 0.935¹⁰ ≈ 0.49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코드북 G = 2 × V = 320 → 320² = 102,400가지 (Gumbel-softmax)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F2B3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L_m = −log exp(sim(c,q)/κ) / Σ exp(sim(c,q′)/κ),  κ = 0.1</a:t>
            </a:r>
            <a:endParaRPr lang="en-US" sz="1200" dirty="0"/>
          </a:p>
        </p:txBody>
      </p:sp>
      <p:sp>
        <p:nvSpPr>
          <p:cNvPr id="9" name="Shape 5"/>
          <p:cNvSpPr/>
          <p:nvPr/>
        </p:nvSpPr>
        <p:spPr>
          <a:xfrm>
            <a:off x="7680960" y="4526280"/>
            <a:ext cx="3959352" cy="777240"/>
          </a:xfrm>
          <a:prstGeom prst="roundRect">
            <a:avLst>
              <a:gd name="adj" fmla="val 7059"/>
            </a:avLst>
          </a:prstGeom>
          <a:solidFill>
            <a:srgbClr val="161D29"/>
          </a:solidFill>
          <a:ln w="15875">
            <a:solidFill>
              <a:srgbClr val="5FD38D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7818120" y="4599432"/>
            <a:ext cx="3685032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5FD38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🧩 빈칸 실습 9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log_softmax(sims / kappa)[:, ____]   정답: 0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7680960" y="5394960"/>
            <a:ext cx="3959352" cy="384048"/>
          </a:xfrm>
          <a:prstGeom prst="roundRect">
            <a:avLst>
              <a:gd name="adj" fmla="val 19048"/>
            </a:avLst>
          </a:prstGeom>
          <a:solidFill>
            <a:srgbClr val="3A2E12"/>
          </a:solidFill>
          <a:ln w="12700">
            <a:solidFill>
              <a:srgbClr val="F2B33D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7818120" y="5394960"/>
            <a:ext cx="36850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2B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 애니메이션 </a:t>
            </a:r>
            <a:pPr indent="0" marL="0">
              <a:buNone/>
            </a:pPr>
            <a:r>
              <a:rPr lang="en-US" sz="1150" u="sng" dirty="0">
                <a:solidFill>
                  <a:srgbClr val="F2B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D6-9 자기지도 학습 (마스킹 · InfoNCE)</a:t>
            </a:r>
            <a:endParaRPr lang="en-US" sz="11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115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6.2 · HuBERT와 모델 비교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k-means 가짜 라벨을 가린 자리에서 맞히기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982712" y="64465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음성 AI 전문가 과정 · Day 6</a:t>
            </a:r>
            <a:endParaRPr lang="en-US" sz="900" dirty="0"/>
          </a:p>
        </p:txBody>
      </p:sp>
      <p:pic>
        <p:nvPicPr>
          <p:cNvPr id="6" name="Image 0" descr="/home/claude/d6/build/fig_dark/huber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73309" y="1325880"/>
            <a:ext cx="8445078" cy="2743200"/>
          </a:xfrm>
          <a:prstGeom prst="rect">
            <a:avLst/>
          </a:prstGeom>
        </p:spPr>
      </p:pic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4206240"/>
          <a:ext cx="11094415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4572000"/>
                <a:gridCol w="2103120"/>
                <a:gridCol w="2770632"/>
              </a:tblGrid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5CC8E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모델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5CC8E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사전학습 목표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5CC8E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라벨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5CC8E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쓰임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wav2vec 2.0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가린 자리에서 진짜 양자화 코드 고르기 (대조)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없음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+ CTC 미세조정, XLS-R(128개 언어)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HuBERT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가린 자리의 k-means 번호 맞히기 (예측)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없음 (가짜 라벨)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+ CTC 미세조정, 음성 토큰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Whisper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받아쓰기 자체 (AED)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자막 68만 h (약한 지도)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바로 받아쓰기 · 번역 (D7)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</a:tr>
            </a:tbl>
          </a:graphicData>
        </a:graphic>
      </p:graphicFrame>
      <p:sp>
        <p:nvSpPr>
          <p:cNvPr id="8" name="Text 3"/>
          <p:cNvSpPr/>
          <p:nvPr/>
        </p:nvSpPr>
        <p:spPr>
          <a:xfrm>
            <a:off x="548640" y="562356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5FD38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 = −Σ_{t∈가린 자리} log p(z_t | 가린 X)   ·   피치를 바꿔도 같은 번호 = "무슨 소리"를 담은 좋은 특징</a:t>
            </a:r>
            <a:endParaRPr lang="en-US" sz="13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115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6.3 · 수식으로 정리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오늘의 원리를 열두 줄로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982712" y="64465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음성 AI 전문가 과정 · Day 6</a:t>
            </a:r>
            <a:endParaRPr lang="en-US" sz="9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11094415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6035040"/>
                <a:gridCol w="2862072"/>
              </a:tblGrid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5CC8E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원리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5CC8E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수식 · 코드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5CC8E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확인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CTC 접기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AF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𝓑: 반복 합치기 → blank 지우기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빈칸 1 · D6-3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CTC 확률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AF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P(Y|X) = Σ_{π∈𝓑⁻¹(Y)} Π_t p_t(π_t)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Part 2-1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경로 수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AF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C(T+U, 2U) (연속 중복 없을 때)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Part 2-2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forward α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AF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α_t(s) = (α(s) + α(s−1) + α(s−2)*) · p_t(l′_s)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빈칸 2 · 수식 검증 1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Wav2Vec2 프레임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AF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 = ⌊(L − 400)/320⌋ + 1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빈칸 3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greedy 디코딩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AF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argmax(dim=−1) → 𝓑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빈칸 4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타임스탬프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AF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 × 320 / 16000 = t × 0.02 s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빈칸 5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AED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AF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Π_u P(y_u | y_&lt;u, X)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Part 4-1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attention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AF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softmax(QKᵀ/√d_k) V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빈칸 6 · 수식 검증 2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Transducer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AF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α(t,u) = α(t−1,u)∅ + α(t,u−1)y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빈칸 8 · 수식 검증 3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마스킹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AF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1 − (1 − p)^M ≈ 0.49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수식 검증 4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InfoNCE · HuBERT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AF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−log softmax(sim/κ)[0] · −Σ_{t∈𝓜} log p(z_t | 가린 X)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빈칸 9 · Part 6-4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115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6.4 · 헷갈리기 쉬운 것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 헷갈리기 쉬운 것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982712" y="64465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음성 AI 전문가 과정 · Day 6</a:t>
            </a:r>
            <a:endParaRPr lang="en-US" sz="9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11094415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8531352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5CC8E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헷갈리는 점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5CC8E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설명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blank vs 띄어쓰기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blank(&lt;pad&gt;)는 "새 글자 없음", 띄어쓰기는 | 라는 진짜 글자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접기 순서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반복 합치기 먼저, blank 지우기 나중. 반대로 하면 hello → helo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 ms vs 20 ms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Log-Mel hop = 10 ms (D3), Wav2Vec2 프레임 = 20 ms (보폭 320)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greedy = 최선?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가장 좋은 경로 ≠ 가장 좋은 글자열. 실전 차이는 작고, 빔 서치는 D7 · D8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F.ctc_loss 모양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log_probs는 (T, N, C)이고 log_softmax 값. 모델 출력 (N, T, C)는 transpose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attention 합 = 1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softmax 덕분. √d는 크기를 맞출 뿐 합과 무관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Transducer의 T &lt; U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가능 (한 프레임에서 글자 여러 개). CTC는 불가능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mask_prob = 0.65?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transformers의 mask_prob ≈ p × M. 논문 p = 0.065, M = 10과 같은 설정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사전학습 체크포인트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wav2vec2-base(양자화기 있음) vs -960h(CTC 미세조정, 양자화기 없음)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</a:tr>
            </a:tbl>
          </a:graphicData>
        </a:graphic>
      </p:graphicFrame>
      <p:sp>
        <p:nvSpPr>
          <p:cNvPr id="7" name="Text 3"/>
          <p:cNvSpPr/>
          <p:nvPr/>
        </p:nvSpPr>
        <p:spPr>
          <a:xfrm>
            <a:off x="548640" y="548640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2B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모양(shape)과 축(dim)을 소리 내어 읽는 습관: (T, N, C)인가 (N, T, C)인가?</a:t>
            </a:r>
            <a:endParaRPr lang="en-US" sz="13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115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정리 · 다음 시간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 만든 것과 다음 단계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982712" y="64465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음성 AI 전문가 과정 · Day 6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548640" y="1417320"/>
            <a:ext cx="6858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2B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☐  </a:t>
            </a:r>
            <a:pPr indent="0" marL="0">
              <a:buNone/>
            </a:pPr>
            <a:r>
              <a:rPr lang="en-US" sz="130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CTC 접기 함수와 forward α를 직접 구현해 F.ctc_loss와 맞췄다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548640" y="1856232"/>
            <a:ext cx="6858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2B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☐  </a:t>
            </a:r>
            <a:pPr indent="0" marL="0">
              <a:buNone/>
            </a:pPr>
            <a:r>
              <a:rPr lang="en-US" sz="130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Wav2Vec2 프레임 수를 공식으로 예측하고 출력 모양으로 확인했다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48640" y="2295144"/>
            <a:ext cx="6858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2B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☐  </a:t>
            </a:r>
            <a:pPr indent="0" marL="0">
              <a:buNone/>
            </a:pPr>
            <a:r>
              <a:rPr lang="en-US" sz="130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greedy 디코딩과 CTC 스파이크로 단어 타임스탬프를 만들었다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548640" y="2734056"/>
            <a:ext cx="6858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2B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☐  </a:t>
            </a:r>
            <a:pPr indent="0" marL="0">
              <a:buNone/>
            </a:pPr>
            <a:r>
              <a:rPr lang="en-US" sz="130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attention과 Whisper 한 토큰씩 루프를 구현해 generate()와 맞췄다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548640" y="3172968"/>
            <a:ext cx="6858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2B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☐  </a:t>
            </a:r>
            <a:pPr indent="0" marL="0">
              <a:buNone/>
            </a:pPr>
            <a:r>
              <a:rPr lang="en-US" sz="130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Transducer α 점화식을 구현하고 세 방식을 비교했다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548640" y="3611880"/>
            <a:ext cx="6858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2B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☐  </a:t>
            </a:r>
            <a:pPr indent="0" marL="0">
              <a:buNone/>
            </a:pPr>
            <a:r>
              <a:rPr lang="en-US" sz="130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InfoNCE를 구현하고 wav2vec 2.0 · HuBERT 특징을 확인했다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7589520" y="1463040"/>
            <a:ext cx="4050792" cy="2514600"/>
          </a:xfrm>
          <a:prstGeom prst="roundRect">
            <a:avLst>
              <a:gd name="adj" fmla="val 2909"/>
            </a:avLst>
          </a:prstGeom>
          <a:solidFill>
            <a:srgbClr val="161D29"/>
          </a:solidFill>
          <a:ln w="15875">
            <a:solidFill>
              <a:srgbClr val="F2B33D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726680" y="1554480"/>
            <a:ext cx="37764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2B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다음: Day 7 · Whisper 심층 분석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7726680" y="1965960"/>
            <a:ext cx="3776472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 AED의 예로 잠깐 본 Whisper를 깊게: 30초 창과 Log-Mel, 모델 크기별 성능 · 속도, 언어 감지, 빔 서치 · temperature fallback, 그리고 한 토큰씩 생성 구조에서 생기는 환각과 대응법.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548640" y="4480560"/>
            <a:ext cx="3566160" cy="868680"/>
          </a:xfrm>
          <a:prstGeom prst="roundRect">
            <a:avLst>
              <a:gd name="adj" fmla="val 6316"/>
            </a:avLst>
          </a:prstGeom>
          <a:solidFill>
            <a:srgbClr val="161D29"/>
          </a:solidFill>
          <a:ln w="12700">
            <a:solidFill>
              <a:srgbClr val="2A3344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85800" y="4553712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worksheet.html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2926080" y="4553712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40문항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685800" y="493776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4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개념 워크시트 · 노션 제출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4297680" y="4480560"/>
            <a:ext cx="3566160" cy="868680"/>
          </a:xfrm>
          <a:prstGeom prst="roundRect">
            <a:avLst>
              <a:gd name="adj" fmla="val 6316"/>
            </a:avLst>
          </a:prstGeom>
          <a:solidFill>
            <a:srgbClr val="161D29"/>
          </a:solidFill>
          <a:ln w="12700">
            <a:solidFill>
              <a:srgbClr val="2A3344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434840" y="4553712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animation.html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6675120" y="4553712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9개 탭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4434840" y="493776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4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인터랙티브 애니메이션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8046720" y="4480560"/>
            <a:ext cx="3566160" cy="868680"/>
          </a:xfrm>
          <a:prstGeom prst="roundRect">
            <a:avLst>
              <a:gd name="adj" fmla="val 6316"/>
            </a:avLst>
          </a:prstGeom>
          <a:solidFill>
            <a:srgbClr val="161D29"/>
          </a:solidFill>
          <a:ln w="12700">
            <a:solidFill>
              <a:srgbClr val="2A3344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8183880" y="4553712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D6_ASR원리_실습.ipynb</a:t>
            </a:r>
            <a:endParaRPr lang="en-US" sz="1000" dirty="0"/>
          </a:p>
        </p:txBody>
      </p:sp>
      <p:sp>
        <p:nvSpPr>
          <p:cNvPr id="25" name="Text 22"/>
          <p:cNvSpPr/>
          <p:nvPr/>
        </p:nvSpPr>
        <p:spPr>
          <a:xfrm>
            <a:off x="10424160" y="4553712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빈칸 9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8183880" y="493776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4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실습 노트북</a:t>
            </a:r>
            <a:endParaRPr lang="en-US" sz="1000" dirty="0"/>
          </a:p>
        </p:txBody>
      </p:sp>
      <p:sp>
        <p:nvSpPr>
          <p:cNvPr id="27" name="Text 24"/>
          <p:cNvSpPr/>
          <p:nvPr/>
        </p:nvSpPr>
        <p:spPr>
          <a:xfrm>
            <a:off x="548640" y="55778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A4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레포 위치  </a:t>
            </a:r>
            <a:pPr indent="0" marL="0">
              <a:buNone/>
            </a:pPr>
            <a:r>
              <a:rPr lang="en-US" sz="1050" u="sng" dirty="0">
                <a:solidFill>
                  <a:srgbClr val="5C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04-voice-ai/day06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디지털노마드연구소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D6 ASR 원리</dc:title>
  <dc:subject>PptxGenJS Presentation</dc:subject>
  <dc:creator>디지털노마드연구소</dc:creator>
  <cp:lastModifiedBy>디지털노마드연구소</cp:lastModifiedBy>
  <cp:revision>1</cp:revision>
  <dcterms:created xsi:type="dcterms:W3CDTF">2026-10-14T09:50:59Z</dcterms:created>
  <dcterms:modified xsi:type="dcterms:W3CDTF">2026-10-14T09:50:59Z</dcterms:modified>
</cp:coreProperties>
</file>